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声音传过来，空气也会一路跑过来吗？盯住这个橙色标记。</a:t>
            </a:r>
          </a:p>
          <a:p/>
          <a:p>
            <a:r>
              <a:t>Small-amplitude plane progressive wave; dots represent coarse-grained parcels of air, not tracked individual molecules. Thermal motion, attenuation, reflections and second-order streaming are omitted. Time and displacement are enlarged; visual periods are not real audible frequencies.</a:t>
            </a:r>
          </a:p>
          <a:p>
            <a:r>
              <a:t>参考：</a:t>
            </a:r>
          </a:p>
          <a:p>
            <a:r>
              <a:t>University of Salford: Longitudinal Waves</a:t>
            </a:r>
          </a:p>
          <a:p>
            <a:r>
              <a:t>https://salfordacoustics.co.uk/sound-waves/waves-transverse-introduction/longitudinal-waves</a:t>
            </a:r>
          </a:p>
          <a:p>
            <a:r>
              <a:t>Dan Russell, Penn State: Wave Motion in Mechanical Medium</a:t>
            </a:r>
          </a:p>
          <a:p>
            <a:r>
              <a:t>https://www.acs.psu.edu/drussell/Demos/waves/wavemotion.html</a:t>
            </a:r>
          </a:p>
          <a:p>
            <a:r>
              <a:t>UCLA Physics: Sound Waves</a:t>
            </a:r>
          </a:p>
          <a:p>
            <a:r>
              <a:t>https://dbauer.physics.ucla.edu/5b/20-sound-waves/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它在平衡位置附近，来回振动。图示是空气团的平均运动，没有画出热运动。</a:t>
            </a:r>
          </a:p>
          <a:p/>
          <a:p>
            <a:r>
              <a:t>Small-amplitude plane progressive wave; dots represent coarse-grained parcels of air, not tracked individual molecules. Thermal motion, attenuation, reflections and second-order streaming are omitted. Time and displacement are enlarged; visual periods are not real audible frequencies.</a:t>
            </a:r>
          </a:p>
          <a:p>
            <a:r>
              <a:t>参考：</a:t>
            </a:r>
          </a:p>
          <a:p>
            <a:r>
              <a:t>University of Salford: Longitudinal Waves</a:t>
            </a:r>
          </a:p>
          <a:p>
            <a:r>
              <a:t>https://salfordacoustics.co.uk/sound-waves/waves-transverse-introduction/longitudinal-waves</a:t>
            </a:r>
          </a:p>
          <a:p>
            <a:r>
              <a:t>Dan Russell, Penn State: Wave Motion in Mechanical Medium</a:t>
            </a:r>
          </a:p>
          <a:p>
            <a:r>
              <a:t>https://www.acs.psu.edu/drussell/Demos/waves/wavemotion.html</a:t>
            </a:r>
          </a:p>
          <a:p>
            <a:r>
              <a:t>UCLA Physics: Sound Waves</a:t>
            </a:r>
          </a:p>
          <a:p>
            <a:r>
              <a:t>https://dbauer.physics.ucla.edu/5b/20-sound-waves/</a:t>
            </a:r>
          </a:p>
          <a:p>
            <a:r>
              <a:t>教学版只给标记点做一次有限往复；背景粒子是冻结参考，连续场动画见原视频。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向右走的是压缩区。相邻的空气接力振动，把疏密变化传向前方。</a:t>
            </a:r>
          </a:p>
          <a:p/>
          <a:p>
            <a:r>
              <a:t>Small-amplitude plane progressive wave; dots represent coarse-grained parcels of air, not tracked individual molecules. Thermal motion, attenuation, reflections and second-order streaming are omitted. Time and displacement are enlarged; visual periods are not real audible frequencies.</a:t>
            </a:r>
          </a:p>
          <a:p>
            <a:r>
              <a:t>参考：</a:t>
            </a:r>
          </a:p>
          <a:p>
            <a:r>
              <a:t>University of Salford: Longitudinal Waves</a:t>
            </a:r>
          </a:p>
          <a:p>
            <a:r>
              <a:t>https://salfordacoustics.co.uk/sound-waves/waves-transverse-introduction/longitudinal-waves</a:t>
            </a:r>
          </a:p>
          <a:p>
            <a:r>
              <a:t>Dan Russell, Penn State: Wave Motion in Mechanical Medium</a:t>
            </a:r>
          </a:p>
          <a:p>
            <a:r>
              <a:t>https://www.acs.psu.edu/drussell/Demos/waves/wavemotion.html</a:t>
            </a:r>
          </a:p>
          <a:p>
            <a:r>
              <a:t>UCLA Physics: Sound Waves</a:t>
            </a:r>
          </a:p>
          <a:p>
            <a:r>
              <a:t>https://dbauer.physics.ucla.edu/5b/20-sound-waves/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空气的振动方向，与声波的传播方向平行。这就是空气中的纵波。</a:t>
            </a:r>
          </a:p>
          <a:p/>
          <a:p>
            <a:r>
              <a:t>Small-amplitude plane progressive wave; dots represent coarse-grained parcels of air, not tracked individual molecules. Thermal motion, attenuation, reflections and second-order streaming are omitted. Time and displacement are enlarged; visual periods are not real audible frequencies.</a:t>
            </a:r>
          </a:p>
          <a:p>
            <a:r>
              <a:t>参考：</a:t>
            </a:r>
          </a:p>
          <a:p>
            <a:r>
              <a:t>University of Salford: Longitudinal Waves</a:t>
            </a:r>
          </a:p>
          <a:p>
            <a:r>
              <a:t>https://salfordacoustics.co.uk/sound-waves/waves-transverse-introduction/longitudinal-waves</a:t>
            </a:r>
          </a:p>
          <a:p>
            <a:r>
              <a:t>Dan Russell, Penn State: Wave Motion in Mechanical Medium</a:t>
            </a:r>
          </a:p>
          <a:p>
            <a:r>
              <a:t>https://www.acs.psu.edu/drussell/Demos/waves/wavemotion.html</a:t>
            </a:r>
          </a:p>
          <a:p>
            <a:r>
              <a:t>UCLA Physics: Sound Waves</a:t>
            </a:r>
          </a:p>
          <a:p>
            <a:r>
              <a:t>https://dbauer.physics.ucla.edu/5b/20-sound-waves/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波速近似不变时，频率翻倍，波长减半。先听二百二十赫兹，再听四百四十赫兹。</a:t>
            </a:r>
          </a:p>
          <a:p/>
          <a:p>
            <a:r>
              <a:t>Small-amplitude plane progressive wave; dots represent coarse-grained parcels of air, not tracked individual molecules. Thermal motion, attenuation, reflections and second-order streaming are omitted. Time and displacement are enlarged; visual periods are not real audible frequencies.</a:t>
            </a:r>
          </a:p>
          <a:p>
            <a:r>
              <a:t>参考：</a:t>
            </a:r>
          </a:p>
          <a:p>
            <a:r>
              <a:t>University of Salford: Longitudinal Waves</a:t>
            </a:r>
          </a:p>
          <a:p>
            <a:r>
              <a:t>https://salfordacoustics.co.uk/sound-waves/waves-transverse-introduction/longitudinal-waves</a:t>
            </a:r>
          </a:p>
          <a:p>
            <a:r>
              <a:t>Dan Russell, Penn State: Wave Motion in Mechanical Medium</a:t>
            </a:r>
          </a:p>
          <a:p>
            <a:r>
              <a:t>https://www.acs.psu.edu/drussell/Demos/waves/wavemotion.html</a:t>
            </a:r>
          </a:p>
          <a:p>
            <a:r>
              <a:t>UCLA Physics: Sound Waves</a:t>
            </a:r>
          </a:p>
          <a:p>
            <a:r>
              <a:t>https://dbauer.physics.ucla.edu/5b/20-sound-waves/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二十摄氏度时，空气中的声速约为每秒三百四十三米。波长等于声速除以频率。三百四十三除以四百四十，约等于零点七八米。</a:t>
            </a:r>
          </a:p>
          <a:p/>
          <a:p>
            <a:r>
              <a:t>Small-amplitude plane progressive wave; dots represent coarse-grained parcels of air, not tracked individual molecules. Thermal motion, attenuation, reflections and second-order streaming are omitted. Time and displacement are enlarged; visual periods are not real audible frequencies.</a:t>
            </a:r>
          </a:p>
          <a:p>
            <a:r>
              <a:t>参考：</a:t>
            </a:r>
          </a:p>
          <a:p>
            <a:r>
              <a:t>University of Salford: Longitudinal Waves</a:t>
            </a:r>
          </a:p>
          <a:p>
            <a:r>
              <a:t>https://salfordacoustics.co.uk/sound-waves/waves-transverse-introduction/longitudinal-waves</a:t>
            </a:r>
          </a:p>
          <a:p>
            <a:r>
              <a:t>Dan Russell, Penn State: Wave Motion in Mechanical Medium</a:t>
            </a:r>
          </a:p>
          <a:p>
            <a:r>
              <a:t>https://www.acs.psu.edu/drussell/Demos/waves/wavemotion.html</a:t>
            </a:r>
          </a:p>
          <a:p>
            <a:r>
              <a:t>UCLA Physics: Sound Waves</a:t>
            </a:r>
          </a:p>
          <a:p>
            <a:r>
              <a:t>https://dbauer.physics.ucla.edu/5b/20-sound-waves/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所以，传过去的是振动。空气只在附近往复，声波把能量传向远方。</a:t>
            </a:r>
          </a:p>
          <a:p/>
          <a:p>
            <a:r>
              <a:t>Small-amplitude plane progressive wave; dots represent coarse-grained parcels of air, not tracked individual molecules. Thermal motion, attenuation, reflections and second-order streaming are omitted. Time and displacement are enlarged; visual periods are not real audible frequencies.</a:t>
            </a:r>
          </a:p>
          <a:p>
            <a:r>
              <a:t>参考：</a:t>
            </a:r>
          </a:p>
          <a:p>
            <a:r>
              <a:t>University of Salford: Longitudinal Waves</a:t>
            </a:r>
          </a:p>
          <a:p>
            <a:r>
              <a:t>https://salfordacoustics.co.uk/sound-waves/waves-transverse-introduction/longitudinal-waves</a:t>
            </a:r>
          </a:p>
          <a:p>
            <a:r>
              <a:t>Dan Russell, Penn State: Wave Motion in Mechanical Medium</a:t>
            </a:r>
          </a:p>
          <a:p>
            <a:r>
              <a:t>https://www.acs.psu.edu/drussell/Demos/waves/wavemotion.html</a:t>
            </a:r>
          </a:p>
          <a:p>
            <a:r>
              <a:t>UCLA Physics: Sound Waves</a:t>
            </a:r>
          </a:p>
          <a:p>
            <a:r>
              <a:t>https://dbauer.physics.ucla.edu/5b/20-sound-waves/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Small-amplitude plane progressive wave; dots represent coarse-grained parcels of air, not tracked individual molecules. Thermal motion, attenuation, reflections and second-order streaming are omitted. Time and displacement are enlarged; visual periods are not real audible frequencies.</a:t>
            </a:r>
          </a:p>
          <a:p>
            <a:r>
              <a:t>参考：</a:t>
            </a:r>
          </a:p>
          <a:p>
            <a:r>
              <a:t>University of Salford: Longitudinal Waves</a:t>
            </a:r>
          </a:p>
          <a:p>
            <a:r>
              <a:t>https://salfordacoustics.co.uk/sound-waves/waves-transverse-introduction/longitudinal-waves</a:t>
            </a:r>
          </a:p>
          <a:p>
            <a:r>
              <a:t>Dan Russell, Penn State: Wave Motion in Mechanical Medium</a:t>
            </a:r>
          </a:p>
          <a:p>
            <a:r>
              <a:t>https://www.acs.psu.edu/drussell/Demos/waves/wavemotion.html</a:t>
            </a:r>
          </a:p>
          <a:p>
            <a:r>
              <a:t>UCLA Physics: Sound Waves</a:t>
            </a:r>
          </a:p>
          <a:p>
            <a:r>
              <a:t>https://dbauer.physics.ucla.edu/5b/20-sound-waves/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!!air-column-0"/>
          <p:cNvGrpSpPr/>
          <p:nvPr/>
        </p:nvGrpSpPr>
        <p:grpSpPr>
          <a:xfrm>
            <a:off x="2115820" y="2560320"/>
            <a:ext cx="86360" cy="1991360"/>
            <a:chOff x="0" y="0"/>
            <a:chExt cx="86360" cy="1991360"/>
          </a:xfrm>
        </p:grpSpPr>
        <p:sp>
          <p:nvSpPr>
            <p:cNvPr id="3" name="!!parcel-0-0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!!parcel-1-0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!!parcel-2-0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!!parcel-3-0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!!parcel-4-0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!!parcel-5-0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" name="!!air-column-1"/>
          <p:cNvGrpSpPr/>
          <p:nvPr/>
        </p:nvGrpSpPr>
        <p:grpSpPr>
          <a:xfrm>
            <a:off x="2557696" y="2560320"/>
            <a:ext cx="86360" cy="1991360"/>
            <a:chOff x="0" y="0"/>
            <a:chExt cx="86360" cy="1991360"/>
          </a:xfrm>
        </p:grpSpPr>
        <p:sp>
          <p:nvSpPr>
            <p:cNvPr id="10" name="!!parcel-0-1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!!parcel-1-1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!!parcel-2-1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!!parcel-3-1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!!parcel-4-1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!!parcel-5-1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" name="!!air-column-2"/>
          <p:cNvGrpSpPr/>
          <p:nvPr/>
        </p:nvGrpSpPr>
        <p:grpSpPr>
          <a:xfrm>
            <a:off x="2952144" y="2560320"/>
            <a:ext cx="86360" cy="1991360"/>
            <a:chOff x="0" y="0"/>
            <a:chExt cx="86360" cy="1991360"/>
          </a:xfrm>
        </p:grpSpPr>
        <p:sp>
          <p:nvSpPr>
            <p:cNvPr id="17" name="!!parcel-0-2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!!parcel-1-2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!!parcel-2-2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!!parcel-3-2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!!parcel-4-2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!!parcel-5-2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3" name="!!air-column-3"/>
          <p:cNvGrpSpPr/>
          <p:nvPr/>
        </p:nvGrpSpPr>
        <p:grpSpPr>
          <a:xfrm>
            <a:off x="3274462" y="2560320"/>
            <a:ext cx="86360" cy="1991360"/>
            <a:chOff x="0" y="0"/>
            <a:chExt cx="86360" cy="1991360"/>
          </a:xfrm>
        </p:grpSpPr>
        <p:sp>
          <p:nvSpPr>
            <p:cNvPr id="24" name="!!parcel-0-3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!!parcel-1-3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!!parcel-2-3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!!parcel-3-3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!!parcel-4-3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!!parcel-5-3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0" name="!!air-column-4"/>
          <p:cNvGrpSpPr/>
          <p:nvPr/>
        </p:nvGrpSpPr>
        <p:grpSpPr>
          <a:xfrm>
            <a:off x="3534514" y="2560320"/>
            <a:ext cx="86360" cy="1991360"/>
            <a:chOff x="0" y="0"/>
            <a:chExt cx="86360" cy="1991360"/>
          </a:xfrm>
        </p:grpSpPr>
        <p:sp>
          <p:nvSpPr>
            <p:cNvPr id="31" name="!!parcel-0-4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!!parcel-1-4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!!parcel-2-4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!!parcel-3-4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!!parcel-4-4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!!parcel-5-4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7" name="!!air-column-5"/>
          <p:cNvGrpSpPr/>
          <p:nvPr/>
        </p:nvGrpSpPr>
        <p:grpSpPr>
          <a:xfrm>
            <a:off x="3771999" y="2560320"/>
            <a:ext cx="86360" cy="1991360"/>
            <a:chOff x="0" y="0"/>
            <a:chExt cx="86360" cy="1991360"/>
          </a:xfrm>
        </p:grpSpPr>
        <p:sp>
          <p:nvSpPr>
            <p:cNvPr id="38" name="!!parcel-0-5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!!parcel-1-5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!!parcel-2-5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!!parcel-3-5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!!parcel-4-5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!!parcel-5-5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4" name="!!air-column-6"/>
          <p:cNvGrpSpPr/>
          <p:nvPr/>
        </p:nvGrpSpPr>
        <p:grpSpPr>
          <a:xfrm>
            <a:off x="4037431" y="2560320"/>
            <a:ext cx="86360" cy="1991360"/>
            <a:chOff x="0" y="0"/>
            <a:chExt cx="86360" cy="1991360"/>
          </a:xfrm>
        </p:grpSpPr>
        <p:sp>
          <p:nvSpPr>
            <p:cNvPr id="45" name="!!parcel-0-6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!!parcel-1-6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!!parcel-2-6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!!parcel-3-6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!!parcel-4-6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!!parcel-5-6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1" name="!!air-column-7"/>
          <p:cNvGrpSpPr/>
          <p:nvPr/>
        </p:nvGrpSpPr>
        <p:grpSpPr>
          <a:xfrm>
            <a:off x="4367931" y="2560320"/>
            <a:ext cx="86360" cy="1991360"/>
            <a:chOff x="0" y="0"/>
            <a:chExt cx="86360" cy="1991360"/>
          </a:xfrm>
        </p:grpSpPr>
        <p:sp>
          <p:nvSpPr>
            <p:cNvPr id="52" name="!!parcel-0-7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!!parcel-1-7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!!parcel-2-7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!!parcel-3-7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!!parcel-4-7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!!parcel-5-7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8" name="!!air-column-8"/>
          <p:cNvGrpSpPr/>
          <p:nvPr/>
        </p:nvGrpSpPr>
        <p:grpSpPr>
          <a:xfrm>
            <a:off x="4769442" y="2560320"/>
            <a:ext cx="86360" cy="1991360"/>
            <a:chOff x="0" y="0"/>
            <a:chExt cx="86360" cy="1991360"/>
          </a:xfrm>
        </p:grpSpPr>
        <p:sp>
          <p:nvSpPr>
            <p:cNvPr id="59" name="!!parcel-0-8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!!parcel-1-8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!!parcel-2-8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!!parcel-3-8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!!parcel-4-8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!!parcel-5-8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5" name="!!air-column-9"/>
          <p:cNvGrpSpPr/>
          <p:nvPr/>
        </p:nvGrpSpPr>
        <p:grpSpPr>
          <a:xfrm>
            <a:off x="5213877" y="2560320"/>
            <a:ext cx="86360" cy="1991360"/>
            <a:chOff x="0" y="0"/>
            <a:chExt cx="86360" cy="1991360"/>
          </a:xfrm>
        </p:grpSpPr>
        <p:sp>
          <p:nvSpPr>
            <p:cNvPr id="66" name="!!parcel-0-9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!!parcel-1-9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!!parcel-2-9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!!parcel-3-9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!!parcel-4-9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!!parcel-5-9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2" name="!!air-column-10"/>
          <p:cNvGrpSpPr/>
          <p:nvPr/>
        </p:nvGrpSpPr>
        <p:grpSpPr>
          <a:xfrm>
            <a:off x="5652583" y="2560320"/>
            <a:ext cx="86360" cy="1991360"/>
            <a:chOff x="0" y="0"/>
            <a:chExt cx="86360" cy="1991360"/>
          </a:xfrm>
        </p:grpSpPr>
        <p:sp>
          <p:nvSpPr>
            <p:cNvPr id="73" name="!!parcel-0-10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!!parcel-1-10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!!parcel-3-10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!!parcel-4-10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!!parcel-5-10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8" name="!!air-column-11"/>
          <p:cNvGrpSpPr/>
          <p:nvPr/>
        </p:nvGrpSpPr>
        <p:grpSpPr>
          <a:xfrm>
            <a:off x="6039650" y="2560320"/>
            <a:ext cx="86360" cy="1991360"/>
            <a:chOff x="0" y="0"/>
            <a:chExt cx="86360" cy="1991360"/>
          </a:xfrm>
        </p:grpSpPr>
        <p:sp>
          <p:nvSpPr>
            <p:cNvPr id="79" name="!!parcel-0-11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!!parcel-1-11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!!parcel-2-11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!!parcel-3-11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!!parcel-4-11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!!parcel-5-11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5" name="!!air-column-12"/>
          <p:cNvGrpSpPr/>
          <p:nvPr/>
        </p:nvGrpSpPr>
        <p:grpSpPr>
          <a:xfrm>
            <a:off x="6353914" y="2560320"/>
            <a:ext cx="86360" cy="1991360"/>
            <a:chOff x="0" y="0"/>
            <a:chExt cx="86360" cy="1991360"/>
          </a:xfrm>
        </p:grpSpPr>
        <p:sp>
          <p:nvSpPr>
            <p:cNvPr id="86" name="!!parcel-0-12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!!parcel-1-12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!!parcel-2-12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!!parcel-3-12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!!parcel-4-12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!!parcel-5-12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2" name="!!air-column-13"/>
          <p:cNvGrpSpPr/>
          <p:nvPr/>
        </p:nvGrpSpPr>
        <p:grpSpPr>
          <a:xfrm>
            <a:off x="6609097" y="2560320"/>
            <a:ext cx="86360" cy="1991360"/>
            <a:chOff x="0" y="0"/>
            <a:chExt cx="86360" cy="1991360"/>
          </a:xfrm>
        </p:grpSpPr>
        <p:sp>
          <p:nvSpPr>
            <p:cNvPr id="93" name="!!parcel-0-13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!!parcel-1-13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!!parcel-2-13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!!parcel-3-13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!!parcel-4-13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!!parcel-5-13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9" name="!!air-column-14"/>
          <p:cNvGrpSpPr/>
          <p:nvPr/>
        </p:nvGrpSpPr>
        <p:grpSpPr>
          <a:xfrm>
            <a:off x="6847232" y="2560320"/>
            <a:ext cx="86360" cy="1991360"/>
            <a:chOff x="0" y="0"/>
            <a:chExt cx="86360" cy="1991360"/>
          </a:xfrm>
        </p:grpSpPr>
        <p:sp>
          <p:nvSpPr>
            <p:cNvPr id="100" name="!!parcel-0-14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!!parcel-1-14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!!parcel-2-14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!!parcel-3-14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!!parcel-4-14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!!parcel-5-14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6" name="!!air-column-15"/>
          <p:cNvGrpSpPr/>
          <p:nvPr/>
        </p:nvGrpSpPr>
        <p:grpSpPr>
          <a:xfrm>
            <a:off x="7118521" y="2560320"/>
            <a:ext cx="86360" cy="1991360"/>
            <a:chOff x="0" y="0"/>
            <a:chExt cx="86360" cy="1991360"/>
          </a:xfrm>
        </p:grpSpPr>
        <p:sp>
          <p:nvSpPr>
            <p:cNvPr id="107" name="!!parcel-0-15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!!parcel-1-15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!!parcel-2-15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!!parcel-3-15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!!parcel-4-15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!!parcel-5-15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3" name="!!air-column-16"/>
          <p:cNvGrpSpPr/>
          <p:nvPr/>
        </p:nvGrpSpPr>
        <p:grpSpPr>
          <a:xfrm>
            <a:off x="7457279" y="2560320"/>
            <a:ext cx="86360" cy="1991360"/>
            <a:chOff x="0" y="0"/>
            <a:chExt cx="86360" cy="1991360"/>
          </a:xfrm>
        </p:grpSpPr>
        <p:sp>
          <p:nvSpPr>
            <p:cNvPr id="114" name="!!parcel-0-16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!!parcel-1-16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!!parcel-2-16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!!parcel-3-16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!!parcel-4-16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!!parcel-5-16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0" name="!!air-column-17"/>
          <p:cNvGrpSpPr/>
          <p:nvPr/>
        </p:nvGrpSpPr>
        <p:grpSpPr>
          <a:xfrm>
            <a:off x="7865491" y="2560320"/>
            <a:ext cx="86360" cy="1991360"/>
            <a:chOff x="0" y="0"/>
            <a:chExt cx="86360" cy="1991360"/>
          </a:xfrm>
        </p:grpSpPr>
        <p:sp>
          <p:nvSpPr>
            <p:cNvPr id="121" name="!!parcel-0-17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!!parcel-1-17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!!parcel-2-17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!!parcel-3-17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!!parcel-4-17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!!parcel-5-17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7" name="!!air-column-18"/>
          <p:cNvGrpSpPr/>
          <p:nvPr/>
        </p:nvGrpSpPr>
        <p:grpSpPr>
          <a:xfrm>
            <a:off x="8311861" y="2560320"/>
            <a:ext cx="86360" cy="1991360"/>
            <a:chOff x="0" y="0"/>
            <a:chExt cx="86360" cy="1991360"/>
          </a:xfrm>
        </p:grpSpPr>
        <p:sp>
          <p:nvSpPr>
            <p:cNvPr id="128" name="!!parcel-0-18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!!parcel-1-18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!!parcel-2-18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!!parcel-3-18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!!parcel-4-18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!!parcel-5-18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4" name="!!air-column-19"/>
          <p:cNvGrpSpPr/>
          <p:nvPr/>
        </p:nvGrpSpPr>
        <p:grpSpPr>
          <a:xfrm>
            <a:off x="8746806" y="2560320"/>
            <a:ext cx="86360" cy="1991360"/>
            <a:chOff x="0" y="0"/>
            <a:chExt cx="86360" cy="1991360"/>
          </a:xfrm>
        </p:grpSpPr>
        <p:sp>
          <p:nvSpPr>
            <p:cNvPr id="135" name="!!parcel-0-19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!!parcel-1-19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!!parcel-2-19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8" name="!!parcel-3-19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!!parcel-4-19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!!parcel-5-19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1" name="!!air-column-20"/>
          <p:cNvGrpSpPr/>
          <p:nvPr/>
        </p:nvGrpSpPr>
        <p:grpSpPr>
          <a:xfrm>
            <a:off x="9126220" y="2560320"/>
            <a:ext cx="86360" cy="1991360"/>
            <a:chOff x="0" y="0"/>
            <a:chExt cx="86360" cy="1991360"/>
          </a:xfrm>
        </p:grpSpPr>
        <p:sp>
          <p:nvSpPr>
            <p:cNvPr id="142" name="!!parcel-0-20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3" name="!!parcel-1-20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4" name="!!parcel-2-20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5" name="!!parcel-3-20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6" name="!!parcel-4-20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" name="!!parcel-5-20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8" name="!!air-column-21"/>
          <p:cNvGrpSpPr/>
          <p:nvPr/>
        </p:nvGrpSpPr>
        <p:grpSpPr>
          <a:xfrm>
            <a:off x="9432606" y="2560320"/>
            <a:ext cx="86360" cy="1991360"/>
            <a:chOff x="0" y="0"/>
            <a:chExt cx="86360" cy="1991360"/>
          </a:xfrm>
        </p:grpSpPr>
        <p:sp>
          <p:nvSpPr>
            <p:cNvPr id="149" name="!!parcel-0-21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" name="!!parcel-1-21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!!parcel-2-21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" name="!!parcel-3-21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" name="!!parcel-4-21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!!parcel-5-21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5" name="!!air-column-22"/>
          <p:cNvGrpSpPr/>
          <p:nvPr/>
        </p:nvGrpSpPr>
        <p:grpSpPr>
          <a:xfrm>
            <a:off x="9683461" y="2560320"/>
            <a:ext cx="86360" cy="1991360"/>
            <a:chOff x="0" y="0"/>
            <a:chExt cx="86360" cy="1991360"/>
          </a:xfrm>
        </p:grpSpPr>
        <p:sp>
          <p:nvSpPr>
            <p:cNvPr id="156" name="!!parcel-0-22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!!parcel-1-22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!!parcel-2-22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" name="!!parcel-3-22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" name="!!parcel-4-22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" name="!!parcel-5-22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2" name="!!air-column-23"/>
          <p:cNvGrpSpPr/>
          <p:nvPr/>
        </p:nvGrpSpPr>
        <p:grpSpPr>
          <a:xfrm>
            <a:off x="9922891" y="2560320"/>
            <a:ext cx="86360" cy="1991360"/>
            <a:chOff x="0" y="0"/>
            <a:chExt cx="86360" cy="1991360"/>
          </a:xfrm>
        </p:grpSpPr>
        <p:sp>
          <p:nvSpPr>
            <p:cNvPr id="163" name="!!parcel-0-23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" name="!!parcel-1-23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" name="!!parcel-2-23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" name="!!parcel-3-23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" name="!!parcel-4-23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8" name="!!parcel-5-23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9" name="!!air-column-24"/>
          <p:cNvGrpSpPr/>
          <p:nvPr/>
        </p:nvGrpSpPr>
        <p:grpSpPr>
          <a:xfrm>
            <a:off x="10200479" y="2560320"/>
            <a:ext cx="86360" cy="1991360"/>
            <a:chOff x="0" y="0"/>
            <a:chExt cx="86360" cy="1991360"/>
          </a:xfrm>
        </p:grpSpPr>
        <p:sp>
          <p:nvSpPr>
            <p:cNvPr id="170" name="!!parcel-0-24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1" name="!!parcel-1-24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2" name="!!parcel-2-24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3" name="!!parcel-3-24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" name="!!parcel-4-24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" name="!!parcel-5-24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76" name="!!tagged-parcel"/>
          <p:cNvSpPr/>
          <p:nvPr/>
        </p:nvSpPr>
        <p:spPr>
          <a:xfrm>
            <a:off x="5625913" y="3295650"/>
            <a:ext cx="139700" cy="139700"/>
          </a:xfrm>
          <a:prstGeom prst="ellipse">
            <a:avLst/>
          </a:prstGeom>
          <a:solidFill>
            <a:srgbClr val="FFA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!!tagged-halo"/>
          <p:cNvSpPr/>
          <p:nvPr/>
        </p:nvSpPr>
        <p:spPr>
          <a:xfrm>
            <a:off x="5568763" y="3238500"/>
            <a:ext cx="254000" cy="254000"/>
          </a:xfrm>
          <a:prstGeom prst="ellipse">
            <a:avLst/>
          </a:prstGeom>
          <a:noFill/>
          <a:ln w="13970">
            <a:solidFill>
              <a:srgbClr val="FFA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!!clip-left"/>
          <p:cNvSpPr/>
          <p:nvPr/>
        </p:nvSpPr>
        <p:spPr>
          <a:xfrm>
            <a:off x="0" y="2254250"/>
            <a:ext cx="952500" cy="336550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!!clip-right"/>
          <p:cNvSpPr/>
          <p:nvPr/>
        </p:nvSpPr>
        <p:spPr>
          <a:xfrm>
            <a:off x="11239500" y="2254250"/>
            <a:ext cx="952500" cy="336550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!!clip-top"/>
          <p:cNvSpPr/>
          <p:nvPr/>
        </p:nvSpPr>
        <p:spPr>
          <a:xfrm>
            <a:off x="0" y="0"/>
            <a:ext cx="12192000" cy="225425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!!clip-bottom"/>
          <p:cNvSpPr/>
          <p:nvPr/>
        </p:nvSpPr>
        <p:spPr>
          <a:xfrm>
            <a:off x="0" y="5619750"/>
            <a:ext cx="12192000" cy="123825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!!brand"/>
          <p:cNvSpPr txBox="1"/>
          <p:nvPr/>
        </p:nvSpPr>
        <p:spPr>
          <a:xfrm>
            <a:off x="762000" y="412750"/>
            <a:ext cx="7620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6CE2D0"/>
                </a:solidFill>
                <a:latin typeface="Noto Sans CJK SC"/>
                <a:ea typeface="Noto Sans CJK SC"/>
                <a:cs typeface="Noto Sans CJK SC"/>
              </a:rPr>
              <a:t>SOUND / 看见声音</a:t>
            </a:r>
          </a:p>
        </p:txBody>
      </p:sp>
      <p:sp>
        <p:nvSpPr>
          <p:cNvPr id="183" name="!!question-folio"/>
          <p:cNvSpPr txBox="1"/>
          <p:nvPr/>
        </p:nvSpPr>
        <p:spPr>
          <a:xfrm>
            <a:off x="10160000" y="412750"/>
            <a:ext cx="1270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01 / 08</a:t>
            </a:r>
          </a:p>
        </p:txBody>
      </p:sp>
      <p:sp>
        <p:nvSpPr>
          <p:cNvPr id="184" name="!!question-title"/>
          <p:cNvSpPr txBox="1"/>
          <p:nvPr/>
        </p:nvSpPr>
        <p:spPr>
          <a:xfrm>
            <a:off x="762000" y="1079500"/>
            <a:ext cx="10668000" cy="1333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72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声音走了，</a:t>
            </a:r>
          </a:p>
          <a:p>
            <a:pPr algn="l">
              <a:lnSpc>
                <a:spcPts val="472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空气也走了吗？</a:t>
            </a:r>
          </a:p>
        </p:txBody>
      </p:sp>
      <p:sp>
        <p:nvSpPr>
          <p:cNvPr id="185" name="!!question-caption"/>
          <p:cNvSpPr txBox="1"/>
          <p:nvPr/>
        </p:nvSpPr>
        <p:spPr>
          <a:xfrm>
            <a:off x="1143000" y="5937250"/>
            <a:ext cx="9906000" cy="412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先盯住这个橙色标记。</a:t>
            </a:r>
          </a:p>
        </p:txBody>
      </p:sp>
      <p:sp>
        <p:nvSpPr>
          <p:cNvPr id="186" name="!!question-scope"/>
          <p:cNvSpPr txBox="1"/>
          <p:nvPr/>
        </p:nvSpPr>
        <p:spPr>
          <a:xfrm>
            <a:off x="762000" y="6496050"/>
            <a:ext cx="90170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平均运动示意 · 位移与时间已放大 · 未画热运动</a:t>
            </a:r>
          </a:p>
        </p:txBody>
      </p:sp>
      <p:sp>
        <p:nvSpPr>
          <p:cNvPr id="187" name="!!speaker"/>
          <p:cNvSpPr/>
          <p:nvPr/>
        </p:nvSpPr>
        <p:spPr>
          <a:xfrm>
            <a:off x="825500" y="2870200"/>
            <a:ext cx="768350" cy="1244600"/>
          </a:xfrm>
          <a:custGeom>
            <a:avLst/>
            <a:gdLst/>
            <a:ahLst/>
            <a:cxnLst/>
            <a:rect l="l" t="t" r="r" b="b"/>
            <a:pathLst>
              <a:path w="121000" h="196000">
                <a:moveTo>
                  <a:pt x="0" y="53000"/>
                </a:moveTo>
                <a:lnTo>
                  <a:pt x="56000" y="53000"/>
                </a:lnTo>
                <a:lnTo>
                  <a:pt x="121000" y="0"/>
                </a:lnTo>
                <a:lnTo>
                  <a:pt x="121000" y="196000"/>
                </a:lnTo>
                <a:lnTo>
                  <a:pt x="56000" y="143000"/>
                </a:lnTo>
                <a:lnTo>
                  <a:pt x="0" y="143000"/>
                </a:lnTo>
                <a:close/>
              </a:path>
            </a:pathLst>
          </a:custGeom>
          <a:solidFill>
            <a:srgbClr val="6C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ns0="http://schemas.microsoft.com/office/powerpoint/2010/main" spd="fast" advClick="1" ns0:dur="45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!!air-column-0"/>
          <p:cNvGrpSpPr/>
          <p:nvPr/>
        </p:nvGrpSpPr>
        <p:grpSpPr>
          <a:xfrm>
            <a:off x="-83366" y="2320417"/>
            <a:ext cx="159766" cy="3684016"/>
            <a:chOff x="0" y="0"/>
            <a:chExt cx="159766" cy="3684016"/>
          </a:xfrm>
        </p:grpSpPr>
        <p:sp>
          <p:nvSpPr>
            <p:cNvPr id="3" name="!!parcel-0-0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!!parcel-1-0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!!parcel-2-0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!!parcel-3-0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!!parcel-4-0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!!parcel-5-0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" name="!!air-column-1"/>
          <p:cNvGrpSpPr/>
          <p:nvPr/>
        </p:nvGrpSpPr>
        <p:grpSpPr>
          <a:xfrm>
            <a:off x="400946" y="2320417"/>
            <a:ext cx="159766" cy="3684016"/>
            <a:chOff x="0" y="0"/>
            <a:chExt cx="159766" cy="3684016"/>
          </a:xfrm>
        </p:grpSpPr>
        <p:sp>
          <p:nvSpPr>
            <p:cNvPr id="10" name="!!parcel-0-1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!!parcel-1-1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!!parcel-2-1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!!parcel-3-1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!!parcel-4-1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!!parcel-5-1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" name="!!air-column-2"/>
          <p:cNvGrpSpPr/>
          <p:nvPr/>
        </p:nvGrpSpPr>
        <p:grpSpPr>
          <a:xfrm>
            <a:off x="840159" y="2320417"/>
            <a:ext cx="159766" cy="3684016"/>
            <a:chOff x="0" y="0"/>
            <a:chExt cx="159766" cy="3684016"/>
          </a:xfrm>
        </p:grpSpPr>
        <p:sp>
          <p:nvSpPr>
            <p:cNvPr id="17" name="!!parcel-0-2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!!parcel-1-2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!!parcel-2-2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!!parcel-3-2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!!parcel-4-2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!!parcel-5-2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3" name="!!air-column-3"/>
          <p:cNvGrpSpPr/>
          <p:nvPr/>
        </p:nvGrpSpPr>
        <p:grpSpPr>
          <a:xfrm>
            <a:off x="1327788" y="2320417"/>
            <a:ext cx="159766" cy="3684016"/>
            <a:chOff x="0" y="0"/>
            <a:chExt cx="159766" cy="3684016"/>
          </a:xfrm>
        </p:grpSpPr>
        <p:sp>
          <p:nvSpPr>
            <p:cNvPr id="24" name="!!parcel-0-3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!!parcel-1-3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!!parcel-2-3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!!parcel-3-3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!!parcel-4-3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!!parcel-5-3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0" name="!!air-column-4"/>
          <p:cNvGrpSpPr/>
          <p:nvPr/>
        </p:nvGrpSpPr>
        <p:grpSpPr>
          <a:xfrm>
            <a:off x="1934148" y="2320417"/>
            <a:ext cx="159766" cy="3684016"/>
            <a:chOff x="0" y="0"/>
            <a:chExt cx="159766" cy="3684016"/>
          </a:xfrm>
        </p:grpSpPr>
        <p:sp>
          <p:nvSpPr>
            <p:cNvPr id="31" name="!!parcel-0-4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!!parcel-1-4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!!parcel-2-4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!!parcel-3-4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!!parcel-4-4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!!parcel-5-4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7" name="!!air-column-5"/>
          <p:cNvGrpSpPr/>
          <p:nvPr/>
        </p:nvGrpSpPr>
        <p:grpSpPr>
          <a:xfrm>
            <a:off x="2672658" y="2320417"/>
            <a:ext cx="159766" cy="3684016"/>
            <a:chOff x="0" y="0"/>
            <a:chExt cx="159766" cy="3684016"/>
          </a:xfrm>
        </p:grpSpPr>
        <p:sp>
          <p:nvSpPr>
            <p:cNvPr id="38" name="!!parcel-0-5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!!parcel-1-5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!!parcel-2-5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!!parcel-3-5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!!parcel-4-5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!!parcel-5-5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4" name="!!air-column-6"/>
          <p:cNvGrpSpPr/>
          <p:nvPr/>
        </p:nvGrpSpPr>
        <p:grpSpPr>
          <a:xfrm>
            <a:off x="3493413" y="2320417"/>
            <a:ext cx="159766" cy="3684016"/>
            <a:chOff x="0" y="0"/>
            <a:chExt cx="159766" cy="3684016"/>
          </a:xfrm>
        </p:grpSpPr>
        <p:sp>
          <p:nvSpPr>
            <p:cNvPr id="45" name="!!parcel-0-6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!!parcel-1-6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!!parcel-2-6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!!parcel-3-6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!!parcel-4-6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!!parcel-5-6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1" name="!!air-column-7"/>
          <p:cNvGrpSpPr/>
          <p:nvPr/>
        </p:nvGrpSpPr>
        <p:grpSpPr>
          <a:xfrm>
            <a:off x="4307097" y="2320417"/>
            <a:ext cx="159766" cy="3684016"/>
            <a:chOff x="0" y="0"/>
            <a:chExt cx="159766" cy="3684016"/>
          </a:xfrm>
        </p:grpSpPr>
        <p:sp>
          <p:nvSpPr>
            <p:cNvPr id="52" name="!!parcel-0-7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!!parcel-1-7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!!parcel-2-7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!!parcel-3-7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!!parcel-4-7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!!parcel-5-7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8" name="!!air-column-8"/>
          <p:cNvGrpSpPr/>
          <p:nvPr/>
        </p:nvGrpSpPr>
        <p:grpSpPr>
          <a:xfrm>
            <a:off x="5027783" y="2320417"/>
            <a:ext cx="159766" cy="3684016"/>
            <a:chOff x="0" y="0"/>
            <a:chExt cx="159766" cy="3684016"/>
          </a:xfrm>
        </p:grpSpPr>
        <p:sp>
          <p:nvSpPr>
            <p:cNvPr id="59" name="!!parcel-0-8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!!parcel-1-8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!!parcel-2-8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!!parcel-3-8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!!parcel-4-8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!!parcel-5-8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5" name="!!air-column-9"/>
          <p:cNvGrpSpPr/>
          <p:nvPr/>
        </p:nvGrpSpPr>
        <p:grpSpPr>
          <a:xfrm>
            <a:off x="5614106" y="2320417"/>
            <a:ext cx="159766" cy="3684016"/>
            <a:chOff x="0" y="0"/>
            <a:chExt cx="159766" cy="3684016"/>
          </a:xfrm>
        </p:grpSpPr>
        <p:sp>
          <p:nvSpPr>
            <p:cNvPr id="66" name="!!parcel-0-9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!!parcel-1-9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!!parcel-2-9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!!parcel-3-9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!!parcel-4-9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!!parcel-5-9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2" name="!!air-column-10"/>
          <p:cNvGrpSpPr/>
          <p:nvPr/>
        </p:nvGrpSpPr>
        <p:grpSpPr>
          <a:xfrm>
            <a:off x="6089088" y="2320417"/>
            <a:ext cx="159766" cy="3684016"/>
            <a:chOff x="0" y="0"/>
            <a:chExt cx="159766" cy="3684016"/>
          </a:xfrm>
        </p:grpSpPr>
        <p:sp>
          <p:nvSpPr>
            <p:cNvPr id="73" name="!!parcel-0-10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!!parcel-1-10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!!parcel-3-10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!!parcel-4-10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!!parcel-5-10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8" name="!!air-column-11"/>
          <p:cNvGrpSpPr/>
          <p:nvPr/>
        </p:nvGrpSpPr>
        <p:grpSpPr>
          <a:xfrm>
            <a:off x="6529104" y="2320417"/>
            <a:ext cx="159766" cy="3684016"/>
            <a:chOff x="0" y="0"/>
            <a:chExt cx="159766" cy="3684016"/>
          </a:xfrm>
        </p:grpSpPr>
        <p:sp>
          <p:nvSpPr>
            <p:cNvPr id="79" name="!!parcel-0-11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!!parcel-1-11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!!parcel-2-11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!!parcel-3-11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!!parcel-4-11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!!parcel-5-11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5" name="!!air-column-12"/>
          <p:cNvGrpSpPr/>
          <p:nvPr/>
        </p:nvGrpSpPr>
        <p:grpSpPr>
          <a:xfrm>
            <a:off x="7027282" y="2320417"/>
            <a:ext cx="159766" cy="3684016"/>
            <a:chOff x="0" y="0"/>
            <a:chExt cx="159766" cy="3684016"/>
          </a:xfrm>
        </p:grpSpPr>
        <p:sp>
          <p:nvSpPr>
            <p:cNvPr id="86" name="!!parcel-0-12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!!parcel-1-12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!!parcel-2-12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!!parcel-3-12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!!parcel-4-12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!!parcel-5-12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2" name="!!air-column-13"/>
          <p:cNvGrpSpPr/>
          <p:nvPr/>
        </p:nvGrpSpPr>
        <p:grpSpPr>
          <a:xfrm>
            <a:off x="7648882" y="2320417"/>
            <a:ext cx="159766" cy="3684016"/>
            <a:chOff x="0" y="0"/>
            <a:chExt cx="159766" cy="3684016"/>
          </a:xfrm>
        </p:grpSpPr>
        <p:sp>
          <p:nvSpPr>
            <p:cNvPr id="93" name="!!parcel-0-13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!!parcel-1-13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!!parcel-2-13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!!parcel-3-13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!!parcel-4-13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!!parcel-5-13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9" name="!!air-column-14"/>
          <p:cNvGrpSpPr/>
          <p:nvPr/>
        </p:nvGrpSpPr>
        <p:grpSpPr>
          <a:xfrm>
            <a:off x="8400021" y="2320417"/>
            <a:ext cx="159766" cy="3684016"/>
            <a:chOff x="0" y="0"/>
            <a:chExt cx="159766" cy="3684016"/>
          </a:xfrm>
        </p:grpSpPr>
        <p:sp>
          <p:nvSpPr>
            <p:cNvPr id="100" name="!!parcel-0-14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!!parcel-1-14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!!parcel-2-14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!!parcel-3-14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!!parcel-4-14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!!parcel-5-14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6" name="!!air-column-15"/>
          <p:cNvGrpSpPr/>
          <p:nvPr/>
        </p:nvGrpSpPr>
        <p:grpSpPr>
          <a:xfrm>
            <a:off x="9224743" y="2320417"/>
            <a:ext cx="159766" cy="3684016"/>
            <a:chOff x="0" y="0"/>
            <a:chExt cx="159766" cy="3684016"/>
          </a:xfrm>
        </p:grpSpPr>
        <p:sp>
          <p:nvSpPr>
            <p:cNvPr id="107" name="!!parcel-0-15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!!parcel-1-15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!!parcel-2-15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!!parcel-3-15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!!parcel-4-15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!!parcel-5-15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3" name="!!air-column-16"/>
          <p:cNvGrpSpPr/>
          <p:nvPr/>
        </p:nvGrpSpPr>
        <p:grpSpPr>
          <a:xfrm>
            <a:off x="10031829" y="2320417"/>
            <a:ext cx="159766" cy="3684016"/>
            <a:chOff x="0" y="0"/>
            <a:chExt cx="159766" cy="3684016"/>
          </a:xfrm>
        </p:grpSpPr>
        <p:sp>
          <p:nvSpPr>
            <p:cNvPr id="114" name="!!parcel-0-16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!!parcel-1-16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!!parcel-2-16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!!parcel-3-16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!!parcel-4-16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!!parcel-5-16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0" name="!!air-column-17"/>
          <p:cNvGrpSpPr/>
          <p:nvPr/>
        </p:nvGrpSpPr>
        <p:grpSpPr>
          <a:xfrm>
            <a:off x="10738515" y="2320417"/>
            <a:ext cx="159766" cy="3684016"/>
            <a:chOff x="0" y="0"/>
            <a:chExt cx="159766" cy="3684016"/>
          </a:xfrm>
        </p:grpSpPr>
        <p:sp>
          <p:nvSpPr>
            <p:cNvPr id="121" name="!!parcel-0-17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!!parcel-1-17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!!parcel-2-17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!!parcel-3-17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!!parcel-4-17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!!parcel-5-17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7" name="!!air-column-18"/>
          <p:cNvGrpSpPr/>
          <p:nvPr/>
        </p:nvGrpSpPr>
        <p:grpSpPr>
          <a:xfrm>
            <a:off x="11310146" y="2320417"/>
            <a:ext cx="159766" cy="3684016"/>
            <a:chOff x="0" y="0"/>
            <a:chExt cx="159766" cy="3684016"/>
          </a:xfrm>
        </p:grpSpPr>
        <p:sp>
          <p:nvSpPr>
            <p:cNvPr id="128" name="!!parcel-0-18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!!parcel-1-18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!!parcel-2-18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!!parcel-3-18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!!parcel-4-18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!!parcel-5-18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4" name="!!air-column-19"/>
          <p:cNvGrpSpPr/>
          <p:nvPr/>
        </p:nvGrpSpPr>
        <p:grpSpPr>
          <a:xfrm>
            <a:off x="11776781" y="2320417"/>
            <a:ext cx="159766" cy="3684016"/>
            <a:chOff x="0" y="0"/>
            <a:chExt cx="159766" cy="3684016"/>
          </a:xfrm>
        </p:grpSpPr>
        <p:sp>
          <p:nvSpPr>
            <p:cNvPr id="135" name="!!parcel-0-19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!!parcel-1-19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!!parcel-2-19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8" name="!!parcel-3-19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!!parcel-4-19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!!parcel-5-19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1" name="!!air-column-20"/>
          <p:cNvGrpSpPr/>
          <p:nvPr/>
        </p:nvGrpSpPr>
        <p:grpSpPr>
          <a:xfrm>
            <a:off x="12218797" y="2320417"/>
            <a:ext cx="159766" cy="3684016"/>
            <a:chOff x="0" y="0"/>
            <a:chExt cx="159766" cy="3684016"/>
          </a:xfrm>
        </p:grpSpPr>
        <p:sp>
          <p:nvSpPr>
            <p:cNvPr id="142" name="!!parcel-0-20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3" name="!!parcel-1-20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4" name="!!parcel-2-20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5" name="!!parcel-3-20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6" name="!!parcel-4-20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" name="!!parcel-5-20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8" name="!!air-column-21"/>
          <p:cNvGrpSpPr/>
          <p:nvPr/>
        </p:nvGrpSpPr>
        <p:grpSpPr>
          <a:xfrm>
            <a:off x="12728364" y="2320417"/>
            <a:ext cx="159766" cy="3684016"/>
            <a:chOff x="0" y="0"/>
            <a:chExt cx="159766" cy="3684016"/>
          </a:xfrm>
        </p:grpSpPr>
        <p:sp>
          <p:nvSpPr>
            <p:cNvPr id="149" name="!!parcel-0-21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" name="!!parcel-1-21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!!parcel-2-21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" name="!!parcel-3-21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" name="!!parcel-4-21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!!parcel-5-21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5" name="!!air-column-22"/>
          <p:cNvGrpSpPr/>
          <p:nvPr/>
        </p:nvGrpSpPr>
        <p:grpSpPr>
          <a:xfrm>
            <a:off x="13365283" y="2320417"/>
            <a:ext cx="159766" cy="3684016"/>
            <a:chOff x="0" y="0"/>
            <a:chExt cx="159766" cy="3684016"/>
          </a:xfrm>
        </p:grpSpPr>
        <p:sp>
          <p:nvSpPr>
            <p:cNvPr id="156" name="!!parcel-0-22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!!parcel-1-22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!!parcel-2-22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" name="!!parcel-3-22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" name="!!parcel-4-22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" name="!!parcel-5-22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2" name="!!air-column-23"/>
          <p:cNvGrpSpPr/>
          <p:nvPr/>
        </p:nvGrpSpPr>
        <p:grpSpPr>
          <a:xfrm>
            <a:off x="14128332" y="2320417"/>
            <a:ext cx="159766" cy="3684016"/>
            <a:chOff x="0" y="0"/>
            <a:chExt cx="159766" cy="3684016"/>
          </a:xfrm>
        </p:grpSpPr>
        <p:sp>
          <p:nvSpPr>
            <p:cNvPr id="163" name="!!parcel-0-23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" name="!!parcel-1-23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" name="!!parcel-2-23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" name="!!parcel-3-23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" name="!!parcel-4-23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8" name="!!parcel-5-23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9" name="!!air-column-24"/>
          <p:cNvGrpSpPr/>
          <p:nvPr/>
        </p:nvGrpSpPr>
        <p:grpSpPr>
          <a:xfrm>
            <a:off x="14955846" y="2320417"/>
            <a:ext cx="159766" cy="3684016"/>
            <a:chOff x="0" y="0"/>
            <a:chExt cx="159766" cy="3684016"/>
          </a:xfrm>
        </p:grpSpPr>
        <p:sp>
          <p:nvSpPr>
            <p:cNvPr id="170" name="!!parcel-0-24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1" name="!!parcel-1-24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2" name="!!parcel-2-24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3" name="!!parcel-3-24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" name="!!parcel-4-24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" name="!!parcel-5-24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76" name="!!tagged-parcel"/>
          <p:cNvSpPr/>
          <p:nvPr/>
        </p:nvSpPr>
        <p:spPr>
          <a:xfrm>
            <a:off x="6039749" y="3680778"/>
            <a:ext cx="258445" cy="258445"/>
          </a:xfrm>
          <a:prstGeom prst="ellipse">
            <a:avLst/>
          </a:prstGeom>
          <a:solidFill>
            <a:srgbClr val="FFA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!!tagged-halo"/>
          <p:cNvSpPr/>
          <p:nvPr/>
        </p:nvSpPr>
        <p:spPr>
          <a:xfrm>
            <a:off x="5934021" y="3575050"/>
            <a:ext cx="469900" cy="469900"/>
          </a:xfrm>
          <a:prstGeom prst="ellipse">
            <a:avLst/>
          </a:prstGeom>
          <a:noFill/>
          <a:ln w="25844">
            <a:solidFill>
              <a:srgbClr val="FFA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!!clip-left"/>
          <p:cNvSpPr/>
          <p:nvPr/>
        </p:nvSpPr>
        <p:spPr>
          <a:xfrm>
            <a:off x="0" y="2254250"/>
            <a:ext cx="952500" cy="336550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!!clip-right"/>
          <p:cNvSpPr/>
          <p:nvPr/>
        </p:nvSpPr>
        <p:spPr>
          <a:xfrm>
            <a:off x="11239500" y="2254250"/>
            <a:ext cx="952500" cy="336550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!!clip-top"/>
          <p:cNvSpPr/>
          <p:nvPr/>
        </p:nvSpPr>
        <p:spPr>
          <a:xfrm>
            <a:off x="0" y="0"/>
            <a:ext cx="12192000" cy="225425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!!clip-bottom"/>
          <p:cNvSpPr/>
          <p:nvPr/>
        </p:nvSpPr>
        <p:spPr>
          <a:xfrm>
            <a:off x="0" y="5619750"/>
            <a:ext cx="12192000" cy="123825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!!brand"/>
          <p:cNvSpPr txBox="1"/>
          <p:nvPr/>
        </p:nvSpPr>
        <p:spPr>
          <a:xfrm>
            <a:off x="762000" y="412750"/>
            <a:ext cx="7620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6CE2D0"/>
                </a:solidFill>
                <a:latin typeface="Noto Sans CJK SC"/>
                <a:ea typeface="Noto Sans CJK SC"/>
                <a:cs typeface="Noto Sans CJK SC"/>
              </a:rPr>
              <a:t>SOUND / 看见声音</a:t>
            </a:r>
          </a:p>
        </p:txBody>
      </p:sp>
      <p:sp>
        <p:nvSpPr>
          <p:cNvPr id="183" name="!!parcel-folio"/>
          <p:cNvSpPr txBox="1"/>
          <p:nvPr/>
        </p:nvSpPr>
        <p:spPr>
          <a:xfrm>
            <a:off x="10160000" y="412750"/>
            <a:ext cx="1270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02 / 08</a:t>
            </a:r>
          </a:p>
        </p:txBody>
      </p:sp>
      <p:sp>
        <p:nvSpPr>
          <p:cNvPr id="184" name="!!parcel-title"/>
          <p:cNvSpPr txBox="1"/>
          <p:nvPr/>
        </p:nvSpPr>
        <p:spPr>
          <a:xfrm>
            <a:off x="762000" y="1079500"/>
            <a:ext cx="10668000" cy="673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72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空气往复，不会一路远行。</a:t>
            </a:r>
          </a:p>
        </p:txBody>
      </p:sp>
      <p:sp>
        <p:nvSpPr>
          <p:cNvPr id="185" name="!!parcel-caption"/>
          <p:cNvSpPr txBox="1"/>
          <p:nvPr/>
        </p:nvSpPr>
        <p:spPr>
          <a:xfrm>
            <a:off x="1143000" y="5937250"/>
            <a:ext cx="9906000" cy="412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围绕平衡位置，局部往复。</a:t>
            </a:r>
          </a:p>
        </p:txBody>
      </p:sp>
      <p:sp>
        <p:nvSpPr>
          <p:cNvPr id="186" name="!!parcel-scope"/>
          <p:cNvSpPr txBox="1"/>
          <p:nvPr/>
        </p:nvSpPr>
        <p:spPr>
          <a:xfrm>
            <a:off x="762000" y="6496050"/>
            <a:ext cx="90170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平均运动示意 · 位移与时间已放大 · 未画热运动</a:t>
            </a:r>
          </a:p>
        </p:txBody>
      </p:sp>
      <p:sp>
        <p:nvSpPr>
          <p:cNvPr id="187" name="!!local-motion"/>
          <p:cNvSpPr/>
          <p:nvPr/>
        </p:nvSpPr>
        <p:spPr>
          <a:xfrm>
            <a:off x="5334000" y="4972050"/>
            <a:ext cx="1524000" cy="152400"/>
          </a:xfrm>
          <a:custGeom>
            <a:avLst/>
            <a:gdLst/>
            <a:ahLst/>
            <a:cxnLst/>
            <a:rect l="0" t="0" r="r" b="b"/>
            <a:pathLst>
              <a:path w="240000" h="24000">
                <a:moveTo>
                  <a:pt x="0" y="12000"/>
                </a:moveTo>
                <a:lnTo>
                  <a:pt x="240000" y="12000"/>
                </a:lnTo>
                <a:moveTo>
                  <a:pt x="223000" y="2000"/>
                </a:moveTo>
                <a:lnTo>
                  <a:pt x="240000" y="12000"/>
                </a:lnTo>
                <a:lnTo>
                  <a:pt x="223000" y="22000"/>
                </a:lnTo>
                <a:moveTo>
                  <a:pt x="17000" y="2000"/>
                </a:moveTo>
                <a:lnTo>
                  <a:pt x="0" y="12000"/>
                </a:lnTo>
                <a:lnTo>
                  <a:pt x="17000" y="22000"/>
                </a:lnTo>
              </a:path>
            </a:pathLst>
          </a:custGeom>
          <a:noFill/>
          <a:ln w="25400">
            <a:solidFill>
              <a:srgbClr val="FFA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!!local-motion-label"/>
          <p:cNvSpPr txBox="1"/>
          <p:nvPr/>
        </p:nvSpPr>
        <p:spPr>
          <a:xfrm>
            <a:off x="5334000" y="4559300"/>
            <a:ext cx="15240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spc="0">
                <a:solidFill>
                  <a:srgbClr val="FFAC4B"/>
                </a:solidFill>
                <a:latin typeface="Noto Sans CJK SC"/>
                <a:ea typeface="Noto Sans CJK SC"/>
                <a:cs typeface="Noto Sans CJK SC"/>
              </a:rPr>
              <a:t>局部往复</a:t>
            </a:r>
          </a:p>
        </p:txBody>
      </p:sp>
      <p:sp>
        <p:nvSpPr>
          <p:cNvPr id="189" name="!!mean-position"/>
          <p:cNvSpPr/>
          <p:nvPr/>
        </p:nvSpPr>
        <p:spPr>
          <a:xfrm>
            <a:off x="6096000" y="3175000"/>
            <a:ext cx="64" cy="1270000"/>
          </a:xfrm>
          <a:custGeom>
            <a:avLst/>
            <a:gdLst/>
            <a:ahLst/>
            <a:cxnLst/>
            <a:rect l="0" t="0" r="r" b="b"/>
            <a:pathLst>
              <a:path w="10" h="200000">
                <a:moveTo>
                  <a:pt x="0" y="0"/>
                </a:moveTo>
                <a:lnTo>
                  <a:pt x="0" y="200000"/>
                </a:lnTo>
              </a:path>
            </a:pathLst>
          </a:custGeom>
          <a:noFill/>
          <a:ln w="9525">
            <a:solidFill>
              <a:srgbClr val="FFAC4B">
                <a:alpha val="4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ns0="http://schemas.microsoft.com/office/powerpoint/2010/main" spd="fast" advClick="1" ns0:dur="1600">
        <p159:morph option="byObject"/>
      </p:transition>
    </mc:Choice>
    <mc:Fallback>
      <p:transition xmlns:ns0="http://schemas.microsoft.com/office/powerpoint/2010/main" spd="fast" advClick="1" ns0:dur="16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.000000000 0.000000000 C 0.011695644 0.000000000 0.019485683 0.000000000 0.016351844 0.000000000 C 0.013218006 0.000000000 -0.000274737 0.000000000 -0.011970381 0.000000000 C -0.023666025 0.000000000 -0.031456064 0.000000000 -0.028322225 0.000000000 C -0.025188387 0.000000000 -0.011695644 0.000000000 0.000000000 0.000000000  E" pathEditMode="relative" rAng="0">
                                      <p:cBhvr>
                                        <p:cTn id="6" dur="3000" fill="hold" accel="0" decel="0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.000000000 0.000000000 C 0.011695644 0.000000000 0.019485683 0.000000000 0.016351844 0.000000000 C 0.013218006 0.000000000 -0.000274737 0.000000000 -0.011970381 0.000000000 C -0.023666025 0.000000000 -0.031456064 0.000000000 -0.028322225 0.000000000 C -0.025188387 0.000000000 -0.011695644 0.000000000 0.000000000 0.000000000  E" pathEditMode="relative" rAng="0">
                                      <p:cBhvr>
                                        <p:cTn id="8" dur="3000" fill="hold" accel="0" decel="0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ressure-band-2"/>
          <p:cNvSpPr/>
          <p:nvPr/>
        </p:nvSpPr>
        <p:spPr>
          <a:xfrm>
            <a:off x="1333500" y="2381250"/>
            <a:ext cx="635000" cy="2413000"/>
          </a:xfrm>
          <a:prstGeom prst="rect">
            <a:avLst/>
          </a:prstGeom>
          <a:solidFill>
            <a:srgbClr val="6CE2D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pressure-band-3"/>
          <p:cNvSpPr/>
          <p:nvPr/>
        </p:nvSpPr>
        <p:spPr>
          <a:xfrm>
            <a:off x="4381500" y="2381250"/>
            <a:ext cx="635000" cy="2413000"/>
          </a:xfrm>
          <a:prstGeom prst="rect">
            <a:avLst/>
          </a:prstGeom>
          <a:solidFill>
            <a:srgbClr val="6CE2D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pressure-band-4"/>
          <p:cNvSpPr/>
          <p:nvPr/>
        </p:nvSpPr>
        <p:spPr>
          <a:xfrm>
            <a:off x="7429500" y="2381250"/>
            <a:ext cx="635000" cy="2413000"/>
          </a:xfrm>
          <a:prstGeom prst="rect">
            <a:avLst/>
          </a:prstGeom>
          <a:solidFill>
            <a:srgbClr val="6CE2D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pressure-band-5"/>
          <p:cNvSpPr/>
          <p:nvPr/>
        </p:nvSpPr>
        <p:spPr>
          <a:xfrm>
            <a:off x="10477500" y="2381250"/>
            <a:ext cx="635000" cy="2413000"/>
          </a:xfrm>
          <a:prstGeom prst="rect">
            <a:avLst/>
          </a:prstGeom>
          <a:solidFill>
            <a:srgbClr val="6CE2D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6" name="!!air-column-0"/>
          <p:cNvGrpSpPr/>
          <p:nvPr/>
        </p:nvGrpSpPr>
        <p:grpSpPr>
          <a:xfrm>
            <a:off x="1983838" y="2560320"/>
            <a:ext cx="86360" cy="1991360"/>
            <a:chOff x="0" y="0"/>
            <a:chExt cx="86360" cy="1991360"/>
          </a:xfrm>
        </p:grpSpPr>
        <p:sp>
          <p:nvSpPr>
            <p:cNvPr id="7" name="!!parcel-0-0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!!parcel-1-0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!!parcel-2-0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!!parcel-3-0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!!parcel-4-0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!!parcel-5-0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" name="!!air-column-1"/>
          <p:cNvGrpSpPr/>
          <p:nvPr/>
        </p:nvGrpSpPr>
        <p:grpSpPr>
          <a:xfrm>
            <a:off x="2308872" y="2560320"/>
            <a:ext cx="86360" cy="1991360"/>
            <a:chOff x="0" y="0"/>
            <a:chExt cx="86360" cy="1991360"/>
          </a:xfrm>
        </p:grpSpPr>
        <p:sp>
          <p:nvSpPr>
            <p:cNvPr id="14" name="!!parcel-0-1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!!parcel-1-1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!!parcel-2-1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!!parcel-3-1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!!parcel-4-1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!!parcel-5-1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0" name="!!air-column-2"/>
          <p:cNvGrpSpPr/>
          <p:nvPr/>
        </p:nvGrpSpPr>
        <p:grpSpPr>
          <a:xfrm>
            <a:off x="2705712" y="2560320"/>
            <a:ext cx="86360" cy="1991360"/>
            <a:chOff x="0" y="0"/>
            <a:chExt cx="86360" cy="1991360"/>
          </a:xfrm>
        </p:grpSpPr>
        <p:sp>
          <p:nvSpPr>
            <p:cNvPr id="21" name="!!parcel-0-2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!!parcel-1-2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!!parcel-2-2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!!parcel-3-2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!!parcel-4-2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!!parcel-5-2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7" name="!!air-column-3"/>
          <p:cNvGrpSpPr/>
          <p:nvPr/>
        </p:nvGrpSpPr>
        <p:grpSpPr>
          <a:xfrm>
            <a:off x="3148509" y="2560320"/>
            <a:ext cx="86360" cy="1991360"/>
            <a:chOff x="0" y="0"/>
            <a:chExt cx="86360" cy="1991360"/>
          </a:xfrm>
        </p:grpSpPr>
        <p:sp>
          <p:nvSpPr>
            <p:cNvPr id="28" name="!!parcel-0-3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!!parcel-1-3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!!parcel-2-3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!!parcel-3-3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!!parcel-4-3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!!parcel-5-3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4" name="!!air-column-4"/>
          <p:cNvGrpSpPr/>
          <p:nvPr/>
        </p:nvGrpSpPr>
        <p:grpSpPr>
          <a:xfrm>
            <a:off x="3589396" y="2560320"/>
            <a:ext cx="86360" cy="1991360"/>
            <a:chOff x="0" y="0"/>
            <a:chExt cx="86360" cy="1991360"/>
          </a:xfrm>
        </p:grpSpPr>
        <p:sp>
          <p:nvSpPr>
            <p:cNvPr id="35" name="!!parcel-0-4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!!parcel-1-4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!!parcel-2-4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!!parcel-3-4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!!parcel-4-4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!!parcel-5-4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1" name="!!air-column-5"/>
          <p:cNvGrpSpPr/>
          <p:nvPr/>
        </p:nvGrpSpPr>
        <p:grpSpPr>
          <a:xfrm>
            <a:off x="3981416" y="2560320"/>
            <a:ext cx="86360" cy="1991360"/>
            <a:chOff x="0" y="0"/>
            <a:chExt cx="86360" cy="1991360"/>
          </a:xfrm>
        </p:grpSpPr>
        <p:sp>
          <p:nvSpPr>
            <p:cNvPr id="42" name="!!parcel-0-5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!!parcel-1-5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!!parcel-2-5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!!parcel-3-5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!!parcel-4-5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!!parcel-5-5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8" name="!!air-column-6"/>
          <p:cNvGrpSpPr/>
          <p:nvPr/>
        </p:nvGrpSpPr>
        <p:grpSpPr>
          <a:xfrm>
            <a:off x="4301033" y="2560320"/>
            <a:ext cx="86360" cy="1991360"/>
            <a:chOff x="0" y="0"/>
            <a:chExt cx="86360" cy="1991360"/>
          </a:xfrm>
        </p:grpSpPr>
        <p:sp>
          <p:nvSpPr>
            <p:cNvPr id="49" name="!!parcel-0-6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!!parcel-1-6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!!parcel-2-6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!!parcel-3-6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!!parcel-4-6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!!parcel-5-6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5" name="!!air-column-7"/>
          <p:cNvGrpSpPr/>
          <p:nvPr/>
        </p:nvGrpSpPr>
        <p:grpSpPr>
          <a:xfrm>
            <a:off x="4559404" y="2560320"/>
            <a:ext cx="86360" cy="1991360"/>
            <a:chOff x="0" y="0"/>
            <a:chExt cx="86360" cy="1991360"/>
          </a:xfrm>
        </p:grpSpPr>
        <p:sp>
          <p:nvSpPr>
            <p:cNvPr id="56" name="!!parcel-0-7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!!parcel-1-7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!!parcel-2-7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!!parcel-3-7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!!parcel-4-7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!!parcel-5-7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2" name="!!air-column-8"/>
          <p:cNvGrpSpPr/>
          <p:nvPr/>
        </p:nvGrpSpPr>
        <p:grpSpPr>
          <a:xfrm>
            <a:off x="4797033" y="2560320"/>
            <a:ext cx="86360" cy="1991360"/>
            <a:chOff x="0" y="0"/>
            <a:chExt cx="86360" cy="1991360"/>
          </a:xfrm>
        </p:grpSpPr>
        <p:sp>
          <p:nvSpPr>
            <p:cNvPr id="63" name="!!parcel-0-8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!!parcel-1-8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!!parcel-2-8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!!parcel-3-8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!!parcel-4-8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!!parcel-5-8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9" name="!!air-column-9"/>
          <p:cNvGrpSpPr/>
          <p:nvPr/>
        </p:nvGrpSpPr>
        <p:grpSpPr>
          <a:xfrm>
            <a:off x="5064366" y="2560320"/>
            <a:ext cx="86360" cy="1991360"/>
            <a:chOff x="0" y="0"/>
            <a:chExt cx="86360" cy="1991360"/>
          </a:xfrm>
        </p:grpSpPr>
        <p:sp>
          <p:nvSpPr>
            <p:cNvPr id="70" name="!!parcel-0-9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!!parcel-1-9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!!parcel-2-9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!!parcel-3-9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!!parcel-4-9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!!parcel-5-9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6" name="!!air-column-10"/>
          <p:cNvGrpSpPr/>
          <p:nvPr/>
        </p:nvGrpSpPr>
        <p:grpSpPr>
          <a:xfrm>
            <a:off x="5397613" y="2560320"/>
            <a:ext cx="86360" cy="1991360"/>
            <a:chOff x="0" y="0"/>
            <a:chExt cx="86360" cy="1991360"/>
          </a:xfrm>
        </p:grpSpPr>
        <p:sp>
          <p:nvSpPr>
            <p:cNvPr id="77" name="!!parcel-0-10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!!parcel-1-10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!!parcel-3-10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!!parcel-4-10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!!parcel-5-10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2" name="!!air-column-11"/>
          <p:cNvGrpSpPr/>
          <p:nvPr/>
        </p:nvGrpSpPr>
        <p:grpSpPr>
          <a:xfrm>
            <a:off x="5801400" y="2560320"/>
            <a:ext cx="86360" cy="1991360"/>
            <a:chOff x="0" y="0"/>
            <a:chExt cx="86360" cy="1991360"/>
          </a:xfrm>
        </p:grpSpPr>
        <p:sp>
          <p:nvSpPr>
            <p:cNvPr id="83" name="!!parcel-0-11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!!parcel-1-11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!!parcel-2-11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!!parcel-3-11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!!parcel-4-11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!!parcel-5-11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9" name="!!air-column-12"/>
          <p:cNvGrpSpPr/>
          <p:nvPr/>
        </p:nvGrpSpPr>
        <p:grpSpPr>
          <a:xfrm>
            <a:off x="6246550" y="2560320"/>
            <a:ext cx="86360" cy="1991360"/>
            <a:chOff x="0" y="0"/>
            <a:chExt cx="86360" cy="1991360"/>
          </a:xfrm>
        </p:grpSpPr>
        <p:sp>
          <p:nvSpPr>
            <p:cNvPr id="90" name="!!parcel-0-12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!!parcel-1-12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!!parcel-2-12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!!parcel-3-12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!!parcel-4-12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!!parcel-5-12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6" name="!!air-column-13"/>
          <p:cNvGrpSpPr/>
          <p:nvPr/>
        </p:nvGrpSpPr>
        <p:grpSpPr>
          <a:xfrm>
            <a:off x="6684067" y="2560320"/>
            <a:ext cx="86360" cy="1991360"/>
            <a:chOff x="0" y="0"/>
            <a:chExt cx="86360" cy="1991360"/>
          </a:xfrm>
        </p:grpSpPr>
        <p:sp>
          <p:nvSpPr>
            <p:cNvPr id="97" name="!!parcel-0-13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!!parcel-1-13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!!parcel-2-13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!!parcel-3-13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!!parcel-4-13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!!parcel-5-13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3" name="!!air-column-14"/>
          <p:cNvGrpSpPr/>
          <p:nvPr/>
        </p:nvGrpSpPr>
        <p:grpSpPr>
          <a:xfrm>
            <a:off x="7068611" y="2560320"/>
            <a:ext cx="86360" cy="1991360"/>
            <a:chOff x="0" y="0"/>
            <a:chExt cx="86360" cy="1991360"/>
          </a:xfrm>
        </p:grpSpPr>
        <p:sp>
          <p:nvSpPr>
            <p:cNvPr id="104" name="!!parcel-0-14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!!parcel-1-14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!!parcel-2-14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!!parcel-3-14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!!parcel-4-14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!!parcel-5-14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0" name="!!air-column-15"/>
          <p:cNvGrpSpPr/>
          <p:nvPr/>
        </p:nvGrpSpPr>
        <p:grpSpPr>
          <a:xfrm>
            <a:off x="7380227" y="2560320"/>
            <a:ext cx="86360" cy="1991360"/>
            <a:chOff x="0" y="0"/>
            <a:chExt cx="86360" cy="1991360"/>
          </a:xfrm>
        </p:grpSpPr>
        <p:sp>
          <p:nvSpPr>
            <p:cNvPr id="111" name="!!parcel-0-15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!!parcel-1-15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!!parcel-2-15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!!parcel-3-15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!!parcel-4-15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!!parcel-5-15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7" name="!!air-column-16"/>
          <p:cNvGrpSpPr/>
          <p:nvPr/>
        </p:nvGrpSpPr>
        <p:grpSpPr>
          <a:xfrm>
            <a:off x="7633906" y="2560320"/>
            <a:ext cx="86360" cy="1991360"/>
            <a:chOff x="0" y="0"/>
            <a:chExt cx="86360" cy="1991360"/>
          </a:xfrm>
        </p:grpSpPr>
        <p:sp>
          <p:nvSpPr>
            <p:cNvPr id="118" name="!!parcel-0-16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!!parcel-1-16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!!parcel-2-16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!!parcel-3-16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!!parcel-4-16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!!parcel-5-16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4" name="!!air-column-17"/>
          <p:cNvGrpSpPr/>
          <p:nvPr/>
        </p:nvGrpSpPr>
        <p:grpSpPr>
          <a:xfrm>
            <a:off x="7872401" y="2560320"/>
            <a:ext cx="86360" cy="1991360"/>
            <a:chOff x="0" y="0"/>
            <a:chExt cx="86360" cy="1991360"/>
          </a:xfrm>
        </p:grpSpPr>
        <p:sp>
          <p:nvSpPr>
            <p:cNvPr id="125" name="!!parcel-0-17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!!parcel-1-17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!!parcel-2-17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!!parcel-3-17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!!parcel-4-17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!!parcel-5-17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1" name="!!air-column-18"/>
          <p:cNvGrpSpPr/>
          <p:nvPr/>
        </p:nvGrpSpPr>
        <p:grpSpPr>
          <a:xfrm>
            <a:off x="8145742" y="2560320"/>
            <a:ext cx="86360" cy="1991360"/>
            <a:chOff x="0" y="0"/>
            <a:chExt cx="86360" cy="1991360"/>
          </a:xfrm>
        </p:grpSpPr>
        <p:sp>
          <p:nvSpPr>
            <p:cNvPr id="132" name="!!parcel-0-18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!!parcel-1-18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4" name="!!parcel-2-18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5" name="!!parcel-3-18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!!parcel-4-18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!!parcel-5-18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8" name="!!air-column-19"/>
          <p:cNvGrpSpPr/>
          <p:nvPr/>
        </p:nvGrpSpPr>
        <p:grpSpPr>
          <a:xfrm>
            <a:off x="8487261" y="2560320"/>
            <a:ext cx="86360" cy="1991360"/>
            <a:chOff x="0" y="0"/>
            <a:chExt cx="86360" cy="1991360"/>
          </a:xfrm>
        </p:grpSpPr>
        <p:sp>
          <p:nvSpPr>
            <p:cNvPr id="139" name="!!parcel-0-19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!!parcel-1-19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1" name="!!parcel-2-19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2" name="!!parcel-3-19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3" name="!!parcel-4-19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4" name="!!parcel-5-19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5" name="!!air-column-20"/>
          <p:cNvGrpSpPr/>
          <p:nvPr/>
        </p:nvGrpSpPr>
        <p:grpSpPr>
          <a:xfrm>
            <a:off x="8897620" y="2560320"/>
            <a:ext cx="86360" cy="1991360"/>
            <a:chOff x="0" y="0"/>
            <a:chExt cx="86360" cy="1991360"/>
          </a:xfrm>
        </p:grpSpPr>
        <p:sp>
          <p:nvSpPr>
            <p:cNvPr id="146" name="!!parcel-0-20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" name="!!parcel-1-20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8" name="!!parcel-2-20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9" name="!!parcel-3-20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" name="!!parcel-4-20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!!parcel-5-20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2" name="!!air-column-21"/>
          <p:cNvGrpSpPr/>
          <p:nvPr/>
        </p:nvGrpSpPr>
        <p:grpSpPr>
          <a:xfrm>
            <a:off x="9344493" y="2560320"/>
            <a:ext cx="86360" cy="1991360"/>
            <a:chOff x="0" y="0"/>
            <a:chExt cx="86360" cy="1991360"/>
          </a:xfrm>
        </p:grpSpPr>
        <p:sp>
          <p:nvSpPr>
            <p:cNvPr id="153" name="!!parcel-0-21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!!parcel-1-21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" name="!!parcel-2-21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" name="!!parcel-3-21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!!parcel-4-21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!!parcel-5-21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9" name="!!air-column-22"/>
          <p:cNvGrpSpPr/>
          <p:nvPr/>
        </p:nvGrpSpPr>
        <p:grpSpPr>
          <a:xfrm>
            <a:off x="9778057" y="2560320"/>
            <a:ext cx="86360" cy="1991360"/>
            <a:chOff x="0" y="0"/>
            <a:chExt cx="86360" cy="1991360"/>
          </a:xfrm>
        </p:grpSpPr>
        <p:sp>
          <p:nvSpPr>
            <p:cNvPr id="160" name="!!parcel-0-22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" name="!!parcel-1-22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2" name="!!parcel-2-22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" name="!!parcel-3-22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" name="!!parcel-4-22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" name="!!parcel-5-22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6" name="!!air-column-23"/>
          <p:cNvGrpSpPr/>
          <p:nvPr/>
        </p:nvGrpSpPr>
        <p:grpSpPr>
          <a:xfrm>
            <a:off x="10154868" y="2560320"/>
            <a:ext cx="86360" cy="1991360"/>
            <a:chOff x="0" y="0"/>
            <a:chExt cx="86360" cy="1991360"/>
          </a:xfrm>
        </p:grpSpPr>
        <p:sp>
          <p:nvSpPr>
            <p:cNvPr id="167" name="!!parcel-0-23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8" name="!!parcel-1-23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9" name="!!parcel-2-23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0" name="!!parcel-3-23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1" name="!!parcel-4-23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2" name="!!parcel-5-23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3" name="!!air-column-24"/>
          <p:cNvGrpSpPr/>
          <p:nvPr/>
        </p:nvGrpSpPr>
        <p:grpSpPr>
          <a:xfrm>
            <a:off x="10458675" y="2560320"/>
            <a:ext cx="86360" cy="1991360"/>
            <a:chOff x="0" y="0"/>
            <a:chExt cx="86360" cy="1991360"/>
          </a:xfrm>
        </p:grpSpPr>
        <p:sp>
          <p:nvSpPr>
            <p:cNvPr id="174" name="!!parcel-0-24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" name="!!parcel-1-24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" name="!!parcel-2-24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7" name="!!parcel-3-24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8" name="!!parcel-4-24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9" name="!!parcel-5-24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80" name="!!tagged-parcel"/>
          <p:cNvSpPr/>
          <p:nvPr/>
        </p:nvSpPr>
        <p:spPr>
          <a:xfrm>
            <a:off x="5370943" y="3295650"/>
            <a:ext cx="139700" cy="139700"/>
          </a:xfrm>
          <a:prstGeom prst="ellipse">
            <a:avLst/>
          </a:prstGeom>
          <a:solidFill>
            <a:srgbClr val="FFA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!!tagged-halo"/>
          <p:cNvSpPr/>
          <p:nvPr/>
        </p:nvSpPr>
        <p:spPr>
          <a:xfrm>
            <a:off x="5313793" y="3238500"/>
            <a:ext cx="254000" cy="254000"/>
          </a:xfrm>
          <a:prstGeom prst="ellipse">
            <a:avLst/>
          </a:prstGeom>
          <a:noFill/>
          <a:ln w="13970">
            <a:solidFill>
              <a:srgbClr val="FFA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!!clip-left"/>
          <p:cNvSpPr/>
          <p:nvPr/>
        </p:nvSpPr>
        <p:spPr>
          <a:xfrm>
            <a:off x="0" y="2254250"/>
            <a:ext cx="952500" cy="336550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!!clip-right"/>
          <p:cNvSpPr/>
          <p:nvPr/>
        </p:nvSpPr>
        <p:spPr>
          <a:xfrm>
            <a:off x="11239500" y="2254250"/>
            <a:ext cx="952500" cy="336550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!!clip-top"/>
          <p:cNvSpPr/>
          <p:nvPr/>
        </p:nvSpPr>
        <p:spPr>
          <a:xfrm>
            <a:off x="0" y="0"/>
            <a:ext cx="12192000" cy="225425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!!clip-bottom"/>
          <p:cNvSpPr/>
          <p:nvPr/>
        </p:nvSpPr>
        <p:spPr>
          <a:xfrm>
            <a:off x="0" y="5619750"/>
            <a:ext cx="12192000" cy="123825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!!brand"/>
          <p:cNvSpPr txBox="1"/>
          <p:nvPr/>
        </p:nvSpPr>
        <p:spPr>
          <a:xfrm>
            <a:off x="762000" y="412750"/>
            <a:ext cx="7620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6CE2D0"/>
                </a:solidFill>
                <a:latin typeface="Noto Sans CJK SC"/>
                <a:ea typeface="Noto Sans CJK SC"/>
                <a:cs typeface="Noto Sans CJK SC"/>
              </a:rPr>
              <a:t>SOUND / 看见声音</a:t>
            </a:r>
          </a:p>
        </p:txBody>
      </p:sp>
      <p:sp>
        <p:nvSpPr>
          <p:cNvPr id="187" name="!!compression-folio"/>
          <p:cNvSpPr txBox="1"/>
          <p:nvPr/>
        </p:nvSpPr>
        <p:spPr>
          <a:xfrm>
            <a:off x="10160000" y="412750"/>
            <a:ext cx="1270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03 / 08</a:t>
            </a:r>
          </a:p>
        </p:txBody>
      </p:sp>
      <p:sp>
        <p:nvSpPr>
          <p:cNvPr id="188" name="!!compression-title"/>
          <p:cNvSpPr txBox="1"/>
          <p:nvPr/>
        </p:nvSpPr>
        <p:spPr>
          <a:xfrm>
            <a:off x="762000" y="1079500"/>
            <a:ext cx="10668000" cy="673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72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前进的是疏密变化。</a:t>
            </a:r>
          </a:p>
        </p:txBody>
      </p:sp>
      <p:sp>
        <p:nvSpPr>
          <p:cNvPr id="189" name="!!compression-caption"/>
          <p:cNvSpPr txBox="1"/>
          <p:nvPr/>
        </p:nvSpPr>
        <p:spPr>
          <a:xfrm>
            <a:off x="1143000" y="5937250"/>
            <a:ext cx="9906000" cy="412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空气局部往复，压缩区向前传播。</a:t>
            </a:r>
          </a:p>
        </p:txBody>
      </p:sp>
      <p:sp>
        <p:nvSpPr>
          <p:cNvPr id="190" name="!!compression-scope"/>
          <p:cNvSpPr txBox="1"/>
          <p:nvPr/>
        </p:nvSpPr>
        <p:spPr>
          <a:xfrm>
            <a:off x="762000" y="6496050"/>
            <a:ext cx="90170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平均运动示意 · 位移与时间已放大 · 未画热运动</a:t>
            </a:r>
          </a:p>
        </p:txBody>
      </p:sp>
      <p:sp>
        <p:nvSpPr>
          <p:cNvPr id="191" name="!!wave-travel"/>
          <p:cNvSpPr/>
          <p:nvPr/>
        </p:nvSpPr>
        <p:spPr>
          <a:xfrm>
            <a:off x="2667000" y="5226050"/>
            <a:ext cx="6985000" cy="152400"/>
          </a:xfrm>
          <a:custGeom>
            <a:avLst/>
            <a:gdLst/>
            <a:ahLst/>
            <a:cxnLst/>
            <a:rect l="0" t="0" r="r" b="b"/>
            <a:pathLst>
              <a:path w="1100000" h="24000">
                <a:moveTo>
                  <a:pt x="0" y="12000"/>
                </a:moveTo>
                <a:lnTo>
                  <a:pt x="1100000" y="12000"/>
                </a:lnTo>
                <a:moveTo>
                  <a:pt x="1083000" y="2000"/>
                </a:moveTo>
                <a:lnTo>
                  <a:pt x="1100000" y="12000"/>
                </a:lnTo>
                <a:lnTo>
                  <a:pt x="1083000" y="22000"/>
                </a:lnTo>
              </a:path>
            </a:pathLst>
          </a:custGeom>
          <a:noFill/>
          <a:ln w="25400">
            <a:solidFill>
              <a:srgbClr val="6CE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!!wave-travel-label"/>
          <p:cNvSpPr txBox="1"/>
          <p:nvPr/>
        </p:nvSpPr>
        <p:spPr>
          <a:xfrm>
            <a:off x="2667000" y="4813300"/>
            <a:ext cx="69850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spc="0">
                <a:solidFill>
                  <a:srgbClr val="6CE2D0"/>
                </a:solidFill>
                <a:latin typeface="Noto Sans CJK SC"/>
                <a:ea typeface="Noto Sans CJK SC"/>
                <a:cs typeface="Noto Sans CJK SC"/>
              </a:rPr>
              <a:t>疏密变化与能量向前传播</a:t>
            </a:r>
          </a:p>
        </p:txBody>
      </p:sp>
      <p:sp>
        <p:nvSpPr>
          <p:cNvPr id="193" name="!!frozen-pressure"/>
          <p:cNvSpPr txBox="1"/>
          <p:nvPr/>
        </p:nvSpPr>
        <p:spPr>
          <a:xfrm>
            <a:off x="2413000" y="2095500"/>
            <a:ext cx="85725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定格观察压缩区；连续传播见对应视频。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ns0="http://schemas.microsoft.com/office/powerpoint/2010/main" spd="fast" advClick="1" ns0:dur="1600">
        <p159:morph option="byObject"/>
      </p:transition>
    </mc:Choice>
    <mc:Fallback>
      <p:transition xmlns:ns0="http://schemas.microsoft.com/office/powerpoint/2010/main" spd="fast" advClick="1" ns0:dur="16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 fill="hold" accel="10000" decel="650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 fill="hold" accel="10000" decel="65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!!air-column-0"/>
          <p:cNvGrpSpPr/>
          <p:nvPr/>
        </p:nvGrpSpPr>
        <p:grpSpPr>
          <a:xfrm>
            <a:off x="2247802" y="2560320"/>
            <a:ext cx="86360" cy="1991360"/>
            <a:chOff x="0" y="0"/>
            <a:chExt cx="86360" cy="1991360"/>
          </a:xfrm>
        </p:grpSpPr>
        <p:sp>
          <p:nvSpPr>
            <p:cNvPr id="3" name="!!parcel-0-0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!!parcel-1-0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!!parcel-2-0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!!parcel-3-0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!!parcel-4-0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!!parcel-5-0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" name="!!air-column-1"/>
          <p:cNvGrpSpPr/>
          <p:nvPr/>
        </p:nvGrpSpPr>
        <p:grpSpPr>
          <a:xfrm>
            <a:off x="2509592" y="2560320"/>
            <a:ext cx="86360" cy="1991360"/>
            <a:chOff x="0" y="0"/>
            <a:chExt cx="86360" cy="1991360"/>
          </a:xfrm>
        </p:grpSpPr>
        <p:sp>
          <p:nvSpPr>
            <p:cNvPr id="10" name="!!parcel-0-1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!!parcel-1-1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!!parcel-2-1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!!parcel-3-1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!!parcel-4-1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!!parcel-5-1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" name="!!air-column-2"/>
          <p:cNvGrpSpPr/>
          <p:nvPr/>
        </p:nvGrpSpPr>
        <p:grpSpPr>
          <a:xfrm>
            <a:off x="2747005" y="2560320"/>
            <a:ext cx="86360" cy="1991360"/>
            <a:chOff x="0" y="0"/>
            <a:chExt cx="86360" cy="1991360"/>
          </a:xfrm>
        </p:grpSpPr>
        <p:sp>
          <p:nvSpPr>
            <p:cNvPr id="17" name="!!parcel-0-2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!!parcel-1-2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!!parcel-2-2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!!parcel-3-2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!!parcel-4-2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!!parcel-5-2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3" name="!!air-column-3"/>
          <p:cNvGrpSpPr/>
          <p:nvPr/>
        </p:nvGrpSpPr>
        <p:grpSpPr>
          <a:xfrm>
            <a:off x="3010588" y="2560320"/>
            <a:ext cx="86360" cy="1991360"/>
            <a:chOff x="0" y="0"/>
            <a:chExt cx="86360" cy="1991360"/>
          </a:xfrm>
        </p:grpSpPr>
        <p:sp>
          <p:nvSpPr>
            <p:cNvPr id="24" name="!!parcel-0-3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!!parcel-1-3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!!parcel-2-3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!!parcel-3-3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!!parcel-4-3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!!parcel-5-3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0" name="!!air-column-4"/>
          <p:cNvGrpSpPr/>
          <p:nvPr/>
        </p:nvGrpSpPr>
        <p:grpSpPr>
          <a:xfrm>
            <a:off x="3338350" y="2560320"/>
            <a:ext cx="86360" cy="1991360"/>
            <a:chOff x="0" y="0"/>
            <a:chExt cx="86360" cy="1991360"/>
          </a:xfrm>
        </p:grpSpPr>
        <p:sp>
          <p:nvSpPr>
            <p:cNvPr id="31" name="!!parcel-0-4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!!parcel-1-4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!!parcel-2-4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!!parcel-3-4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!!parcel-4-4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!!parcel-5-4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7" name="!!air-column-5"/>
          <p:cNvGrpSpPr/>
          <p:nvPr/>
        </p:nvGrpSpPr>
        <p:grpSpPr>
          <a:xfrm>
            <a:off x="3737545" y="2560320"/>
            <a:ext cx="86360" cy="1991360"/>
            <a:chOff x="0" y="0"/>
            <a:chExt cx="86360" cy="1991360"/>
          </a:xfrm>
        </p:grpSpPr>
        <p:sp>
          <p:nvSpPr>
            <p:cNvPr id="38" name="!!parcel-0-5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!!parcel-1-5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!!parcel-2-5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!!parcel-3-5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!!parcel-4-5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!!parcel-5-5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4" name="!!air-column-6"/>
          <p:cNvGrpSpPr/>
          <p:nvPr/>
        </p:nvGrpSpPr>
        <p:grpSpPr>
          <a:xfrm>
            <a:off x="4181196" y="2560320"/>
            <a:ext cx="86360" cy="1991360"/>
            <a:chOff x="0" y="0"/>
            <a:chExt cx="86360" cy="1991360"/>
          </a:xfrm>
        </p:grpSpPr>
        <p:sp>
          <p:nvSpPr>
            <p:cNvPr id="45" name="!!parcel-0-6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!!parcel-1-6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!!parcel-2-6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!!parcel-3-6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!!parcel-4-6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!!parcel-5-6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1" name="!!air-column-7"/>
          <p:cNvGrpSpPr/>
          <p:nvPr/>
        </p:nvGrpSpPr>
        <p:grpSpPr>
          <a:xfrm>
            <a:off x="4621025" y="2560320"/>
            <a:ext cx="86360" cy="1991360"/>
            <a:chOff x="0" y="0"/>
            <a:chExt cx="86360" cy="1991360"/>
          </a:xfrm>
        </p:grpSpPr>
        <p:sp>
          <p:nvSpPr>
            <p:cNvPr id="52" name="!!parcel-0-7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!!parcel-1-7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!!parcel-2-7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!!parcel-3-7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!!parcel-4-7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!!parcel-5-7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8" name="!!air-column-8"/>
          <p:cNvGrpSpPr/>
          <p:nvPr/>
        </p:nvGrpSpPr>
        <p:grpSpPr>
          <a:xfrm>
            <a:off x="5010585" y="2560320"/>
            <a:ext cx="86360" cy="1991360"/>
            <a:chOff x="0" y="0"/>
            <a:chExt cx="86360" cy="1991360"/>
          </a:xfrm>
        </p:grpSpPr>
        <p:sp>
          <p:nvSpPr>
            <p:cNvPr id="59" name="!!parcel-0-8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!!parcel-1-8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!!parcel-2-8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!!parcel-3-8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!!parcel-4-8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!!parcel-5-8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5" name="!!air-column-9"/>
          <p:cNvGrpSpPr/>
          <p:nvPr/>
        </p:nvGrpSpPr>
        <p:grpSpPr>
          <a:xfrm>
            <a:off x="5327517" y="2560320"/>
            <a:ext cx="86360" cy="1991360"/>
            <a:chOff x="0" y="0"/>
            <a:chExt cx="86360" cy="1991360"/>
          </a:xfrm>
        </p:grpSpPr>
        <p:sp>
          <p:nvSpPr>
            <p:cNvPr id="66" name="!!parcel-0-9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!!parcel-1-9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!!parcel-2-9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!!parcel-3-9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!!parcel-4-9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!!parcel-5-9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2" name="!!air-column-10"/>
          <p:cNvGrpSpPr/>
          <p:nvPr/>
        </p:nvGrpSpPr>
        <p:grpSpPr>
          <a:xfrm>
            <a:off x="5584264" y="2560320"/>
            <a:ext cx="86360" cy="1991360"/>
            <a:chOff x="0" y="0"/>
            <a:chExt cx="86360" cy="1991360"/>
          </a:xfrm>
        </p:grpSpPr>
        <p:sp>
          <p:nvSpPr>
            <p:cNvPr id="73" name="!!parcel-0-10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!!parcel-1-10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!!parcel-3-10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!!parcel-4-10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!!parcel-5-10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8" name="!!air-column-11"/>
          <p:cNvGrpSpPr/>
          <p:nvPr/>
        </p:nvGrpSpPr>
        <p:grpSpPr>
          <a:xfrm>
            <a:off x="5822110" y="2560320"/>
            <a:ext cx="86360" cy="1991360"/>
            <a:chOff x="0" y="0"/>
            <a:chExt cx="86360" cy="1991360"/>
          </a:xfrm>
        </p:grpSpPr>
        <p:sp>
          <p:nvSpPr>
            <p:cNvPr id="79" name="!!parcel-0-11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!!parcel-1-11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!!parcel-2-11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!!parcel-3-11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!!parcel-4-11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!!parcel-5-11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5" name="!!air-column-12"/>
          <p:cNvGrpSpPr/>
          <p:nvPr/>
        </p:nvGrpSpPr>
        <p:grpSpPr>
          <a:xfrm>
            <a:off x="6091396" y="2560320"/>
            <a:ext cx="86360" cy="1991360"/>
            <a:chOff x="0" y="0"/>
            <a:chExt cx="86360" cy="1991360"/>
          </a:xfrm>
        </p:grpSpPr>
        <p:sp>
          <p:nvSpPr>
            <p:cNvPr id="86" name="!!parcel-0-12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!!parcel-1-12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!!parcel-2-12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!!parcel-3-12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!!parcel-4-12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!!parcel-5-12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2" name="!!air-column-13"/>
          <p:cNvGrpSpPr/>
          <p:nvPr/>
        </p:nvGrpSpPr>
        <p:grpSpPr>
          <a:xfrm>
            <a:off x="6427396" y="2560320"/>
            <a:ext cx="86360" cy="1991360"/>
            <a:chOff x="0" y="0"/>
            <a:chExt cx="86360" cy="1991360"/>
          </a:xfrm>
        </p:grpSpPr>
        <p:sp>
          <p:nvSpPr>
            <p:cNvPr id="93" name="!!parcel-0-13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!!parcel-1-13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!!parcel-2-13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!!parcel-3-13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!!parcel-4-13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!!parcel-5-13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9" name="!!air-column-14"/>
          <p:cNvGrpSpPr/>
          <p:nvPr/>
        </p:nvGrpSpPr>
        <p:grpSpPr>
          <a:xfrm>
            <a:off x="6833417" y="2560320"/>
            <a:ext cx="86360" cy="1991360"/>
            <a:chOff x="0" y="0"/>
            <a:chExt cx="86360" cy="1991360"/>
          </a:xfrm>
        </p:grpSpPr>
        <p:sp>
          <p:nvSpPr>
            <p:cNvPr id="100" name="!!parcel-0-14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!!parcel-1-14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!!parcel-2-14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!!parcel-3-14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!!parcel-4-14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!!parcel-5-14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6" name="!!air-column-15"/>
          <p:cNvGrpSpPr/>
          <p:nvPr/>
        </p:nvGrpSpPr>
        <p:grpSpPr>
          <a:xfrm>
            <a:off x="7279212" y="2560320"/>
            <a:ext cx="86360" cy="1991360"/>
            <a:chOff x="0" y="0"/>
            <a:chExt cx="86360" cy="1991360"/>
          </a:xfrm>
        </p:grpSpPr>
        <p:sp>
          <p:nvSpPr>
            <p:cNvPr id="107" name="!!parcel-0-15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!!parcel-1-15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!!parcel-2-15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!!parcel-3-15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!!parcel-4-15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!!parcel-5-15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3" name="!!air-column-16"/>
          <p:cNvGrpSpPr/>
          <p:nvPr/>
        </p:nvGrpSpPr>
        <p:grpSpPr>
          <a:xfrm>
            <a:off x="7715475" y="2560320"/>
            <a:ext cx="86360" cy="1991360"/>
            <a:chOff x="0" y="0"/>
            <a:chExt cx="86360" cy="1991360"/>
          </a:xfrm>
        </p:grpSpPr>
        <p:sp>
          <p:nvSpPr>
            <p:cNvPr id="114" name="!!parcel-0-16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!!parcel-1-16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!!parcel-2-16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!!parcel-3-16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!!parcel-4-16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!!parcel-5-16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0" name="!!air-column-17"/>
          <p:cNvGrpSpPr/>
          <p:nvPr/>
        </p:nvGrpSpPr>
        <p:grpSpPr>
          <a:xfrm>
            <a:off x="8097468" y="2560320"/>
            <a:ext cx="86360" cy="1991360"/>
            <a:chOff x="0" y="0"/>
            <a:chExt cx="86360" cy="1991360"/>
          </a:xfrm>
        </p:grpSpPr>
        <p:sp>
          <p:nvSpPr>
            <p:cNvPr id="121" name="!!parcel-0-17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!!parcel-1-17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!!parcel-2-17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!!parcel-3-17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!!parcel-4-17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!!parcel-5-17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7" name="!!air-column-18"/>
          <p:cNvGrpSpPr/>
          <p:nvPr/>
        </p:nvGrpSpPr>
        <p:grpSpPr>
          <a:xfrm>
            <a:off x="8406457" y="2560320"/>
            <a:ext cx="86360" cy="1991360"/>
            <a:chOff x="0" y="0"/>
            <a:chExt cx="86360" cy="1991360"/>
          </a:xfrm>
        </p:grpSpPr>
        <p:sp>
          <p:nvSpPr>
            <p:cNvPr id="128" name="!!parcel-0-18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!!parcel-1-18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!!parcel-2-18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!!parcel-3-18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!!parcel-4-18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!!parcel-5-18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4" name="!!air-column-19"/>
          <p:cNvGrpSpPr/>
          <p:nvPr/>
        </p:nvGrpSpPr>
        <p:grpSpPr>
          <a:xfrm>
            <a:off x="8658693" y="2560320"/>
            <a:ext cx="86360" cy="1991360"/>
            <a:chOff x="0" y="0"/>
            <a:chExt cx="86360" cy="1991360"/>
          </a:xfrm>
        </p:grpSpPr>
        <p:sp>
          <p:nvSpPr>
            <p:cNvPr id="135" name="!!parcel-0-19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!!parcel-1-19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!!parcel-2-19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8" name="!!parcel-3-19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!!parcel-4-19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!!parcel-5-19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1" name="!!air-column-20"/>
          <p:cNvGrpSpPr/>
          <p:nvPr/>
        </p:nvGrpSpPr>
        <p:grpSpPr>
          <a:xfrm>
            <a:off x="8897620" y="2560320"/>
            <a:ext cx="86360" cy="1991360"/>
            <a:chOff x="0" y="0"/>
            <a:chExt cx="86360" cy="1991360"/>
          </a:xfrm>
        </p:grpSpPr>
        <p:sp>
          <p:nvSpPr>
            <p:cNvPr id="142" name="!!parcel-0-20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3" name="!!parcel-1-20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4" name="!!parcel-2-20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5" name="!!parcel-3-20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6" name="!!parcel-4-20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" name="!!parcel-5-20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8" name="!!air-column-21"/>
          <p:cNvGrpSpPr/>
          <p:nvPr/>
        </p:nvGrpSpPr>
        <p:grpSpPr>
          <a:xfrm>
            <a:off x="9173061" y="2560320"/>
            <a:ext cx="86360" cy="1991360"/>
            <a:chOff x="0" y="0"/>
            <a:chExt cx="86360" cy="1991360"/>
          </a:xfrm>
        </p:grpSpPr>
        <p:sp>
          <p:nvSpPr>
            <p:cNvPr id="149" name="!!parcel-0-21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" name="!!parcel-1-21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!!parcel-2-21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" name="!!parcel-3-21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" name="!!parcel-4-21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!!parcel-5-21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5" name="!!air-column-22"/>
          <p:cNvGrpSpPr/>
          <p:nvPr/>
        </p:nvGrpSpPr>
        <p:grpSpPr>
          <a:xfrm>
            <a:off x="9517342" y="2560320"/>
            <a:ext cx="86360" cy="1991360"/>
            <a:chOff x="0" y="0"/>
            <a:chExt cx="86360" cy="1991360"/>
          </a:xfrm>
        </p:grpSpPr>
        <p:sp>
          <p:nvSpPr>
            <p:cNvPr id="156" name="!!parcel-0-22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!!parcel-1-22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!!parcel-2-22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" name="!!parcel-3-22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" name="!!parcel-4-22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" name="!!parcel-5-22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2" name="!!air-column-23"/>
          <p:cNvGrpSpPr/>
          <p:nvPr/>
        </p:nvGrpSpPr>
        <p:grpSpPr>
          <a:xfrm>
            <a:off x="9929801" y="2560320"/>
            <a:ext cx="86360" cy="1991360"/>
            <a:chOff x="0" y="0"/>
            <a:chExt cx="86360" cy="1991360"/>
          </a:xfrm>
        </p:grpSpPr>
        <p:sp>
          <p:nvSpPr>
            <p:cNvPr id="163" name="!!parcel-0-23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" name="!!parcel-1-23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" name="!!parcel-2-23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" name="!!parcel-3-23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" name="!!parcel-4-23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8" name="!!parcel-5-23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9" name="!!air-column-24"/>
          <p:cNvGrpSpPr/>
          <p:nvPr/>
        </p:nvGrpSpPr>
        <p:grpSpPr>
          <a:xfrm>
            <a:off x="10377106" y="2560320"/>
            <a:ext cx="86360" cy="1991360"/>
            <a:chOff x="0" y="0"/>
            <a:chExt cx="86360" cy="1991360"/>
          </a:xfrm>
        </p:grpSpPr>
        <p:sp>
          <p:nvSpPr>
            <p:cNvPr id="170" name="!!parcel-0-24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1" name="!!parcel-1-24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2" name="!!parcel-2-24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3" name="!!parcel-3-24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" name="!!parcel-4-24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" name="!!parcel-5-24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76" name="!!tagged-parcel"/>
          <p:cNvSpPr/>
          <p:nvPr/>
        </p:nvSpPr>
        <p:spPr>
          <a:xfrm>
            <a:off x="5557594" y="3295650"/>
            <a:ext cx="139700" cy="139700"/>
          </a:xfrm>
          <a:prstGeom prst="ellipse">
            <a:avLst/>
          </a:prstGeom>
          <a:solidFill>
            <a:srgbClr val="FFA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!!tagged-halo"/>
          <p:cNvSpPr/>
          <p:nvPr/>
        </p:nvSpPr>
        <p:spPr>
          <a:xfrm>
            <a:off x="5500444" y="3238500"/>
            <a:ext cx="254000" cy="254000"/>
          </a:xfrm>
          <a:prstGeom prst="ellipse">
            <a:avLst/>
          </a:prstGeom>
          <a:noFill/>
          <a:ln w="13970">
            <a:solidFill>
              <a:srgbClr val="FFA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!!clip-left"/>
          <p:cNvSpPr/>
          <p:nvPr/>
        </p:nvSpPr>
        <p:spPr>
          <a:xfrm>
            <a:off x="0" y="2254250"/>
            <a:ext cx="952500" cy="336550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!!clip-right"/>
          <p:cNvSpPr/>
          <p:nvPr/>
        </p:nvSpPr>
        <p:spPr>
          <a:xfrm>
            <a:off x="11239500" y="2254250"/>
            <a:ext cx="952500" cy="336550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!!clip-top"/>
          <p:cNvSpPr/>
          <p:nvPr/>
        </p:nvSpPr>
        <p:spPr>
          <a:xfrm>
            <a:off x="0" y="0"/>
            <a:ext cx="12192000" cy="225425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!!clip-bottom"/>
          <p:cNvSpPr/>
          <p:nvPr/>
        </p:nvSpPr>
        <p:spPr>
          <a:xfrm>
            <a:off x="0" y="5619750"/>
            <a:ext cx="12192000" cy="123825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!!brand"/>
          <p:cNvSpPr txBox="1"/>
          <p:nvPr/>
        </p:nvSpPr>
        <p:spPr>
          <a:xfrm>
            <a:off x="762000" y="412750"/>
            <a:ext cx="7620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6CE2D0"/>
                </a:solidFill>
                <a:latin typeface="Noto Sans CJK SC"/>
                <a:ea typeface="Noto Sans CJK SC"/>
                <a:cs typeface="Noto Sans CJK SC"/>
              </a:rPr>
              <a:t>SOUND / 看见声音</a:t>
            </a:r>
          </a:p>
        </p:txBody>
      </p:sp>
      <p:sp>
        <p:nvSpPr>
          <p:cNvPr id="183" name="!!parallel-folio"/>
          <p:cNvSpPr txBox="1"/>
          <p:nvPr/>
        </p:nvSpPr>
        <p:spPr>
          <a:xfrm>
            <a:off x="10160000" y="412750"/>
            <a:ext cx="1270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04 / 08</a:t>
            </a:r>
          </a:p>
        </p:txBody>
      </p:sp>
      <p:sp>
        <p:nvSpPr>
          <p:cNvPr id="184" name="!!parallel-title"/>
          <p:cNvSpPr txBox="1"/>
          <p:nvPr/>
        </p:nvSpPr>
        <p:spPr>
          <a:xfrm>
            <a:off x="762000" y="1079500"/>
            <a:ext cx="10668000" cy="673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72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两个方向平行，就是纵波。</a:t>
            </a:r>
          </a:p>
        </p:txBody>
      </p:sp>
      <p:sp>
        <p:nvSpPr>
          <p:cNvPr id="185" name="!!parallel-caption"/>
          <p:cNvSpPr txBox="1"/>
          <p:nvPr/>
        </p:nvSpPr>
        <p:spPr>
          <a:xfrm>
            <a:off x="1143000" y="5937250"/>
            <a:ext cx="9906000" cy="412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空气中的声波是纵波。</a:t>
            </a:r>
          </a:p>
        </p:txBody>
      </p:sp>
      <p:sp>
        <p:nvSpPr>
          <p:cNvPr id="186" name="!!parallel-scope"/>
          <p:cNvSpPr txBox="1"/>
          <p:nvPr/>
        </p:nvSpPr>
        <p:spPr>
          <a:xfrm>
            <a:off x="762000" y="6496050"/>
            <a:ext cx="90170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平均运动示意 · 位移与时间已放大 · 未画热运动</a:t>
            </a:r>
          </a:p>
        </p:txBody>
      </p:sp>
      <p:sp>
        <p:nvSpPr>
          <p:cNvPr id="187" name="!!local-direction"/>
          <p:cNvSpPr/>
          <p:nvPr/>
        </p:nvSpPr>
        <p:spPr>
          <a:xfrm>
            <a:off x="4445000" y="2908300"/>
            <a:ext cx="2667000" cy="152400"/>
          </a:xfrm>
          <a:custGeom>
            <a:avLst/>
            <a:gdLst/>
            <a:ahLst/>
            <a:cxnLst/>
            <a:rect l="0" t="0" r="r" b="b"/>
            <a:pathLst>
              <a:path w="420000" h="24000">
                <a:moveTo>
                  <a:pt x="0" y="12000"/>
                </a:moveTo>
                <a:lnTo>
                  <a:pt x="420000" y="12000"/>
                </a:lnTo>
                <a:moveTo>
                  <a:pt x="403000" y="2000"/>
                </a:moveTo>
                <a:lnTo>
                  <a:pt x="420000" y="12000"/>
                </a:lnTo>
                <a:lnTo>
                  <a:pt x="403000" y="22000"/>
                </a:lnTo>
                <a:moveTo>
                  <a:pt x="17000" y="2000"/>
                </a:moveTo>
                <a:lnTo>
                  <a:pt x="0" y="12000"/>
                </a:lnTo>
                <a:lnTo>
                  <a:pt x="17000" y="22000"/>
                </a:lnTo>
              </a:path>
            </a:pathLst>
          </a:custGeom>
          <a:noFill/>
          <a:ln w="25400">
            <a:solidFill>
              <a:srgbClr val="FFA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!!local-direction-label"/>
          <p:cNvSpPr txBox="1"/>
          <p:nvPr/>
        </p:nvSpPr>
        <p:spPr>
          <a:xfrm>
            <a:off x="4445000" y="2495550"/>
            <a:ext cx="26670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spc="0">
                <a:solidFill>
                  <a:srgbClr val="FFAC4B"/>
                </a:solidFill>
                <a:latin typeface="Noto Sans CJK SC"/>
                <a:ea typeface="Noto Sans CJK SC"/>
                <a:cs typeface="Noto Sans CJK SC"/>
              </a:rPr>
              <a:t>空气的平均振动</a:t>
            </a:r>
          </a:p>
        </p:txBody>
      </p:sp>
      <p:sp>
        <p:nvSpPr>
          <p:cNvPr id="189" name="!!wave-direction"/>
          <p:cNvSpPr/>
          <p:nvPr/>
        </p:nvSpPr>
        <p:spPr>
          <a:xfrm>
            <a:off x="2794000" y="4749800"/>
            <a:ext cx="6731000" cy="152400"/>
          </a:xfrm>
          <a:custGeom>
            <a:avLst/>
            <a:gdLst/>
            <a:ahLst/>
            <a:cxnLst/>
            <a:rect l="0" t="0" r="r" b="b"/>
            <a:pathLst>
              <a:path w="1060000" h="24000">
                <a:moveTo>
                  <a:pt x="0" y="12000"/>
                </a:moveTo>
                <a:lnTo>
                  <a:pt x="1060000" y="12000"/>
                </a:lnTo>
                <a:moveTo>
                  <a:pt x="1043000" y="2000"/>
                </a:moveTo>
                <a:lnTo>
                  <a:pt x="1060000" y="12000"/>
                </a:lnTo>
                <a:lnTo>
                  <a:pt x="1043000" y="22000"/>
                </a:lnTo>
              </a:path>
            </a:pathLst>
          </a:custGeom>
          <a:noFill/>
          <a:ln w="25400">
            <a:solidFill>
              <a:srgbClr val="6CE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!!wave-direction-label"/>
          <p:cNvSpPr txBox="1"/>
          <p:nvPr/>
        </p:nvSpPr>
        <p:spPr>
          <a:xfrm>
            <a:off x="2794000" y="4337050"/>
            <a:ext cx="67310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spc="0">
                <a:solidFill>
                  <a:srgbClr val="6CE2D0"/>
                </a:solidFill>
                <a:latin typeface="Noto Sans CJK SC"/>
                <a:ea typeface="Noto Sans CJK SC"/>
                <a:cs typeface="Noto Sans CJK SC"/>
              </a:rPr>
              <a:t>声波的传播方向</a:t>
            </a:r>
          </a:p>
        </p:txBody>
      </p:sp>
      <p:sp>
        <p:nvSpPr>
          <p:cNvPr id="191" name="!!parallel-label"/>
          <p:cNvSpPr txBox="1"/>
          <p:nvPr/>
        </p:nvSpPr>
        <p:spPr>
          <a:xfrm>
            <a:off x="9080500" y="3111500"/>
            <a:ext cx="1905000" cy="889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309"/>
              </a:lnSpc>
              <a:spcBef>
                <a:spcPts val="0"/>
              </a:spcBef>
              <a:spcAft>
                <a:spcPts val="0"/>
              </a:spcAft>
            </a:pPr>
            <a:r>
              <a:rPr sz="4500" b="1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平行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ns0="http://schemas.microsoft.com/office/powerpoint/2010/main" spd="fast" advClick="1" ns0:dur="1600">
        <p159:morph option="byObject"/>
      </p:transition>
    </mc:Choice>
    <mc:Fallback>
      <p:transition xmlns:ns0="http://schemas.microsoft.com/office/powerpoint/2010/main" spd="fast" advClick="1" ns0:dur="1600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clip-left"/>
          <p:cNvSpPr/>
          <p:nvPr/>
        </p:nvSpPr>
        <p:spPr>
          <a:xfrm>
            <a:off x="0" y="2254250"/>
            <a:ext cx="952500" cy="336550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clip-right"/>
          <p:cNvSpPr/>
          <p:nvPr/>
        </p:nvSpPr>
        <p:spPr>
          <a:xfrm>
            <a:off x="11239500" y="2254250"/>
            <a:ext cx="952500" cy="336550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clip-top"/>
          <p:cNvSpPr/>
          <p:nvPr/>
        </p:nvSpPr>
        <p:spPr>
          <a:xfrm>
            <a:off x="0" y="0"/>
            <a:ext cx="12192000" cy="225425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clip-bottom"/>
          <p:cNvSpPr/>
          <p:nvPr/>
        </p:nvSpPr>
        <p:spPr>
          <a:xfrm>
            <a:off x="0" y="5619750"/>
            <a:ext cx="12192000" cy="123825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brand"/>
          <p:cNvSpPr txBox="1"/>
          <p:nvPr/>
        </p:nvSpPr>
        <p:spPr>
          <a:xfrm>
            <a:off x="762000" y="412750"/>
            <a:ext cx="7620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6CE2D0"/>
                </a:solidFill>
                <a:latin typeface="Noto Sans CJK SC"/>
                <a:ea typeface="Noto Sans CJK SC"/>
                <a:cs typeface="Noto Sans CJK SC"/>
              </a:rPr>
              <a:t>SOUND / 看见声音</a:t>
            </a:r>
          </a:p>
        </p:txBody>
      </p:sp>
      <p:sp>
        <p:nvSpPr>
          <p:cNvPr id="7" name="!!frequency-folio"/>
          <p:cNvSpPr txBox="1"/>
          <p:nvPr/>
        </p:nvSpPr>
        <p:spPr>
          <a:xfrm>
            <a:off x="10160000" y="412750"/>
            <a:ext cx="1270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05 / 08</a:t>
            </a:r>
          </a:p>
        </p:txBody>
      </p:sp>
      <p:sp>
        <p:nvSpPr>
          <p:cNvPr id="8" name="!!frequency-title"/>
          <p:cNvSpPr txBox="1"/>
          <p:nvPr/>
        </p:nvSpPr>
        <p:spPr>
          <a:xfrm>
            <a:off x="762000" y="1079500"/>
            <a:ext cx="10668000" cy="673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72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频率翻倍，波长减半。</a:t>
            </a:r>
          </a:p>
        </p:txBody>
      </p:sp>
      <p:sp>
        <p:nvSpPr>
          <p:cNvPr id="9" name="!!frequency-caption"/>
          <p:cNvSpPr txBox="1"/>
          <p:nvPr/>
        </p:nvSpPr>
        <p:spPr>
          <a:xfrm>
            <a:off x="1143000" y="5937250"/>
            <a:ext cx="9906000" cy="412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同种空气、同一温度，波速近似不变。</a:t>
            </a:r>
          </a:p>
        </p:txBody>
      </p:sp>
      <p:sp>
        <p:nvSpPr>
          <p:cNvPr id="10" name="!!frequency-scope"/>
          <p:cNvSpPr txBox="1"/>
          <p:nvPr/>
        </p:nvSpPr>
        <p:spPr>
          <a:xfrm>
            <a:off x="762000" y="6496050"/>
            <a:ext cx="90170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平均运动示意 · 位移与时间已放大 · 未画热运动</a:t>
            </a:r>
          </a:p>
        </p:txBody>
      </p:sp>
      <p:sp>
        <p:nvSpPr>
          <p:cNvPr id="11" name="!!freq-220"/>
          <p:cNvSpPr txBox="1"/>
          <p:nvPr/>
        </p:nvSpPr>
        <p:spPr>
          <a:xfrm>
            <a:off x="762000" y="2584450"/>
            <a:ext cx="15240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22"/>
              </a:lnSpc>
              <a:spcBef>
                <a:spcPts val="0"/>
              </a:spcBef>
              <a:spcAft>
                <a:spcPts val="0"/>
              </a:spcAft>
            </a:pPr>
            <a:r>
              <a:rPr sz="2900" b="0" spc="0">
                <a:solidFill>
                  <a:srgbClr val="6CE2D0"/>
                </a:solidFill>
                <a:latin typeface="Noto Sans CJK SC"/>
                <a:ea typeface="Noto Sans CJK SC"/>
                <a:cs typeface="Noto Sans CJK SC"/>
              </a:rPr>
              <a:t>220 Hz</a:t>
            </a:r>
          </a:p>
        </p:txBody>
      </p:sp>
      <p:sp>
        <p:nvSpPr>
          <p:cNvPr id="12" name="!!freq-220-0-0"/>
          <p:cNvSpPr/>
          <p:nvPr/>
        </p:nvSpPr>
        <p:spPr>
          <a:xfrm>
            <a:off x="2336036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freq-220-0-1"/>
          <p:cNvSpPr/>
          <p:nvPr/>
        </p:nvSpPr>
        <p:spPr>
          <a:xfrm>
            <a:off x="2633024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freq-220-0-2"/>
          <p:cNvSpPr/>
          <p:nvPr/>
        </p:nvSpPr>
        <p:spPr>
          <a:xfrm>
            <a:off x="2897821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freq-220-0-3"/>
          <p:cNvSpPr/>
          <p:nvPr/>
        </p:nvSpPr>
        <p:spPr>
          <a:xfrm>
            <a:off x="3144925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freq-220-0-4"/>
          <p:cNvSpPr/>
          <p:nvPr/>
        </p:nvSpPr>
        <p:spPr>
          <a:xfrm>
            <a:off x="3393177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freq-220-0-5"/>
          <p:cNvSpPr/>
          <p:nvPr/>
        </p:nvSpPr>
        <p:spPr>
          <a:xfrm>
            <a:off x="3661136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!!freq-220-0-6"/>
          <p:cNvSpPr/>
          <p:nvPr/>
        </p:nvSpPr>
        <p:spPr>
          <a:xfrm>
            <a:off x="3962522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!!freq-220-0-7"/>
          <p:cNvSpPr/>
          <p:nvPr/>
        </p:nvSpPr>
        <p:spPr>
          <a:xfrm>
            <a:off x="4302852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!!freq-220-0-8"/>
          <p:cNvSpPr/>
          <p:nvPr/>
        </p:nvSpPr>
        <p:spPr>
          <a:xfrm>
            <a:off x="4678079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!!freq-220-0-9"/>
          <p:cNvSpPr/>
          <p:nvPr/>
        </p:nvSpPr>
        <p:spPr>
          <a:xfrm>
            <a:off x="5075590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!!freq-220-0-10"/>
          <p:cNvSpPr/>
          <p:nvPr/>
        </p:nvSpPr>
        <p:spPr>
          <a:xfrm>
            <a:off x="5477301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!!freq-220-0-11"/>
          <p:cNvSpPr/>
          <p:nvPr/>
        </p:nvSpPr>
        <p:spPr>
          <a:xfrm>
            <a:off x="5864098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!!freq-220-0-12"/>
          <p:cNvSpPr/>
          <p:nvPr/>
        </p:nvSpPr>
        <p:spPr>
          <a:xfrm>
            <a:off x="6220528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!!freq-220-0-13"/>
          <p:cNvSpPr/>
          <p:nvPr/>
        </p:nvSpPr>
        <p:spPr>
          <a:xfrm>
            <a:off x="6538591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!!freq-220-0-14"/>
          <p:cNvSpPr/>
          <p:nvPr/>
        </p:nvSpPr>
        <p:spPr>
          <a:xfrm>
            <a:off x="6819710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!!freq-220-0-15"/>
          <p:cNvSpPr/>
          <p:nvPr/>
        </p:nvSpPr>
        <p:spPr>
          <a:xfrm>
            <a:off x="7074373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!!freq-220-0-16"/>
          <p:cNvSpPr/>
          <p:nvPr/>
        </p:nvSpPr>
        <p:spPr>
          <a:xfrm>
            <a:off x="7319567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!!freq-220-0-17"/>
          <p:cNvSpPr/>
          <p:nvPr/>
        </p:nvSpPr>
        <p:spPr>
          <a:xfrm>
            <a:off x="7574601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!!freq-220-0-18"/>
          <p:cNvSpPr/>
          <p:nvPr/>
        </p:nvSpPr>
        <p:spPr>
          <a:xfrm>
            <a:off x="7856370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!!freq-220-0-19"/>
          <p:cNvSpPr/>
          <p:nvPr/>
        </p:nvSpPr>
        <p:spPr>
          <a:xfrm>
            <a:off x="8175204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!!freq-220-0-20"/>
          <p:cNvSpPr/>
          <p:nvPr/>
        </p:nvSpPr>
        <p:spPr>
          <a:xfrm>
            <a:off x="8532335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!!freq-220-0-21"/>
          <p:cNvSpPr/>
          <p:nvPr/>
        </p:nvSpPr>
        <p:spPr>
          <a:xfrm>
            <a:off x="8919592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!!freq-220-0-22"/>
          <p:cNvSpPr/>
          <p:nvPr/>
        </p:nvSpPr>
        <p:spPr>
          <a:xfrm>
            <a:off x="9321409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!!freq-220-0-23"/>
          <p:cNvSpPr/>
          <p:nvPr/>
        </p:nvSpPr>
        <p:spPr>
          <a:xfrm>
            <a:off x="9718646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freq-220-0-24"/>
          <p:cNvSpPr/>
          <p:nvPr/>
        </p:nvSpPr>
        <p:spPr>
          <a:xfrm>
            <a:off x="10093285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freq-220-0-25"/>
          <p:cNvSpPr/>
          <p:nvPr/>
        </p:nvSpPr>
        <p:spPr>
          <a:xfrm>
            <a:off x="10432859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!!freq-220-1-0"/>
          <p:cNvSpPr/>
          <p:nvPr/>
        </p:nvSpPr>
        <p:spPr>
          <a:xfrm>
            <a:off x="2336036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!!freq-220-1-1"/>
          <p:cNvSpPr/>
          <p:nvPr/>
        </p:nvSpPr>
        <p:spPr>
          <a:xfrm>
            <a:off x="2633024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!!freq-220-1-2"/>
          <p:cNvSpPr/>
          <p:nvPr/>
        </p:nvSpPr>
        <p:spPr>
          <a:xfrm>
            <a:off x="2897821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!!freq-220-1-3"/>
          <p:cNvSpPr/>
          <p:nvPr/>
        </p:nvSpPr>
        <p:spPr>
          <a:xfrm>
            <a:off x="3144925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!!freq-220-1-4"/>
          <p:cNvSpPr/>
          <p:nvPr/>
        </p:nvSpPr>
        <p:spPr>
          <a:xfrm>
            <a:off x="3393177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!!freq-220-1-5"/>
          <p:cNvSpPr/>
          <p:nvPr/>
        </p:nvSpPr>
        <p:spPr>
          <a:xfrm>
            <a:off x="3661136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!!freq-220-1-6"/>
          <p:cNvSpPr/>
          <p:nvPr/>
        </p:nvSpPr>
        <p:spPr>
          <a:xfrm>
            <a:off x="3962522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!!freq-220-1-7"/>
          <p:cNvSpPr/>
          <p:nvPr/>
        </p:nvSpPr>
        <p:spPr>
          <a:xfrm>
            <a:off x="4302852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!!freq-220-1-8"/>
          <p:cNvSpPr/>
          <p:nvPr/>
        </p:nvSpPr>
        <p:spPr>
          <a:xfrm>
            <a:off x="4678079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!!freq-220-1-9"/>
          <p:cNvSpPr/>
          <p:nvPr/>
        </p:nvSpPr>
        <p:spPr>
          <a:xfrm>
            <a:off x="5075590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!!freq-220-1-10"/>
          <p:cNvSpPr/>
          <p:nvPr/>
        </p:nvSpPr>
        <p:spPr>
          <a:xfrm>
            <a:off x="5477301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!!freq-220-1-11"/>
          <p:cNvSpPr/>
          <p:nvPr/>
        </p:nvSpPr>
        <p:spPr>
          <a:xfrm>
            <a:off x="5864098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!!freq-220-1-12"/>
          <p:cNvSpPr/>
          <p:nvPr/>
        </p:nvSpPr>
        <p:spPr>
          <a:xfrm>
            <a:off x="6220528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!!freq-220-1-13"/>
          <p:cNvSpPr/>
          <p:nvPr/>
        </p:nvSpPr>
        <p:spPr>
          <a:xfrm>
            <a:off x="6538591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!!freq-220-1-14"/>
          <p:cNvSpPr/>
          <p:nvPr/>
        </p:nvSpPr>
        <p:spPr>
          <a:xfrm>
            <a:off x="6819710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!!freq-220-1-15"/>
          <p:cNvSpPr/>
          <p:nvPr/>
        </p:nvSpPr>
        <p:spPr>
          <a:xfrm>
            <a:off x="7074373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!!freq-220-1-16"/>
          <p:cNvSpPr/>
          <p:nvPr/>
        </p:nvSpPr>
        <p:spPr>
          <a:xfrm>
            <a:off x="7319567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!!freq-220-1-17"/>
          <p:cNvSpPr/>
          <p:nvPr/>
        </p:nvSpPr>
        <p:spPr>
          <a:xfrm>
            <a:off x="7574601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!!freq-220-1-18"/>
          <p:cNvSpPr/>
          <p:nvPr/>
        </p:nvSpPr>
        <p:spPr>
          <a:xfrm>
            <a:off x="7856370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!!freq-220-1-19"/>
          <p:cNvSpPr/>
          <p:nvPr/>
        </p:nvSpPr>
        <p:spPr>
          <a:xfrm>
            <a:off x="8175204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!!freq-220-1-20"/>
          <p:cNvSpPr/>
          <p:nvPr/>
        </p:nvSpPr>
        <p:spPr>
          <a:xfrm>
            <a:off x="8532335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!!freq-220-1-21"/>
          <p:cNvSpPr/>
          <p:nvPr/>
        </p:nvSpPr>
        <p:spPr>
          <a:xfrm>
            <a:off x="8919592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!!freq-220-1-22"/>
          <p:cNvSpPr/>
          <p:nvPr/>
        </p:nvSpPr>
        <p:spPr>
          <a:xfrm>
            <a:off x="9321409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!!freq-220-1-23"/>
          <p:cNvSpPr/>
          <p:nvPr/>
        </p:nvSpPr>
        <p:spPr>
          <a:xfrm>
            <a:off x="9718646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!!freq-220-1-24"/>
          <p:cNvSpPr/>
          <p:nvPr/>
        </p:nvSpPr>
        <p:spPr>
          <a:xfrm>
            <a:off x="10093285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!!freq-220-1-25"/>
          <p:cNvSpPr/>
          <p:nvPr/>
        </p:nvSpPr>
        <p:spPr>
          <a:xfrm>
            <a:off x="10432859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!!lambda-brace-220"/>
          <p:cNvSpPr/>
          <p:nvPr/>
        </p:nvSpPr>
        <p:spPr>
          <a:xfrm>
            <a:off x="3175000" y="3365500"/>
            <a:ext cx="4064000" cy="88900"/>
          </a:xfrm>
          <a:custGeom>
            <a:avLst/>
            <a:gdLst/>
            <a:ahLst/>
            <a:cxnLst/>
            <a:rect l="0" t="0" r="r" b="b"/>
            <a:pathLst>
              <a:path w="640000" h="14000">
                <a:moveTo>
                  <a:pt x="0" y="0"/>
                </a:moveTo>
                <a:lnTo>
                  <a:pt x="0" y="14000"/>
                </a:lnTo>
                <a:lnTo>
                  <a:pt x="640000" y="14000"/>
                </a:lnTo>
                <a:lnTo>
                  <a:pt x="640000" y="0"/>
                </a:lnTo>
              </a:path>
            </a:pathLst>
          </a:custGeom>
          <a:noFill/>
          <a:ln w="19050">
            <a:solidFill>
              <a:srgbClr val="FFA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!!lambda-220"/>
          <p:cNvSpPr txBox="1"/>
          <p:nvPr/>
        </p:nvSpPr>
        <p:spPr>
          <a:xfrm>
            <a:off x="3175000" y="3524250"/>
            <a:ext cx="4064000" cy="368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0" spc="0">
                <a:solidFill>
                  <a:srgbClr val="FFAC4B"/>
                </a:solidFill>
                <a:latin typeface="Noto Sans CJK SC"/>
                <a:ea typeface="Noto Sans CJK SC"/>
                <a:cs typeface="Noto Sans CJK SC"/>
              </a:rPr>
              <a:t>λ ≈ 1.56 m</a:t>
            </a:r>
          </a:p>
        </p:txBody>
      </p:sp>
      <p:sp>
        <p:nvSpPr>
          <p:cNvPr id="66" name="!!freq-440"/>
          <p:cNvSpPr txBox="1"/>
          <p:nvPr/>
        </p:nvSpPr>
        <p:spPr>
          <a:xfrm>
            <a:off x="762000" y="4171950"/>
            <a:ext cx="15240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22"/>
              </a:lnSpc>
              <a:spcBef>
                <a:spcPts val="0"/>
              </a:spcBef>
              <a:spcAft>
                <a:spcPts val="0"/>
              </a:spcAft>
            </a:pPr>
            <a:r>
              <a:rPr sz="2900" b="0" spc="0">
                <a:solidFill>
                  <a:srgbClr val="6CE2D0"/>
                </a:solidFill>
                <a:latin typeface="Noto Sans CJK SC"/>
                <a:ea typeface="Noto Sans CJK SC"/>
                <a:cs typeface="Noto Sans CJK SC"/>
              </a:rPr>
              <a:t>440 Hz</a:t>
            </a:r>
          </a:p>
        </p:txBody>
      </p:sp>
      <p:sp>
        <p:nvSpPr>
          <p:cNvPr id="67" name="!!freq-440-0-0"/>
          <p:cNvSpPr/>
          <p:nvPr/>
        </p:nvSpPr>
        <p:spPr>
          <a:xfrm>
            <a:off x="2209021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!!freq-440-0-1"/>
          <p:cNvSpPr/>
          <p:nvPr/>
        </p:nvSpPr>
        <p:spPr>
          <a:xfrm>
            <a:off x="2649730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!!freq-440-0-2"/>
          <p:cNvSpPr/>
          <p:nvPr/>
        </p:nvSpPr>
        <p:spPr>
          <a:xfrm>
            <a:off x="2954181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!!freq-440-0-3"/>
          <p:cNvSpPr/>
          <p:nvPr/>
        </p:nvSpPr>
        <p:spPr>
          <a:xfrm>
            <a:off x="3140254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!!freq-440-0-4"/>
          <p:cNvSpPr/>
          <p:nvPr/>
        </p:nvSpPr>
        <p:spPr>
          <a:xfrm>
            <a:off x="3334941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!!freq-440-0-5"/>
          <p:cNvSpPr/>
          <p:nvPr/>
        </p:nvSpPr>
        <p:spPr>
          <a:xfrm>
            <a:off x="3657295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!!freq-440-0-6"/>
          <p:cNvSpPr/>
          <p:nvPr/>
        </p:nvSpPr>
        <p:spPr>
          <a:xfrm>
            <a:off x="4108695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!!freq-440-0-7"/>
          <p:cNvSpPr/>
          <p:nvPr/>
        </p:nvSpPr>
        <p:spPr>
          <a:xfrm>
            <a:off x="4571575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!!freq-440-0-8"/>
          <p:cNvSpPr/>
          <p:nvPr/>
        </p:nvSpPr>
        <p:spPr>
          <a:xfrm>
            <a:off x="4917788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!!freq-440-0-9"/>
          <p:cNvSpPr/>
          <p:nvPr/>
        </p:nvSpPr>
        <p:spPr>
          <a:xfrm>
            <a:off x="5126722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!!freq-440-0-10"/>
          <p:cNvSpPr/>
          <p:nvPr/>
        </p:nvSpPr>
        <p:spPr>
          <a:xfrm>
            <a:off x="5304297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!!freq-440-0-11"/>
          <p:cNvSpPr/>
          <p:nvPr/>
        </p:nvSpPr>
        <p:spPr>
          <a:xfrm>
            <a:off x="5585338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!!freq-440-0-12"/>
          <p:cNvSpPr/>
          <p:nvPr/>
        </p:nvSpPr>
        <p:spPr>
          <a:xfrm>
            <a:off x="6009304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!!freq-440-0-13"/>
          <p:cNvSpPr/>
          <p:nvPr/>
        </p:nvSpPr>
        <p:spPr>
          <a:xfrm>
            <a:off x="6483915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!!freq-440-0-14"/>
          <p:cNvSpPr/>
          <p:nvPr/>
        </p:nvSpPr>
        <p:spPr>
          <a:xfrm>
            <a:off x="6870211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!!freq-440-0-15"/>
          <p:cNvSpPr/>
          <p:nvPr/>
        </p:nvSpPr>
        <p:spPr>
          <a:xfrm>
            <a:off x="7110634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!!freq-440-0-16"/>
          <p:cNvSpPr/>
          <p:nvPr/>
        </p:nvSpPr>
        <p:spPr>
          <a:xfrm>
            <a:off x="7282081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!!freq-440-0-17"/>
          <p:cNvSpPr/>
          <p:nvPr/>
        </p:nvSpPr>
        <p:spPr>
          <a:xfrm>
            <a:off x="7525025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!!freq-440-0-18"/>
          <p:cNvSpPr/>
          <p:nvPr/>
        </p:nvSpPr>
        <p:spPr>
          <a:xfrm>
            <a:off x="7914039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!!freq-440-0-19"/>
          <p:cNvSpPr/>
          <p:nvPr/>
        </p:nvSpPr>
        <p:spPr>
          <a:xfrm>
            <a:off x="8389060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!!freq-440-0-20"/>
          <p:cNvSpPr/>
          <p:nvPr/>
        </p:nvSpPr>
        <p:spPr>
          <a:xfrm>
            <a:off x="8810750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!!freq-440-0-21"/>
          <p:cNvSpPr/>
          <p:nvPr/>
        </p:nvSpPr>
        <p:spPr>
          <a:xfrm>
            <a:off x="9088928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!!freq-440-0-22"/>
          <p:cNvSpPr/>
          <p:nvPr/>
        </p:nvSpPr>
        <p:spPr>
          <a:xfrm>
            <a:off x="9265691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!!freq-440-0-23"/>
          <p:cNvSpPr/>
          <p:nvPr/>
        </p:nvSpPr>
        <p:spPr>
          <a:xfrm>
            <a:off x="9476612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!!freq-440-0-24"/>
          <p:cNvSpPr/>
          <p:nvPr/>
        </p:nvSpPr>
        <p:spPr>
          <a:xfrm>
            <a:off x="9825781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!!freq-440-0-25"/>
          <p:cNvSpPr/>
          <p:nvPr/>
        </p:nvSpPr>
        <p:spPr>
          <a:xfrm>
            <a:off x="10289860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!!freq-440-1-0"/>
          <p:cNvSpPr/>
          <p:nvPr/>
        </p:nvSpPr>
        <p:spPr>
          <a:xfrm>
            <a:off x="2209021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!!freq-440-1-1"/>
          <p:cNvSpPr/>
          <p:nvPr/>
        </p:nvSpPr>
        <p:spPr>
          <a:xfrm>
            <a:off x="2649730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!!freq-440-1-2"/>
          <p:cNvSpPr/>
          <p:nvPr/>
        </p:nvSpPr>
        <p:spPr>
          <a:xfrm>
            <a:off x="2954181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!!freq-440-1-3"/>
          <p:cNvSpPr/>
          <p:nvPr/>
        </p:nvSpPr>
        <p:spPr>
          <a:xfrm>
            <a:off x="3140254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!!freq-440-1-4"/>
          <p:cNvSpPr/>
          <p:nvPr/>
        </p:nvSpPr>
        <p:spPr>
          <a:xfrm>
            <a:off x="3334941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!!freq-440-1-5"/>
          <p:cNvSpPr/>
          <p:nvPr/>
        </p:nvSpPr>
        <p:spPr>
          <a:xfrm>
            <a:off x="3657295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!!freq-440-1-6"/>
          <p:cNvSpPr/>
          <p:nvPr/>
        </p:nvSpPr>
        <p:spPr>
          <a:xfrm>
            <a:off x="4108695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!!freq-440-1-7"/>
          <p:cNvSpPr/>
          <p:nvPr/>
        </p:nvSpPr>
        <p:spPr>
          <a:xfrm>
            <a:off x="4571575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!!freq-440-1-8"/>
          <p:cNvSpPr/>
          <p:nvPr/>
        </p:nvSpPr>
        <p:spPr>
          <a:xfrm>
            <a:off x="4917788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!!freq-440-1-9"/>
          <p:cNvSpPr/>
          <p:nvPr/>
        </p:nvSpPr>
        <p:spPr>
          <a:xfrm>
            <a:off x="5126722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!!freq-440-1-10"/>
          <p:cNvSpPr/>
          <p:nvPr/>
        </p:nvSpPr>
        <p:spPr>
          <a:xfrm>
            <a:off x="5304297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!!freq-440-1-11"/>
          <p:cNvSpPr/>
          <p:nvPr/>
        </p:nvSpPr>
        <p:spPr>
          <a:xfrm>
            <a:off x="5585338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!!freq-440-1-12"/>
          <p:cNvSpPr/>
          <p:nvPr/>
        </p:nvSpPr>
        <p:spPr>
          <a:xfrm>
            <a:off x="6009304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!!freq-440-1-13"/>
          <p:cNvSpPr/>
          <p:nvPr/>
        </p:nvSpPr>
        <p:spPr>
          <a:xfrm>
            <a:off x="6483915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!!freq-440-1-14"/>
          <p:cNvSpPr/>
          <p:nvPr/>
        </p:nvSpPr>
        <p:spPr>
          <a:xfrm>
            <a:off x="6870211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!!freq-440-1-15"/>
          <p:cNvSpPr/>
          <p:nvPr/>
        </p:nvSpPr>
        <p:spPr>
          <a:xfrm>
            <a:off x="7110634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!!freq-440-1-16"/>
          <p:cNvSpPr/>
          <p:nvPr/>
        </p:nvSpPr>
        <p:spPr>
          <a:xfrm>
            <a:off x="7282081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!!freq-440-1-17"/>
          <p:cNvSpPr/>
          <p:nvPr/>
        </p:nvSpPr>
        <p:spPr>
          <a:xfrm>
            <a:off x="7525025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!!freq-440-1-18"/>
          <p:cNvSpPr/>
          <p:nvPr/>
        </p:nvSpPr>
        <p:spPr>
          <a:xfrm>
            <a:off x="7914039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!!freq-440-1-19"/>
          <p:cNvSpPr/>
          <p:nvPr/>
        </p:nvSpPr>
        <p:spPr>
          <a:xfrm>
            <a:off x="8389060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!!freq-440-1-20"/>
          <p:cNvSpPr/>
          <p:nvPr/>
        </p:nvSpPr>
        <p:spPr>
          <a:xfrm>
            <a:off x="8810750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!!freq-440-1-21"/>
          <p:cNvSpPr/>
          <p:nvPr/>
        </p:nvSpPr>
        <p:spPr>
          <a:xfrm>
            <a:off x="9088928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!!freq-440-1-22"/>
          <p:cNvSpPr/>
          <p:nvPr/>
        </p:nvSpPr>
        <p:spPr>
          <a:xfrm>
            <a:off x="9265691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!!freq-440-1-23"/>
          <p:cNvSpPr/>
          <p:nvPr/>
        </p:nvSpPr>
        <p:spPr>
          <a:xfrm>
            <a:off x="9476612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!!freq-440-1-24"/>
          <p:cNvSpPr/>
          <p:nvPr/>
        </p:nvSpPr>
        <p:spPr>
          <a:xfrm>
            <a:off x="9825781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!!freq-440-1-25"/>
          <p:cNvSpPr/>
          <p:nvPr/>
        </p:nvSpPr>
        <p:spPr>
          <a:xfrm>
            <a:off x="10289860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!!lambda-brace-440"/>
          <p:cNvSpPr/>
          <p:nvPr/>
        </p:nvSpPr>
        <p:spPr>
          <a:xfrm>
            <a:off x="3175000" y="4953000"/>
            <a:ext cx="2032000" cy="88900"/>
          </a:xfrm>
          <a:custGeom>
            <a:avLst/>
            <a:gdLst/>
            <a:ahLst/>
            <a:cxnLst/>
            <a:rect l="0" t="0" r="r" b="b"/>
            <a:pathLst>
              <a:path w="320000" h="14000">
                <a:moveTo>
                  <a:pt x="0" y="0"/>
                </a:moveTo>
                <a:lnTo>
                  <a:pt x="0" y="14000"/>
                </a:lnTo>
                <a:lnTo>
                  <a:pt x="320000" y="14000"/>
                </a:lnTo>
                <a:lnTo>
                  <a:pt x="320000" y="0"/>
                </a:lnTo>
              </a:path>
            </a:pathLst>
          </a:custGeom>
          <a:noFill/>
          <a:ln w="19050">
            <a:solidFill>
              <a:srgbClr val="FFA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!!lambda-440"/>
          <p:cNvSpPr txBox="1"/>
          <p:nvPr/>
        </p:nvSpPr>
        <p:spPr>
          <a:xfrm>
            <a:off x="3175000" y="5111750"/>
            <a:ext cx="2032000" cy="368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0" spc="0">
                <a:solidFill>
                  <a:srgbClr val="FFAC4B"/>
                </a:solidFill>
                <a:latin typeface="Noto Sans CJK SC"/>
                <a:ea typeface="Noto Sans CJK SC"/>
                <a:cs typeface="Noto Sans CJK SC"/>
              </a:rPr>
              <a:t>λ ≈ 0.78 m</a:t>
            </a:r>
          </a:p>
        </p:txBody>
      </p:sp>
      <p:sp>
        <p:nvSpPr>
          <p:cNvPr id="121" name="!!frequency-frozen"/>
          <p:cNvSpPr txBox="1"/>
          <p:nvPr/>
        </p:nvSpPr>
        <p:spPr>
          <a:xfrm>
            <a:off x="8890000" y="2159000"/>
            <a:ext cx="23495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FFAC4B"/>
                </a:solidFill>
                <a:latin typeface="Noto Sans CJK SC"/>
                <a:ea typeface="Noto Sans CJK SC"/>
                <a:cs typeface="Noto Sans CJK SC"/>
              </a:rPr>
              <a:t>定格测量波长</a:t>
            </a:r>
          </a:p>
        </p:txBody>
      </p:sp>
    </p:spTree>
  </p:cSld>
  <p:clrMapOvr>
    <a:masterClrMapping/>
  </p:clrMapOvr>
  <p:transition xmlns:ns0="http://schemas.microsoft.com/office/powerpoint/2010/main" spd="fast" advClick="1" ns0:dur="450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clip-left"/>
          <p:cNvSpPr/>
          <p:nvPr/>
        </p:nvSpPr>
        <p:spPr>
          <a:xfrm>
            <a:off x="0" y="2254250"/>
            <a:ext cx="952500" cy="336550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clip-right"/>
          <p:cNvSpPr/>
          <p:nvPr/>
        </p:nvSpPr>
        <p:spPr>
          <a:xfrm>
            <a:off x="11239500" y="2254250"/>
            <a:ext cx="952500" cy="336550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clip-top"/>
          <p:cNvSpPr/>
          <p:nvPr/>
        </p:nvSpPr>
        <p:spPr>
          <a:xfrm>
            <a:off x="0" y="0"/>
            <a:ext cx="12192000" cy="225425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clip-bottom"/>
          <p:cNvSpPr/>
          <p:nvPr/>
        </p:nvSpPr>
        <p:spPr>
          <a:xfrm>
            <a:off x="0" y="5619750"/>
            <a:ext cx="12192000" cy="123825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brand"/>
          <p:cNvSpPr txBox="1"/>
          <p:nvPr/>
        </p:nvSpPr>
        <p:spPr>
          <a:xfrm>
            <a:off x="762000" y="412750"/>
            <a:ext cx="7620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6CE2D0"/>
                </a:solidFill>
                <a:latin typeface="Noto Sans CJK SC"/>
                <a:ea typeface="Noto Sans CJK SC"/>
                <a:cs typeface="Noto Sans CJK SC"/>
              </a:rPr>
              <a:t>SOUND / 看见声音</a:t>
            </a:r>
          </a:p>
        </p:txBody>
      </p:sp>
      <p:sp>
        <p:nvSpPr>
          <p:cNvPr id="7" name="!!wavelength-folio"/>
          <p:cNvSpPr txBox="1"/>
          <p:nvPr/>
        </p:nvSpPr>
        <p:spPr>
          <a:xfrm>
            <a:off x="10160000" y="412750"/>
            <a:ext cx="1270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06 / 08</a:t>
            </a:r>
          </a:p>
        </p:txBody>
      </p:sp>
      <p:sp>
        <p:nvSpPr>
          <p:cNvPr id="8" name="!!wavelength-title"/>
          <p:cNvSpPr txBox="1"/>
          <p:nvPr/>
        </p:nvSpPr>
        <p:spPr>
          <a:xfrm>
            <a:off x="762000" y="1079500"/>
            <a:ext cx="10668000" cy="673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72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440 Hz 的声音，波长是多少？</a:t>
            </a:r>
          </a:p>
        </p:txBody>
      </p:sp>
      <p:sp>
        <p:nvSpPr>
          <p:cNvPr id="9" name="!!wavelength-caption"/>
          <p:cNvSpPr txBox="1"/>
          <p:nvPr/>
        </p:nvSpPr>
        <p:spPr>
          <a:xfrm>
            <a:off x="1143000" y="5937250"/>
            <a:ext cx="9906000" cy="412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20°C 空气中，λ ≈ 0.78 米。</a:t>
            </a:r>
          </a:p>
        </p:txBody>
      </p:sp>
      <p:sp>
        <p:nvSpPr>
          <p:cNvPr id="10" name="!!wavelength-scope"/>
          <p:cNvSpPr txBox="1"/>
          <p:nvPr/>
        </p:nvSpPr>
        <p:spPr>
          <a:xfrm>
            <a:off x="762000" y="6496050"/>
            <a:ext cx="90170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平均运动示意 · 位移与时间已放大 · 未画热运动</a:t>
            </a:r>
          </a:p>
        </p:txBody>
      </p:sp>
      <p:sp>
        <p:nvSpPr>
          <p:cNvPr id="11" name="!!air-condition"/>
          <p:cNvSpPr txBox="1"/>
          <p:nvPr/>
        </p:nvSpPr>
        <p:spPr>
          <a:xfrm>
            <a:off x="825500" y="2159000"/>
            <a:ext cx="88900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sz="230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20°C 空气 · v ≈ 343 m/s</a:t>
            </a:r>
          </a:p>
        </p:txBody>
      </p:sp>
      <p:sp>
        <p:nvSpPr>
          <p:cNvPr id="12" name="!!wavelength-formula"/>
          <p:cNvSpPr txBox="1"/>
          <p:nvPr/>
        </p:nvSpPr>
        <p:spPr>
          <a:xfrm>
            <a:off x="825500" y="3048000"/>
            <a:ext cx="4445000" cy="825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955"/>
              </a:lnSpc>
              <a:spcBef>
                <a:spcPts val="0"/>
              </a:spcBef>
              <a:spcAft>
                <a:spcPts val="0"/>
              </a:spcAft>
            </a:pPr>
            <a:r>
              <a:rPr sz="4200" b="0" spc="0">
                <a:solidFill>
                  <a:srgbClr val="6CE2D0"/>
                </a:solidFill>
                <a:latin typeface="Noto Sans CJK SC"/>
                <a:ea typeface="Noto Sans CJK SC"/>
                <a:cs typeface="Noto Sans CJK SC"/>
              </a:rPr>
              <a:t>λ = v / f</a:t>
            </a:r>
          </a:p>
        </p:txBody>
      </p:sp>
      <p:sp>
        <p:nvSpPr>
          <p:cNvPr id="13" name="!!wavelength-inputs"/>
          <p:cNvSpPr txBox="1"/>
          <p:nvPr/>
        </p:nvSpPr>
        <p:spPr>
          <a:xfrm>
            <a:off x="825500" y="3873500"/>
            <a:ext cx="4445000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130"/>
              </a:lnSpc>
              <a:spcBef>
                <a:spcPts val="0"/>
              </a:spcBef>
              <a:spcAft>
                <a:spcPts val="0"/>
              </a:spcAft>
            </a:pPr>
            <a:r>
              <a:rPr sz="3500" b="0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343 / 440</a:t>
            </a:r>
          </a:p>
        </p:txBody>
      </p:sp>
      <p:sp>
        <p:nvSpPr>
          <p:cNvPr id="14" name="!!wavelength-result"/>
          <p:cNvSpPr txBox="1"/>
          <p:nvPr/>
        </p:nvSpPr>
        <p:spPr>
          <a:xfrm>
            <a:off x="5715000" y="2857500"/>
            <a:ext cx="2794000" cy="152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619"/>
              </a:lnSpc>
              <a:spcBef>
                <a:spcPts val="0"/>
              </a:spcBef>
              <a:spcAft>
                <a:spcPts val="0"/>
              </a:spcAft>
            </a:pPr>
            <a:r>
              <a:rPr sz="9000" b="1" spc="0">
                <a:solidFill>
                  <a:srgbClr val="FFAC4B"/>
                </a:solidFill>
                <a:latin typeface="Noto Sans CJK SC"/>
                <a:ea typeface="Noto Sans CJK SC"/>
                <a:cs typeface="Noto Sans CJK SC"/>
              </a:rPr>
              <a:t>0.78</a:t>
            </a:r>
          </a:p>
        </p:txBody>
      </p:sp>
      <p:sp>
        <p:nvSpPr>
          <p:cNvPr id="15" name="!!wavelength-unit"/>
          <p:cNvSpPr txBox="1"/>
          <p:nvPr/>
        </p:nvSpPr>
        <p:spPr>
          <a:xfrm>
            <a:off x="8826500" y="3365500"/>
            <a:ext cx="1143000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72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spc="0">
                <a:solidFill>
                  <a:srgbClr val="FFAC4B"/>
                </a:solidFill>
                <a:latin typeface="Noto Sans CJK SC"/>
                <a:ea typeface="Noto Sans CJK SC"/>
                <a:cs typeface="Noto Sans CJK SC"/>
              </a:rPr>
              <a:t>米</a:t>
            </a:r>
          </a:p>
        </p:txBody>
      </p:sp>
      <p:sp>
        <p:nvSpPr>
          <p:cNvPr id="16" name="!!compression-0"/>
          <p:cNvSpPr/>
          <p:nvPr/>
        </p:nvSpPr>
        <p:spPr>
          <a:xfrm>
            <a:off x="5607050" y="4445000"/>
            <a:ext cx="215900" cy="889000"/>
          </a:xfrm>
          <a:prstGeom prst="rect">
            <a:avLst/>
          </a:prstGeom>
          <a:solidFill>
            <a:srgbClr val="6CE2D0">
              <a:alpha val="1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compression-1"/>
          <p:cNvSpPr/>
          <p:nvPr/>
        </p:nvSpPr>
        <p:spPr>
          <a:xfrm>
            <a:off x="10306050" y="4445000"/>
            <a:ext cx="215900" cy="889000"/>
          </a:xfrm>
          <a:prstGeom prst="rect">
            <a:avLst/>
          </a:prstGeom>
          <a:solidFill>
            <a:srgbClr val="6CE2D0">
              <a:alpha val="1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!!one-wavelength"/>
          <p:cNvSpPr/>
          <p:nvPr/>
        </p:nvSpPr>
        <p:spPr>
          <a:xfrm>
            <a:off x="5715000" y="4876800"/>
            <a:ext cx="4699000" cy="152400"/>
          </a:xfrm>
          <a:custGeom>
            <a:avLst/>
            <a:gdLst/>
            <a:ahLst/>
            <a:cxnLst/>
            <a:rect l="0" t="0" r="r" b="b"/>
            <a:pathLst>
              <a:path w="740000" h="24000">
                <a:moveTo>
                  <a:pt x="0" y="12000"/>
                </a:moveTo>
                <a:lnTo>
                  <a:pt x="740000" y="12000"/>
                </a:lnTo>
                <a:moveTo>
                  <a:pt x="723000" y="2000"/>
                </a:moveTo>
                <a:lnTo>
                  <a:pt x="740000" y="12000"/>
                </a:lnTo>
                <a:lnTo>
                  <a:pt x="723000" y="22000"/>
                </a:lnTo>
                <a:moveTo>
                  <a:pt x="17000" y="2000"/>
                </a:moveTo>
                <a:lnTo>
                  <a:pt x="0" y="12000"/>
                </a:lnTo>
                <a:lnTo>
                  <a:pt x="17000" y="22000"/>
                </a:lnTo>
              </a:path>
            </a:pathLst>
          </a:custGeom>
          <a:noFill/>
          <a:ln w="25400">
            <a:solidFill>
              <a:srgbClr val="6CE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!!one-wavelength-label"/>
          <p:cNvSpPr txBox="1"/>
          <p:nvPr/>
        </p:nvSpPr>
        <p:spPr>
          <a:xfrm>
            <a:off x="5715000" y="4464050"/>
            <a:ext cx="46990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spc="0">
                <a:solidFill>
                  <a:srgbClr val="6CE2D0"/>
                </a:solidFill>
                <a:latin typeface="Noto Sans CJK SC"/>
                <a:ea typeface="Noto Sans CJK SC"/>
                <a:cs typeface="Noto Sans CJK SC"/>
              </a:rPr>
              <a:t>相邻压缩区之间，一个波长</a:t>
            </a:r>
          </a:p>
        </p:txBody>
      </p:sp>
    </p:spTree>
  </p:cSld>
  <p:clrMapOvr>
    <a:masterClrMapping/>
  </p:clrMapOvr>
  <p:transition xmlns:ns0="http://schemas.microsoft.com/office/powerpoint/2010/main" spd="fast" advClick="1" ns0:dur="4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 fill="hold" accel="10000" decel="65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 fill="hold" accel="10000" decel="65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50" fill="hold" accel="10000" decel="65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 fill="hold" accel="10000" decel="65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 fill="hold" accel="10000" decel="65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 fill="hold" accel="10000" decel="65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 fill="hold" accel="10000" decel="65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!!air-column-0"/>
          <p:cNvGrpSpPr/>
          <p:nvPr/>
        </p:nvGrpSpPr>
        <p:grpSpPr>
          <a:xfrm>
            <a:off x="1983838" y="2560320"/>
            <a:ext cx="86360" cy="1991360"/>
            <a:chOff x="0" y="0"/>
            <a:chExt cx="86360" cy="1991360"/>
          </a:xfrm>
        </p:grpSpPr>
        <p:sp>
          <p:nvSpPr>
            <p:cNvPr id="3" name="!!parcel-0-0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!!parcel-1-0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!!parcel-2-0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!!parcel-3-0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!!parcel-4-0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!!parcel-5-0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" name="!!air-column-1"/>
          <p:cNvGrpSpPr/>
          <p:nvPr/>
        </p:nvGrpSpPr>
        <p:grpSpPr>
          <a:xfrm>
            <a:off x="2308872" y="2560320"/>
            <a:ext cx="86360" cy="1991360"/>
            <a:chOff x="0" y="0"/>
            <a:chExt cx="86360" cy="1991360"/>
          </a:xfrm>
        </p:grpSpPr>
        <p:sp>
          <p:nvSpPr>
            <p:cNvPr id="10" name="!!parcel-0-1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!!parcel-1-1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!!parcel-2-1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!!parcel-3-1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!!parcel-4-1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!!parcel-5-1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" name="!!air-column-2"/>
          <p:cNvGrpSpPr/>
          <p:nvPr/>
        </p:nvGrpSpPr>
        <p:grpSpPr>
          <a:xfrm>
            <a:off x="2705712" y="2560320"/>
            <a:ext cx="86360" cy="1991360"/>
            <a:chOff x="0" y="0"/>
            <a:chExt cx="86360" cy="1991360"/>
          </a:xfrm>
        </p:grpSpPr>
        <p:sp>
          <p:nvSpPr>
            <p:cNvPr id="17" name="!!parcel-0-2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!!parcel-1-2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!!parcel-2-2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!!parcel-3-2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!!parcel-4-2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!!parcel-5-2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3" name="!!air-column-3"/>
          <p:cNvGrpSpPr/>
          <p:nvPr/>
        </p:nvGrpSpPr>
        <p:grpSpPr>
          <a:xfrm>
            <a:off x="3148509" y="2560320"/>
            <a:ext cx="86360" cy="1991360"/>
            <a:chOff x="0" y="0"/>
            <a:chExt cx="86360" cy="1991360"/>
          </a:xfrm>
        </p:grpSpPr>
        <p:sp>
          <p:nvSpPr>
            <p:cNvPr id="24" name="!!parcel-0-3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!!parcel-1-3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!!parcel-2-3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!!parcel-3-3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!!parcel-4-3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!!parcel-5-3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0" name="!!air-column-4"/>
          <p:cNvGrpSpPr/>
          <p:nvPr/>
        </p:nvGrpSpPr>
        <p:grpSpPr>
          <a:xfrm>
            <a:off x="3589396" y="2560320"/>
            <a:ext cx="86360" cy="1991360"/>
            <a:chOff x="0" y="0"/>
            <a:chExt cx="86360" cy="1991360"/>
          </a:xfrm>
        </p:grpSpPr>
        <p:sp>
          <p:nvSpPr>
            <p:cNvPr id="31" name="!!parcel-0-4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!!parcel-1-4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!!parcel-2-4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!!parcel-3-4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!!parcel-4-4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!!parcel-5-4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7" name="!!air-column-5"/>
          <p:cNvGrpSpPr/>
          <p:nvPr/>
        </p:nvGrpSpPr>
        <p:grpSpPr>
          <a:xfrm>
            <a:off x="3981416" y="2560320"/>
            <a:ext cx="86360" cy="1991360"/>
            <a:chOff x="0" y="0"/>
            <a:chExt cx="86360" cy="1991360"/>
          </a:xfrm>
        </p:grpSpPr>
        <p:sp>
          <p:nvSpPr>
            <p:cNvPr id="38" name="!!parcel-0-5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!!parcel-1-5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!!parcel-2-5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!!parcel-3-5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!!parcel-4-5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!!parcel-5-5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4" name="!!air-column-6"/>
          <p:cNvGrpSpPr/>
          <p:nvPr/>
        </p:nvGrpSpPr>
        <p:grpSpPr>
          <a:xfrm>
            <a:off x="4301033" y="2560320"/>
            <a:ext cx="86360" cy="1991360"/>
            <a:chOff x="0" y="0"/>
            <a:chExt cx="86360" cy="1991360"/>
          </a:xfrm>
        </p:grpSpPr>
        <p:sp>
          <p:nvSpPr>
            <p:cNvPr id="45" name="!!parcel-0-6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!!parcel-1-6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!!parcel-2-6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!!parcel-3-6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!!parcel-4-6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!!parcel-5-6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1" name="!!air-column-7"/>
          <p:cNvGrpSpPr/>
          <p:nvPr/>
        </p:nvGrpSpPr>
        <p:grpSpPr>
          <a:xfrm>
            <a:off x="4559404" y="2560320"/>
            <a:ext cx="86360" cy="1991360"/>
            <a:chOff x="0" y="0"/>
            <a:chExt cx="86360" cy="1991360"/>
          </a:xfrm>
        </p:grpSpPr>
        <p:sp>
          <p:nvSpPr>
            <p:cNvPr id="52" name="!!parcel-0-7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!!parcel-1-7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!!parcel-2-7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!!parcel-3-7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!!parcel-4-7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!!parcel-5-7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8" name="!!air-column-8"/>
          <p:cNvGrpSpPr/>
          <p:nvPr/>
        </p:nvGrpSpPr>
        <p:grpSpPr>
          <a:xfrm>
            <a:off x="4797033" y="2560320"/>
            <a:ext cx="86360" cy="1991360"/>
            <a:chOff x="0" y="0"/>
            <a:chExt cx="86360" cy="1991360"/>
          </a:xfrm>
        </p:grpSpPr>
        <p:sp>
          <p:nvSpPr>
            <p:cNvPr id="59" name="!!parcel-0-8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!!parcel-1-8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!!parcel-2-8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!!parcel-3-8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!!parcel-4-8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!!parcel-5-8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5" name="!!air-column-9"/>
          <p:cNvGrpSpPr/>
          <p:nvPr/>
        </p:nvGrpSpPr>
        <p:grpSpPr>
          <a:xfrm>
            <a:off x="5064366" y="2560320"/>
            <a:ext cx="86360" cy="1991360"/>
            <a:chOff x="0" y="0"/>
            <a:chExt cx="86360" cy="1991360"/>
          </a:xfrm>
        </p:grpSpPr>
        <p:sp>
          <p:nvSpPr>
            <p:cNvPr id="66" name="!!parcel-0-9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!!parcel-1-9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!!parcel-2-9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!!parcel-3-9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!!parcel-4-9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!!parcel-5-9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2" name="!!air-column-10"/>
          <p:cNvGrpSpPr/>
          <p:nvPr/>
        </p:nvGrpSpPr>
        <p:grpSpPr>
          <a:xfrm>
            <a:off x="5397613" y="2560320"/>
            <a:ext cx="86360" cy="1991360"/>
            <a:chOff x="0" y="0"/>
            <a:chExt cx="86360" cy="1991360"/>
          </a:xfrm>
        </p:grpSpPr>
        <p:sp>
          <p:nvSpPr>
            <p:cNvPr id="73" name="!!parcel-0-10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!!parcel-1-10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!!parcel-3-10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!!parcel-4-10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!!parcel-5-10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8" name="!!air-column-11"/>
          <p:cNvGrpSpPr/>
          <p:nvPr/>
        </p:nvGrpSpPr>
        <p:grpSpPr>
          <a:xfrm>
            <a:off x="5801400" y="2560320"/>
            <a:ext cx="86360" cy="1991360"/>
            <a:chOff x="0" y="0"/>
            <a:chExt cx="86360" cy="1991360"/>
          </a:xfrm>
        </p:grpSpPr>
        <p:sp>
          <p:nvSpPr>
            <p:cNvPr id="79" name="!!parcel-0-11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!!parcel-1-11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!!parcel-2-11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!!parcel-3-11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!!parcel-4-11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!!parcel-5-11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5" name="!!air-column-12"/>
          <p:cNvGrpSpPr/>
          <p:nvPr/>
        </p:nvGrpSpPr>
        <p:grpSpPr>
          <a:xfrm>
            <a:off x="6246550" y="2560320"/>
            <a:ext cx="86360" cy="1991360"/>
            <a:chOff x="0" y="0"/>
            <a:chExt cx="86360" cy="1991360"/>
          </a:xfrm>
        </p:grpSpPr>
        <p:sp>
          <p:nvSpPr>
            <p:cNvPr id="86" name="!!parcel-0-12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!!parcel-1-12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!!parcel-2-12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!!parcel-3-12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!!parcel-4-12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!!parcel-5-12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2" name="!!air-column-13"/>
          <p:cNvGrpSpPr/>
          <p:nvPr/>
        </p:nvGrpSpPr>
        <p:grpSpPr>
          <a:xfrm>
            <a:off x="6684067" y="2560320"/>
            <a:ext cx="86360" cy="1991360"/>
            <a:chOff x="0" y="0"/>
            <a:chExt cx="86360" cy="1991360"/>
          </a:xfrm>
        </p:grpSpPr>
        <p:sp>
          <p:nvSpPr>
            <p:cNvPr id="93" name="!!parcel-0-13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!!parcel-1-13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!!parcel-2-13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!!parcel-3-13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!!parcel-4-13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!!parcel-5-13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9" name="!!air-column-14"/>
          <p:cNvGrpSpPr/>
          <p:nvPr/>
        </p:nvGrpSpPr>
        <p:grpSpPr>
          <a:xfrm>
            <a:off x="7068611" y="2560320"/>
            <a:ext cx="86360" cy="1991360"/>
            <a:chOff x="0" y="0"/>
            <a:chExt cx="86360" cy="1991360"/>
          </a:xfrm>
        </p:grpSpPr>
        <p:sp>
          <p:nvSpPr>
            <p:cNvPr id="100" name="!!parcel-0-14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!!parcel-1-14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!!parcel-2-14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!!parcel-3-14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!!parcel-4-14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!!parcel-5-14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6" name="!!air-column-15"/>
          <p:cNvGrpSpPr/>
          <p:nvPr/>
        </p:nvGrpSpPr>
        <p:grpSpPr>
          <a:xfrm>
            <a:off x="7380227" y="2560320"/>
            <a:ext cx="86360" cy="1991360"/>
            <a:chOff x="0" y="0"/>
            <a:chExt cx="86360" cy="1991360"/>
          </a:xfrm>
        </p:grpSpPr>
        <p:sp>
          <p:nvSpPr>
            <p:cNvPr id="107" name="!!parcel-0-15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!!parcel-1-15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!!parcel-2-15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!!parcel-3-15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!!parcel-4-15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!!parcel-5-15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3" name="!!air-column-16"/>
          <p:cNvGrpSpPr/>
          <p:nvPr/>
        </p:nvGrpSpPr>
        <p:grpSpPr>
          <a:xfrm>
            <a:off x="7633906" y="2560320"/>
            <a:ext cx="86360" cy="1991360"/>
            <a:chOff x="0" y="0"/>
            <a:chExt cx="86360" cy="1991360"/>
          </a:xfrm>
        </p:grpSpPr>
        <p:sp>
          <p:nvSpPr>
            <p:cNvPr id="114" name="!!parcel-0-16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!!parcel-1-16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!!parcel-2-16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!!parcel-3-16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!!parcel-4-16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!!parcel-5-16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0" name="!!air-column-17"/>
          <p:cNvGrpSpPr/>
          <p:nvPr/>
        </p:nvGrpSpPr>
        <p:grpSpPr>
          <a:xfrm>
            <a:off x="7872401" y="2560320"/>
            <a:ext cx="86360" cy="1991360"/>
            <a:chOff x="0" y="0"/>
            <a:chExt cx="86360" cy="1991360"/>
          </a:xfrm>
        </p:grpSpPr>
        <p:sp>
          <p:nvSpPr>
            <p:cNvPr id="121" name="!!parcel-0-17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!!parcel-1-17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!!parcel-2-17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!!parcel-3-17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!!parcel-4-17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!!parcel-5-17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7" name="!!air-column-18"/>
          <p:cNvGrpSpPr/>
          <p:nvPr/>
        </p:nvGrpSpPr>
        <p:grpSpPr>
          <a:xfrm>
            <a:off x="8145742" y="2560320"/>
            <a:ext cx="86360" cy="1991360"/>
            <a:chOff x="0" y="0"/>
            <a:chExt cx="86360" cy="1991360"/>
          </a:xfrm>
        </p:grpSpPr>
        <p:sp>
          <p:nvSpPr>
            <p:cNvPr id="128" name="!!parcel-0-18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!!parcel-1-18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!!parcel-2-18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!!parcel-3-18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!!parcel-4-18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!!parcel-5-18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4" name="!!air-column-19"/>
          <p:cNvGrpSpPr/>
          <p:nvPr/>
        </p:nvGrpSpPr>
        <p:grpSpPr>
          <a:xfrm>
            <a:off x="8487261" y="2560320"/>
            <a:ext cx="86360" cy="1991360"/>
            <a:chOff x="0" y="0"/>
            <a:chExt cx="86360" cy="1991360"/>
          </a:xfrm>
        </p:grpSpPr>
        <p:sp>
          <p:nvSpPr>
            <p:cNvPr id="135" name="!!parcel-0-19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!!parcel-1-19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!!parcel-2-19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8" name="!!parcel-3-19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!!parcel-4-19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!!parcel-5-19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1" name="!!air-column-20"/>
          <p:cNvGrpSpPr/>
          <p:nvPr/>
        </p:nvGrpSpPr>
        <p:grpSpPr>
          <a:xfrm>
            <a:off x="8897620" y="2560320"/>
            <a:ext cx="86360" cy="1991360"/>
            <a:chOff x="0" y="0"/>
            <a:chExt cx="86360" cy="1991360"/>
          </a:xfrm>
        </p:grpSpPr>
        <p:sp>
          <p:nvSpPr>
            <p:cNvPr id="142" name="!!parcel-0-20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3" name="!!parcel-1-20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4" name="!!parcel-2-20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5" name="!!parcel-3-20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6" name="!!parcel-4-20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" name="!!parcel-5-20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8" name="!!air-column-21"/>
          <p:cNvGrpSpPr/>
          <p:nvPr/>
        </p:nvGrpSpPr>
        <p:grpSpPr>
          <a:xfrm>
            <a:off x="9344493" y="2560320"/>
            <a:ext cx="86360" cy="1991360"/>
            <a:chOff x="0" y="0"/>
            <a:chExt cx="86360" cy="1991360"/>
          </a:xfrm>
        </p:grpSpPr>
        <p:sp>
          <p:nvSpPr>
            <p:cNvPr id="149" name="!!parcel-0-21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" name="!!parcel-1-21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!!parcel-2-21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" name="!!parcel-3-21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" name="!!parcel-4-21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!!parcel-5-21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5" name="!!air-column-22"/>
          <p:cNvGrpSpPr/>
          <p:nvPr/>
        </p:nvGrpSpPr>
        <p:grpSpPr>
          <a:xfrm>
            <a:off x="9778057" y="2560320"/>
            <a:ext cx="86360" cy="1991360"/>
            <a:chOff x="0" y="0"/>
            <a:chExt cx="86360" cy="1991360"/>
          </a:xfrm>
        </p:grpSpPr>
        <p:sp>
          <p:nvSpPr>
            <p:cNvPr id="156" name="!!parcel-0-22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!!parcel-1-22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!!parcel-2-22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" name="!!parcel-3-22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" name="!!parcel-4-22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" name="!!parcel-5-22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2" name="!!air-column-23"/>
          <p:cNvGrpSpPr/>
          <p:nvPr/>
        </p:nvGrpSpPr>
        <p:grpSpPr>
          <a:xfrm>
            <a:off x="10154868" y="2560320"/>
            <a:ext cx="86360" cy="1991360"/>
            <a:chOff x="0" y="0"/>
            <a:chExt cx="86360" cy="1991360"/>
          </a:xfrm>
        </p:grpSpPr>
        <p:sp>
          <p:nvSpPr>
            <p:cNvPr id="163" name="!!parcel-0-23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" name="!!parcel-1-23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" name="!!parcel-2-23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" name="!!parcel-3-23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" name="!!parcel-4-23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8" name="!!parcel-5-23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9" name="!!air-column-24"/>
          <p:cNvGrpSpPr/>
          <p:nvPr/>
        </p:nvGrpSpPr>
        <p:grpSpPr>
          <a:xfrm>
            <a:off x="10458675" y="2560320"/>
            <a:ext cx="86360" cy="1991360"/>
            <a:chOff x="0" y="0"/>
            <a:chExt cx="86360" cy="1991360"/>
          </a:xfrm>
        </p:grpSpPr>
        <p:sp>
          <p:nvSpPr>
            <p:cNvPr id="170" name="!!parcel-0-24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1" name="!!parcel-1-24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2" name="!!parcel-2-24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3" name="!!parcel-3-24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" name="!!parcel-4-24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" name="!!parcel-5-24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76" name="!!tagged-parcel"/>
          <p:cNvSpPr/>
          <p:nvPr/>
        </p:nvSpPr>
        <p:spPr>
          <a:xfrm>
            <a:off x="5370943" y="3295650"/>
            <a:ext cx="139700" cy="139700"/>
          </a:xfrm>
          <a:prstGeom prst="ellipse">
            <a:avLst/>
          </a:prstGeom>
          <a:solidFill>
            <a:srgbClr val="FFA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!!tagged-halo"/>
          <p:cNvSpPr/>
          <p:nvPr/>
        </p:nvSpPr>
        <p:spPr>
          <a:xfrm>
            <a:off x="5313793" y="3238500"/>
            <a:ext cx="254000" cy="254000"/>
          </a:xfrm>
          <a:prstGeom prst="ellipse">
            <a:avLst/>
          </a:prstGeom>
          <a:noFill/>
          <a:ln w="13970">
            <a:solidFill>
              <a:srgbClr val="FFA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!!clip-left"/>
          <p:cNvSpPr/>
          <p:nvPr/>
        </p:nvSpPr>
        <p:spPr>
          <a:xfrm>
            <a:off x="0" y="2254250"/>
            <a:ext cx="952500" cy="336550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!!clip-right"/>
          <p:cNvSpPr/>
          <p:nvPr/>
        </p:nvSpPr>
        <p:spPr>
          <a:xfrm>
            <a:off x="11239500" y="2254250"/>
            <a:ext cx="952500" cy="336550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!!clip-top"/>
          <p:cNvSpPr/>
          <p:nvPr/>
        </p:nvSpPr>
        <p:spPr>
          <a:xfrm>
            <a:off x="0" y="0"/>
            <a:ext cx="12192000" cy="225425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!!clip-bottom"/>
          <p:cNvSpPr/>
          <p:nvPr/>
        </p:nvSpPr>
        <p:spPr>
          <a:xfrm>
            <a:off x="0" y="5619750"/>
            <a:ext cx="12192000" cy="123825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!!brand"/>
          <p:cNvSpPr txBox="1"/>
          <p:nvPr/>
        </p:nvSpPr>
        <p:spPr>
          <a:xfrm>
            <a:off x="762000" y="412750"/>
            <a:ext cx="7620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6CE2D0"/>
                </a:solidFill>
                <a:latin typeface="Noto Sans CJK SC"/>
                <a:ea typeface="Noto Sans CJK SC"/>
                <a:cs typeface="Noto Sans CJK SC"/>
              </a:rPr>
              <a:t>SOUND / 看见声音</a:t>
            </a:r>
          </a:p>
        </p:txBody>
      </p:sp>
      <p:sp>
        <p:nvSpPr>
          <p:cNvPr id="183" name="!!recap-folio"/>
          <p:cNvSpPr txBox="1"/>
          <p:nvPr/>
        </p:nvSpPr>
        <p:spPr>
          <a:xfrm>
            <a:off x="10160000" y="412750"/>
            <a:ext cx="1270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07 / 08</a:t>
            </a:r>
          </a:p>
        </p:txBody>
      </p:sp>
      <p:sp>
        <p:nvSpPr>
          <p:cNvPr id="184" name="!!recap-title"/>
          <p:cNvSpPr txBox="1"/>
          <p:nvPr/>
        </p:nvSpPr>
        <p:spPr>
          <a:xfrm>
            <a:off x="762000" y="1079500"/>
            <a:ext cx="10668000" cy="673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72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记住这两个方向。</a:t>
            </a:r>
          </a:p>
        </p:txBody>
      </p:sp>
      <p:sp>
        <p:nvSpPr>
          <p:cNvPr id="185" name="!!recap-caption"/>
          <p:cNvSpPr txBox="1"/>
          <p:nvPr/>
        </p:nvSpPr>
        <p:spPr>
          <a:xfrm>
            <a:off x="1143000" y="5937250"/>
            <a:ext cx="9906000" cy="412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空气局部往复，声波传递能量。</a:t>
            </a:r>
          </a:p>
        </p:txBody>
      </p:sp>
      <p:sp>
        <p:nvSpPr>
          <p:cNvPr id="186" name="!!recap-scope"/>
          <p:cNvSpPr txBox="1"/>
          <p:nvPr/>
        </p:nvSpPr>
        <p:spPr>
          <a:xfrm>
            <a:off x="762000" y="6496050"/>
            <a:ext cx="90170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平均运动示意 · 位移与时间已放大 · 未画热运动</a:t>
            </a:r>
          </a:p>
        </p:txBody>
      </p:sp>
      <p:sp>
        <p:nvSpPr>
          <p:cNvPr id="187" name="!!recap-local"/>
          <p:cNvSpPr/>
          <p:nvPr/>
        </p:nvSpPr>
        <p:spPr>
          <a:xfrm>
            <a:off x="4762500" y="2178050"/>
            <a:ext cx="1651000" cy="152400"/>
          </a:xfrm>
          <a:custGeom>
            <a:avLst/>
            <a:gdLst/>
            <a:ahLst/>
            <a:cxnLst/>
            <a:rect l="0" t="0" r="r" b="b"/>
            <a:pathLst>
              <a:path w="260000" h="24000">
                <a:moveTo>
                  <a:pt x="0" y="12000"/>
                </a:moveTo>
                <a:lnTo>
                  <a:pt x="260000" y="12000"/>
                </a:lnTo>
                <a:moveTo>
                  <a:pt x="243000" y="2000"/>
                </a:moveTo>
                <a:lnTo>
                  <a:pt x="260000" y="12000"/>
                </a:lnTo>
                <a:lnTo>
                  <a:pt x="243000" y="22000"/>
                </a:lnTo>
                <a:moveTo>
                  <a:pt x="17000" y="2000"/>
                </a:moveTo>
                <a:lnTo>
                  <a:pt x="0" y="12000"/>
                </a:lnTo>
                <a:lnTo>
                  <a:pt x="17000" y="22000"/>
                </a:lnTo>
              </a:path>
            </a:pathLst>
          </a:custGeom>
          <a:noFill/>
          <a:ln w="25400">
            <a:solidFill>
              <a:srgbClr val="FFA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!!recap-local-label"/>
          <p:cNvSpPr txBox="1"/>
          <p:nvPr/>
        </p:nvSpPr>
        <p:spPr>
          <a:xfrm>
            <a:off x="4762500" y="1765300"/>
            <a:ext cx="16510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spc="0">
                <a:solidFill>
                  <a:srgbClr val="FFAC4B"/>
                </a:solidFill>
                <a:latin typeface="Noto Sans CJK SC"/>
                <a:ea typeface="Noto Sans CJK SC"/>
                <a:cs typeface="Noto Sans CJK SC"/>
              </a:rPr>
              <a:t>空气局部往复</a:t>
            </a:r>
          </a:p>
        </p:txBody>
      </p:sp>
      <p:sp>
        <p:nvSpPr>
          <p:cNvPr id="189" name="!!recap-wave"/>
          <p:cNvSpPr/>
          <p:nvPr/>
        </p:nvSpPr>
        <p:spPr>
          <a:xfrm>
            <a:off x="2857500" y="5257800"/>
            <a:ext cx="6667500" cy="152400"/>
          </a:xfrm>
          <a:custGeom>
            <a:avLst/>
            <a:gdLst/>
            <a:ahLst/>
            <a:cxnLst/>
            <a:rect l="0" t="0" r="r" b="b"/>
            <a:pathLst>
              <a:path w="1050000" h="24000">
                <a:moveTo>
                  <a:pt x="0" y="12000"/>
                </a:moveTo>
                <a:lnTo>
                  <a:pt x="1050000" y="12000"/>
                </a:lnTo>
                <a:moveTo>
                  <a:pt x="1033000" y="2000"/>
                </a:moveTo>
                <a:lnTo>
                  <a:pt x="1050000" y="12000"/>
                </a:lnTo>
                <a:lnTo>
                  <a:pt x="1033000" y="22000"/>
                </a:lnTo>
              </a:path>
            </a:pathLst>
          </a:custGeom>
          <a:noFill/>
          <a:ln w="25400">
            <a:solidFill>
              <a:srgbClr val="6CE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!!recap-wave-label"/>
          <p:cNvSpPr txBox="1"/>
          <p:nvPr/>
        </p:nvSpPr>
        <p:spPr>
          <a:xfrm>
            <a:off x="2857500" y="4845050"/>
            <a:ext cx="66675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spc="0">
                <a:solidFill>
                  <a:srgbClr val="6CE2D0"/>
                </a:solidFill>
                <a:latin typeface="Noto Sans CJK SC"/>
                <a:ea typeface="Noto Sans CJK SC"/>
                <a:cs typeface="Noto Sans CJK SC"/>
              </a:rPr>
              <a:t>声波向外传播</a:t>
            </a:r>
          </a:p>
        </p:txBody>
      </p:sp>
    </p:spTree>
  </p:cSld>
  <p:clrMapOvr>
    <a:masterClrMapping/>
  </p:clrMapOvr>
  <p:transition xmlns:ns0="http://schemas.microsoft.com/office/powerpoint/2010/main" spd="fast" advClick="1" ns0:dur="450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clip-left"/>
          <p:cNvSpPr/>
          <p:nvPr/>
        </p:nvSpPr>
        <p:spPr>
          <a:xfrm>
            <a:off x="0" y="2254250"/>
            <a:ext cx="952500" cy="336550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clip-right"/>
          <p:cNvSpPr/>
          <p:nvPr/>
        </p:nvSpPr>
        <p:spPr>
          <a:xfrm>
            <a:off x="11239500" y="2254250"/>
            <a:ext cx="952500" cy="336550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clip-top"/>
          <p:cNvSpPr/>
          <p:nvPr/>
        </p:nvSpPr>
        <p:spPr>
          <a:xfrm>
            <a:off x="0" y="0"/>
            <a:ext cx="12192000" cy="225425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clip-bottom"/>
          <p:cNvSpPr/>
          <p:nvPr/>
        </p:nvSpPr>
        <p:spPr>
          <a:xfrm>
            <a:off x="0" y="5619750"/>
            <a:ext cx="12192000" cy="123825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brand"/>
          <p:cNvSpPr txBox="1"/>
          <p:nvPr/>
        </p:nvSpPr>
        <p:spPr>
          <a:xfrm>
            <a:off x="762000" y="412750"/>
            <a:ext cx="7620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6CE2D0"/>
                </a:solidFill>
                <a:latin typeface="Noto Sans CJK SC"/>
                <a:ea typeface="Noto Sans CJK SC"/>
                <a:cs typeface="Noto Sans CJK SC"/>
              </a:rPr>
              <a:t>SOUND / 看见声音</a:t>
            </a:r>
          </a:p>
        </p:txBody>
      </p:sp>
      <p:sp>
        <p:nvSpPr>
          <p:cNvPr id="7" name="!!credits-folio"/>
          <p:cNvSpPr txBox="1"/>
          <p:nvPr/>
        </p:nvSpPr>
        <p:spPr>
          <a:xfrm>
            <a:off x="10160000" y="412750"/>
            <a:ext cx="1270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08 / 08</a:t>
            </a:r>
          </a:p>
        </p:txBody>
      </p:sp>
      <p:sp>
        <p:nvSpPr>
          <p:cNvPr id="8" name="!!credits-title"/>
          <p:cNvSpPr txBox="1"/>
          <p:nvPr/>
        </p:nvSpPr>
        <p:spPr>
          <a:xfrm>
            <a:off x="762000" y="1079500"/>
            <a:ext cx="10668000" cy="673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72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让一个标记，讲清一个概念。</a:t>
            </a:r>
          </a:p>
        </p:txBody>
      </p:sp>
      <p:sp>
        <p:nvSpPr>
          <p:cNvPr id="9" name="!!credits-caption"/>
          <p:cNvSpPr txBox="1"/>
          <p:nvPr/>
        </p:nvSpPr>
        <p:spPr>
          <a:xfrm>
            <a:off x="1143000" y="5937250"/>
            <a:ext cx="9906000" cy="412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原创中文科普动画 · 来源随工程交付。</a:t>
            </a:r>
          </a:p>
        </p:txBody>
      </p:sp>
      <p:sp>
        <p:nvSpPr>
          <p:cNvPr id="10" name="!!credits-scope"/>
          <p:cNvSpPr txBox="1"/>
          <p:nvPr/>
        </p:nvSpPr>
        <p:spPr>
          <a:xfrm>
            <a:off x="762000" y="6496050"/>
            <a:ext cx="90170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平均运动示意 · 位移与时间已放大 · 未画热运动</a:t>
            </a:r>
          </a:p>
        </p:txBody>
      </p:sp>
      <p:sp>
        <p:nvSpPr>
          <p:cNvPr id="11" name="!!source-observation"/>
          <p:cNvSpPr txBox="1"/>
          <p:nvPr/>
        </p:nvSpPr>
        <p:spPr>
          <a:xfrm>
            <a:off x="825500" y="2413000"/>
            <a:ext cx="10477500" cy="50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</a:pPr>
            <a:r>
              <a:rPr sz="210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观察方法：University of Salford / Dan Russell</a:t>
            </a:r>
          </a:p>
        </p:txBody>
      </p:sp>
      <p:sp>
        <p:nvSpPr>
          <p:cNvPr id="12" name="!!source-facts"/>
          <p:cNvSpPr txBox="1"/>
          <p:nvPr/>
        </p:nvSpPr>
        <p:spPr>
          <a:xfrm>
            <a:off x="825500" y="2984500"/>
            <a:ext cx="10477500" cy="50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</a:pPr>
            <a:r>
              <a:rPr sz="210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事实核对：UCLA Physics · Sound Waves</a:t>
            </a:r>
          </a:p>
        </p:txBody>
      </p:sp>
      <p:sp>
        <p:nvSpPr>
          <p:cNvPr id="13" name="!!source-original"/>
          <p:cNvSpPr txBox="1"/>
          <p:nvPr/>
        </p:nvSpPr>
        <p:spPr>
          <a:xfrm>
            <a:off x="825500" y="3873500"/>
            <a:ext cx="10477500" cy="50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</a:pPr>
            <a:r>
              <a:rPr sz="2100" b="0" spc="0">
                <a:solidFill>
                  <a:srgbClr val="6CE2D0"/>
                </a:solidFill>
                <a:latin typeface="Noto Sans CJK SC"/>
                <a:ea typeface="Noto Sans CJK SC"/>
                <a:cs typeface="Noto Sans CJK SC"/>
              </a:rPr>
              <a:t>原创中文脚本、图形与程序动画 · 离线合成旁白</a:t>
            </a:r>
          </a:p>
        </p:txBody>
      </p:sp>
      <p:sp>
        <p:nvSpPr>
          <p:cNvPr id="14" name="!!source-access"/>
          <p:cNvSpPr txBox="1"/>
          <p:nvPr/>
        </p:nvSpPr>
        <p:spPr>
          <a:xfrm>
            <a:off x="825500" y="4635500"/>
            <a:ext cx="10477500" cy="444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完整网址、模型说明和对应视频信息见备注。</a:t>
            </a:r>
          </a:p>
        </p:txBody>
      </p:sp>
    </p:spTree>
  </p:cSld>
  <p:clrMapOvr>
    <a:masterClrMapping/>
  </p:clrMapOvr>
  <p:transition xmlns:ns0="http://schemas.microsoft.com/office/powerpoint/2010/main" spd="fast" advClick="1" ns0:dur="45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声音走了，空气也走了吗？ · 对应教学 PPT</dc:title>
  <dc:subject/>
  <dc:creator>Native Motion Studio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