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原创图形：六片形状分步聚拢，停稳后再翻页。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同名原生矩形由扇形转为柱形。模拟数据28/39/47/61/74/88。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与上一页相同的六项模拟数据和原生对象。全幅重排时所有柱共享零基线与相同尺度，突出第六项88。不是新增测量或真实三维镜头。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1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01 / 03</a:t>
            </a:r>
          </a:p>
        </p:txBody>
      </p:sp>
      <p:sp>
        <p:nvSpPr>
          <p:cNvPr id="4" name="!!note-1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orbit"/>
          <p:cNvSpPr/>
          <p:nvPr/>
        </p:nvSpPr>
        <p:spPr>
          <a:xfrm>
            <a:off x="4921250" y="952500"/>
            <a:ext cx="4635500" cy="3714750"/>
          </a:xfrm>
          <a:prstGeom prst="ellipse">
            <a:avLst/>
          </a:pr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opening-kicker"/>
          <p:cNvSpPr txBox="1"/>
          <p:nvPr/>
        </p:nvSpPr>
        <p:spPr>
          <a:xfrm>
            <a:off x="635000" y="1123950"/>
            <a:ext cx="40005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 / 先把目光聚拢</a:t>
            </a:r>
          </a:p>
        </p:txBody>
      </p:sp>
      <p:sp>
        <p:nvSpPr>
          <p:cNvPr id="7" name="!!opening-title"/>
          <p:cNvSpPr txBox="1"/>
          <p:nvPr/>
        </p:nvSpPr>
        <p:spPr>
          <a:xfrm>
            <a:off x="609600" y="1600200"/>
            <a:ext cx="4381500" cy="171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9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让信息，</a:t>
            </a:r>
          </a:p>
          <a:p>
            <a:pPr algn="l">
              <a:lnSpc>
                <a:spcPts val="519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精彩地转身。</a:t>
            </a:r>
          </a:p>
        </p:txBody>
      </p:sp>
      <p:sp>
        <p:nvSpPr>
          <p:cNvPr id="8" name="!!opening-caption"/>
          <p:cNvSpPr txBox="1"/>
          <p:nvPr/>
        </p:nvSpPr>
        <p:spPr>
          <a:xfrm>
            <a:off x="647700" y="3854450"/>
            <a:ext cx="4000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让动作接续内容，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让变化值得被看见。</a:t>
            </a:r>
          </a:p>
        </p:txBody>
      </p:sp>
      <p:sp>
        <p:nvSpPr>
          <p:cNvPr id="9" name="!!blade-0"/>
          <p:cNvSpPr/>
          <p:nvPr/>
        </p:nvSpPr>
        <p:spPr>
          <a:xfrm rot="18600000">
            <a:off x="6076702" y="20525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C2583E"/>
              </a:gs>
              <a:gs pos="100000">
                <a:srgbClr val="F5A87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blade-1"/>
          <p:cNvSpPr/>
          <p:nvPr/>
        </p:nvSpPr>
        <p:spPr>
          <a:xfrm rot="19800000">
            <a:off x="6423025" y="17619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B64932"/>
              </a:gs>
              <a:gs pos="100000">
                <a:srgbClr val="ED865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blade-2"/>
          <p:cNvSpPr/>
          <p:nvPr/>
        </p:nvSpPr>
        <p:spPr>
          <a:xfrm rot="21000000">
            <a:off x="6847853" y="1607277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DF6C45"/>
              </a:gs>
              <a:gs pos="100000">
                <a:srgbClr val="FFD0A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blade-3"/>
          <p:cNvSpPr/>
          <p:nvPr/>
        </p:nvSpPr>
        <p:spPr>
          <a:xfrm rot="600000">
            <a:off x="7299947" y="1607277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C85033"/>
              </a:gs>
              <a:gs pos="100000">
                <a:srgbClr val="F7926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blade-4"/>
          <p:cNvSpPr/>
          <p:nvPr/>
        </p:nvSpPr>
        <p:spPr>
          <a:xfrm rot="1800000">
            <a:off x="7724775" y="17619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EB8054"/>
              </a:gs>
              <a:gs pos="100000">
                <a:srgbClr val="FFD4A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blade-5"/>
          <p:cNvSpPr/>
          <p:nvPr/>
        </p:nvSpPr>
        <p:spPr>
          <a:xfrm rot="3000000">
            <a:off x="8071098" y="2052501"/>
            <a:ext cx="584200" cy="2603500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hinge"/>
          <p:cNvSpPr/>
          <p:nvPr/>
        </p:nvSpPr>
        <p:spPr>
          <a:xfrm>
            <a:off x="7213600" y="4038600"/>
            <a:ext cx="304800" cy="304800"/>
          </a:xfrm>
          <a:prstGeom prst="ellipse">
            <a:avLst/>
          </a:prstGeom>
          <a:solidFill>
            <a:srgbClr val="262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hero-tag"/>
          <p:cNvSpPr txBox="1"/>
          <p:nvPr/>
        </p:nvSpPr>
        <p:spPr>
          <a:xfrm>
            <a:off x="5937250" y="4762500"/>
            <a:ext cx="3683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六个原生形状 / 下一页继续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15555556 L 0.000000000 0.000000000 E" pathEditMode="relative" rAng="0">
                                      <p:cBhvr>
                                        <p:cTn id="8" dur="45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5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46666667 L 0.000000000 0.000000000 E" pathEditMode="relative" rAng="0">
                                      <p:cBhvr>
                                        <p:cTn id="12" dur="85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="M 0.000000000 0.020000000 L 0.000000000 0.000000000 E" pathEditMode="relative" rAng="0">
                                      <p:cBhvr>
                                        <p:cTn id="16" dur="520" fill="hold" accel="10000" decel="65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50" fill="hold" accel="8000" decel="7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="M -0.071816667 0.122222222 L 0.000000000 0.000000000 E" pathEditMode="relative" rAng="0">
                                      <p:cBhvr>
                                        <p:cTn id="20" dur="1050" fill="hold" accel="8000" decel="72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65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95" fill="hold" accel="8000" decel="7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Motion origin="layout" path="M -0.046875000 0.122222222 L 0.000000000 0.000000000 E" pathEditMode="relative" rAng="0">
                                      <p:cBhvr>
                                        <p:cTn id="24" dur="1095" fill="hold" accel="8000" decel="72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140" fill="hold" accel="8000" decel="7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Motion origin="layout" path="M -0.016279517 0.122222222 L 0.000000000 0.000000000 E" pathEditMode="relative" rAng="0">
                                      <p:cBhvr>
                                        <p:cTn id="28" dur="1140" fill="hold" accel="8000" decel="7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85" fill="hold" accel="8000" decel="7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="M 0.016279517 0.122222222 L 0.000000000 0.000000000 E" pathEditMode="relative" rAng="0">
                                      <p:cBhvr>
                                        <p:cTn id="32" dur="1185" fill="hold" accel="8000" decel="7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230" fill="hold" accel="8000" decel="7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="M 0.046875000 0.122222222 L 0.000000000 0.000000000 E" pathEditMode="relative" rAng="0">
                                      <p:cBhvr>
                                        <p:cTn id="36" dur="1230" fill="hold" accel="8000" decel="7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505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75" fill="hold" accel="8000" decel="7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0.071816667 0.122222222 L 0.000000000 0.000000000 E" pathEditMode="relative" rAng="0">
                                      <p:cBhvr>
                                        <p:cTn id="40" dur="1275" fill="hold" accel="8000" decel="7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2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02 / 03</a:t>
            </a:r>
          </a:p>
        </p:txBody>
      </p:sp>
      <p:sp>
        <p:nvSpPr>
          <p:cNvPr id="4" name="!!note-2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morph-kicker"/>
          <p:cNvSpPr txBox="1"/>
          <p:nvPr/>
        </p:nvSpPr>
        <p:spPr>
          <a:xfrm>
            <a:off x="635000" y="1123950"/>
            <a:ext cx="3810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 / 再让形状给出证据</a:t>
            </a:r>
          </a:p>
        </p:txBody>
      </p:sp>
      <p:sp>
        <p:nvSpPr>
          <p:cNvPr id="6" name="!!morph-title"/>
          <p:cNvSpPr txBox="1"/>
          <p:nvPr/>
        </p:nvSpPr>
        <p:spPr>
          <a:xfrm>
            <a:off x="609600" y="1600200"/>
            <a:ext cx="3937000" cy="1714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8"/>
              </a:lnSpc>
              <a:spcBef>
                <a:spcPts val="0"/>
              </a:spcBef>
              <a:spcAft>
                <a:spcPts val="0"/>
              </a:spcAft>
            </a:pPr>
            <a:r>
              <a:rPr sz="41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同一组形状，</a:t>
            </a:r>
          </a:p>
          <a:p>
            <a:pPr algn="l">
              <a:lnSpc>
                <a:spcPts val="4838"/>
              </a:lnSpc>
              <a:spcBef>
                <a:spcPts val="0"/>
              </a:spcBef>
              <a:spcAft>
                <a:spcPts val="0"/>
              </a:spcAft>
            </a:pPr>
            <a:r>
              <a:rPr sz="41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换一个视角。</a:t>
            </a:r>
          </a:p>
        </p:txBody>
      </p:sp>
      <p:sp>
        <p:nvSpPr>
          <p:cNvPr id="7" name="!!morph-caption"/>
          <p:cNvSpPr txBox="1"/>
          <p:nvPr/>
        </p:nvSpPr>
        <p:spPr>
          <a:xfrm>
            <a:off x="647700" y="3854450"/>
            <a:ext cx="3810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扇形转为数据柱。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位置、比例与方向跨页接续。</a:t>
            </a:r>
          </a:p>
        </p:txBody>
      </p:sp>
      <p:sp>
        <p:nvSpPr>
          <p:cNvPr id="8" name="!!grid-0"/>
          <p:cNvSpPr/>
          <p:nvPr/>
        </p:nvSpPr>
        <p:spPr>
          <a:xfrm>
            <a:off x="5016500" y="4318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ick-0"/>
          <p:cNvSpPr txBox="1"/>
          <p:nvPr/>
        </p:nvSpPr>
        <p:spPr>
          <a:xfrm>
            <a:off x="4667250" y="4203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0" name="!!grid-50"/>
          <p:cNvSpPr/>
          <p:nvPr/>
        </p:nvSpPr>
        <p:spPr>
          <a:xfrm>
            <a:off x="5016500" y="2794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tick-50"/>
          <p:cNvSpPr txBox="1"/>
          <p:nvPr/>
        </p:nvSpPr>
        <p:spPr>
          <a:xfrm>
            <a:off x="4667250" y="2679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2" name="!!grid-100"/>
          <p:cNvSpPr/>
          <p:nvPr/>
        </p:nvSpPr>
        <p:spPr>
          <a:xfrm>
            <a:off x="5016500" y="1270000"/>
            <a:ext cx="4508500" cy="64"/>
          </a:xfrm>
          <a:custGeom>
            <a:avLst/>
            <a:gdLst/>
            <a:ahLst/>
            <a:cxnLst/>
            <a:rect l="0" t="0" r="r" b="b"/>
            <a:pathLst>
              <a:path w="710000" h="10">
                <a:moveTo>
                  <a:pt x="0" y="0"/>
                </a:moveTo>
                <a:lnTo>
                  <a:pt x="71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tick-100"/>
          <p:cNvSpPr txBox="1"/>
          <p:nvPr/>
        </p:nvSpPr>
        <p:spPr>
          <a:xfrm>
            <a:off x="4667250" y="1155700"/>
            <a:ext cx="27940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14" name="!!blade-0"/>
          <p:cNvSpPr/>
          <p:nvPr/>
        </p:nvSpPr>
        <p:spPr>
          <a:xfrm>
            <a:off x="5175250" y="3464560"/>
            <a:ext cx="457200" cy="8534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C2583E"/>
              </a:gs>
              <a:gs pos="100000">
                <a:srgbClr val="F5A87F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value-0"/>
          <p:cNvSpPr txBox="1"/>
          <p:nvPr/>
        </p:nvSpPr>
        <p:spPr>
          <a:xfrm>
            <a:off x="5111750" y="314706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6" name="!!category-0"/>
          <p:cNvSpPr txBox="1"/>
          <p:nvPr/>
        </p:nvSpPr>
        <p:spPr>
          <a:xfrm>
            <a:off x="51117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7" name="!!blade-1"/>
          <p:cNvSpPr/>
          <p:nvPr/>
        </p:nvSpPr>
        <p:spPr>
          <a:xfrm>
            <a:off x="5886450" y="3129280"/>
            <a:ext cx="457200" cy="118872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B64932"/>
              </a:gs>
              <a:gs pos="100000">
                <a:srgbClr val="ED865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value-1"/>
          <p:cNvSpPr txBox="1"/>
          <p:nvPr/>
        </p:nvSpPr>
        <p:spPr>
          <a:xfrm>
            <a:off x="5822950" y="281178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19" name="!!category-1"/>
          <p:cNvSpPr txBox="1"/>
          <p:nvPr/>
        </p:nvSpPr>
        <p:spPr>
          <a:xfrm>
            <a:off x="58229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0" name="!!blade-2"/>
          <p:cNvSpPr/>
          <p:nvPr/>
        </p:nvSpPr>
        <p:spPr>
          <a:xfrm>
            <a:off x="6597650" y="2885440"/>
            <a:ext cx="457200" cy="143256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DF6C45"/>
              </a:gs>
              <a:gs pos="100000">
                <a:srgbClr val="FFD0A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value-2"/>
          <p:cNvSpPr txBox="1"/>
          <p:nvPr/>
        </p:nvSpPr>
        <p:spPr>
          <a:xfrm>
            <a:off x="6534150" y="256794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47</a:t>
            </a:r>
          </a:p>
        </p:txBody>
      </p:sp>
      <p:sp>
        <p:nvSpPr>
          <p:cNvPr id="22" name="!!category-2"/>
          <p:cNvSpPr txBox="1"/>
          <p:nvPr/>
        </p:nvSpPr>
        <p:spPr>
          <a:xfrm>
            <a:off x="65341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3" name="!!blade-3"/>
          <p:cNvSpPr/>
          <p:nvPr/>
        </p:nvSpPr>
        <p:spPr>
          <a:xfrm>
            <a:off x="7308850" y="2458720"/>
            <a:ext cx="457200" cy="185928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C85033"/>
              </a:gs>
              <a:gs pos="100000">
                <a:srgbClr val="F7926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value-3"/>
          <p:cNvSpPr txBox="1"/>
          <p:nvPr/>
        </p:nvSpPr>
        <p:spPr>
          <a:xfrm>
            <a:off x="7245350" y="214122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61</a:t>
            </a:r>
          </a:p>
        </p:txBody>
      </p:sp>
      <p:sp>
        <p:nvSpPr>
          <p:cNvPr id="25" name="!!category-3"/>
          <p:cNvSpPr txBox="1"/>
          <p:nvPr/>
        </p:nvSpPr>
        <p:spPr>
          <a:xfrm>
            <a:off x="72453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6" name="!!blade-4"/>
          <p:cNvSpPr/>
          <p:nvPr/>
        </p:nvSpPr>
        <p:spPr>
          <a:xfrm>
            <a:off x="8020050" y="2062480"/>
            <a:ext cx="457200" cy="225552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B8054"/>
              </a:gs>
              <a:gs pos="100000">
                <a:srgbClr val="FFD4AA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value-4"/>
          <p:cNvSpPr txBox="1"/>
          <p:nvPr/>
        </p:nvSpPr>
        <p:spPr>
          <a:xfrm>
            <a:off x="7956550" y="174498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74</a:t>
            </a:r>
          </a:p>
        </p:txBody>
      </p:sp>
      <p:sp>
        <p:nvSpPr>
          <p:cNvPr id="28" name="!!category-4"/>
          <p:cNvSpPr txBox="1"/>
          <p:nvPr/>
        </p:nvSpPr>
        <p:spPr>
          <a:xfrm>
            <a:off x="79565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9" name="!!blade-5"/>
          <p:cNvSpPr/>
          <p:nvPr/>
        </p:nvSpPr>
        <p:spPr>
          <a:xfrm>
            <a:off x="8731250" y="1635760"/>
            <a:ext cx="457200" cy="268224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value-5"/>
          <p:cNvSpPr txBox="1"/>
          <p:nvPr/>
        </p:nvSpPr>
        <p:spPr>
          <a:xfrm>
            <a:off x="8667750" y="1318260"/>
            <a:ext cx="584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88</a:t>
            </a:r>
          </a:p>
        </p:txBody>
      </p:sp>
      <p:sp>
        <p:nvSpPr>
          <p:cNvPr id="31" name="!!category-5"/>
          <p:cNvSpPr txBox="1"/>
          <p:nvPr/>
        </p:nvSpPr>
        <p:spPr>
          <a:xfrm>
            <a:off x="8667750" y="4483100"/>
            <a:ext cx="5842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32" name="!!chart-unit"/>
          <p:cNvSpPr txBox="1"/>
          <p:nvPr/>
        </p:nvSpPr>
        <p:spPr>
          <a:xfrm>
            <a:off x="5016500" y="857250"/>
            <a:ext cx="444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模拟指标 / 0—100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 fill="hold" accel="10000" decel="6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6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60" fill="hold" accel="10000" decel="6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60" fill="hold" accel="10000" decel="6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60" fill="hold" accel="10000" decel="6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6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6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6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6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 fill="hold" accel="10000" decel="65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 fill="hold" accel="10000" decel="65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rand"/>
          <p:cNvSpPr txBox="1"/>
          <p:nvPr/>
        </p:nvSpPr>
        <p:spPr>
          <a:xfrm>
            <a:off x="609600" y="368300"/>
            <a:ext cx="571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Space Grotesk SemiBold"/>
                <a:ea typeface="Space Grotesk SemiBold"/>
                <a:cs typeface="Space Grotesk SemiBold"/>
              </a:rPr>
              <a:t>NATIVE / MOTION STUDY</a:t>
            </a:r>
          </a:p>
        </p:txBody>
      </p:sp>
      <p:sp>
        <p:nvSpPr>
          <p:cNvPr id="3" name="!!folio-3"/>
          <p:cNvSpPr txBox="1"/>
          <p:nvPr/>
        </p:nvSpPr>
        <p:spPr>
          <a:xfrm>
            <a:off x="8509000" y="368300"/>
            <a:ext cx="1041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03 / 03</a:t>
            </a:r>
          </a:p>
        </p:txBody>
      </p:sp>
      <p:sp>
        <p:nvSpPr>
          <p:cNvPr id="4" name="!!note-3"/>
          <p:cNvSpPr txBox="1"/>
          <p:nvPr/>
        </p:nvSpPr>
        <p:spPr>
          <a:xfrm>
            <a:off x="609600" y="5295900"/>
            <a:ext cx="698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原创动效样片 · 图表为模拟数据</a:t>
            </a:r>
          </a:p>
        </p:txBody>
      </p:sp>
      <p:sp>
        <p:nvSpPr>
          <p:cNvPr id="5" name="!!focus-kicker"/>
          <p:cNvSpPr txBox="1"/>
          <p:nvPr/>
        </p:nvSpPr>
        <p:spPr>
          <a:xfrm>
            <a:off x="635000" y="717550"/>
            <a:ext cx="4127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 / 把比较展开，把重点留下</a:t>
            </a:r>
          </a:p>
        </p:txBody>
      </p:sp>
      <p:sp>
        <p:nvSpPr>
          <p:cNvPr id="6" name="!!focus-title"/>
          <p:cNvSpPr txBox="1"/>
          <p:nvPr/>
        </p:nvSpPr>
        <p:spPr>
          <a:xfrm>
            <a:off x="609600" y="1130300"/>
            <a:ext cx="4064000" cy="127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把目光，</a:t>
            </a:r>
          </a:p>
          <a:p>
            <a:pPr algn="l">
              <a:lnSpc>
                <a:spcPts val="413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交给最重要的数。</a:t>
            </a:r>
          </a:p>
        </p:txBody>
      </p:sp>
      <p:sp>
        <p:nvSpPr>
          <p:cNvPr id="7" name="!!focus-caption"/>
          <p:cNvSpPr txBox="1"/>
          <p:nvPr/>
        </p:nvSpPr>
        <p:spPr>
          <a:xfrm>
            <a:off x="635000" y="2489200"/>
            <a:ext cx="4127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六项保持同一比例，重点留给 88。</a:t>
            </a:r>
          </a:p>
        </p:txBody>
      </p:sp>
      <p:sp>
        <p:nvSpPr>
          <p:cNvPr id="8" name="!!chart-unit"/>
          <p:cNvSpPr txBox="1"/>
          <p:nvPr/>
        </p:nvSpPr>
        <p:spPr>
          <a:xfrm>
            <a:off x="5016500" y="857250"/>
            <a:ext cx="444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模拟指标 / 0—100</a:t>
            </a:r>
          </a:p>
        </p:txBody>
      </p:sp>
      <p:sp>
        <p:nvSpPr>
          <p:cNvPr id="9" name="!!grid-0"/>
          <p:cNvSpPr/>
          <p:nvPr/>
        </p:nvSpPr>
        <p:spPr>
          <a:xfrm>
            <a:off x="609600" y="4699000"/>
            <a:ext cx="8915400" cy="64"/>
          </a:xfrm>
          <a:custGeom>
            <a:avLst/>
            <a:gdLst/>
            <a:ahLst/>
            <a:cxnLst/>
            <a:rect l="0" t="0" r="r" b="b"/>
            <a:pathLst>
              <a:path w="1404000" h="10">
                <a:moveTo>
                  <a:pt x="0" y="0"/>
                </a:moveTo>
                <a:lnTo>
                  <a:pt x="1404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ocus-tick-0"/>
          <p:cNvSpPr txBox="1"/>
          <p:nvPr/>
        </p:nvSpPr>
        <p:spPr>
          <a:xfrm>
            <a:off x="222250" y="4584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11" name="!!grid-50"/>
          <p:cNvSpPr/>
          <p:nvPr/>
        </p:nvSpPr>
        <p:spPr>
          <a:xfrm>
            <a:off x="5143500" y="3048000"/>
            <a:ext cx="4381500" cy="64"/>
          </a:xfrm>
          <a:custGeom>
            <a:avLst/>
            <a:gdLst/>
            <a:ahLst/>
            <a:cxnLst/>
            <a:rect l="0" t="0" r="r" b="b"/>
            <a:pathLst>
              <a:path w="690000" h="10">
                <a:moveTo>
                  <a:pt x="0" y="0"/>
                </a:moveTo>
                <a:lnTo>
                  <a:pt x="69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focus-tick-50"/>
          <p:cNvSpPr txBox="1"/>
          <p:nvPr/>
        </p:nvSpPr>
        <p:spPr>
          <a:xfrm>
            <a:off x="222250" y="2933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50</a:t>
            </a:r>
          </a:p>
        </p:txBody>
      </p:sp>
      <p:sp>
        <p:nvSpPr>
          <p:cNvPr id="13" name="!!grid-100"/>
          <p:cNvSpPr/>
          <p:nvPr/>
        </p:nvSpPr>
        <p:spPr>
          <a:xfrm>
            <a:off x="5143500" y="1397000"/>
            <a:ext cx="2476500" cy="64"/>
          </a:xfrm>
          <a:custGeom>
            <a:avLst/>
            <a:gdLst/>
            <a:ahLst/>
            <a:cxnLst/>
            <a:rect l="0" t="0" r="r" b="b"/>
            <a:pathLst>
              <a:path w="390000" h="10">
                <a:moveTo>
                  <a:pt x="0" y="0"/>
                </a:moveTo>
                <a:lnTo>
                  <a:pt x="390000" y="0"/>
                </a:lnTo>
              </a:path>
            </a:pathLst>
          </a:custGeom>
          <a:noFill/>
          <a:ln w="7620">
            <a:solidFill>
              <a:srgbClr val="DAD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focus-tick-100"/>
          <p:cNvSpPr txBox="1"/>
          <p:nvPr/>
        </p:nvSpPr>
        <p:spPr>
          <a:xfrm>
            <a:off x="222250" y="1282700"/>
            <a:ext cx="285750" cy="241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15" name="!!blade-0"/>
          <p:cNvSpPr/>
          <p:nvPr/>
        </p:nvSpPr>
        <p:spPr>
          <a:xfrm>
            <a:off x="609600" y="3774440"/>
            <a:ext cx="952500" cy="924560"/>
          </a:xfrm>
          <a:prstGeom prst="roundRect">
            <a:avLst>
              <a:gd name="adj" fmla="val 16483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value-0"/>
          <p:cNvSpPr txBox="1"/>
          <p:nvPr/>
        </p:nvSpPr>
        <p:spPr>
          <a:xfrm>
            <a:off x="546100" y="345694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17" name="!!category-0"/>
          <p:cNvSpPr txBox="1"/>
          <p:nvPr/>
        </p:nvSpPr>
        <p:spPr>
          <a:xfrm>
            <a:off x="546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8" name="!!blade-1"/>
          <p:cNvSpPr/>
          <p:nvPr/>
        </p:nvSpPr>
        <p:spPr>
          <a:xfrm>
            <a:off x="2070100" y="3411220"/>
            <a:ext cx="952500" cy="128778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value-1"/>
          <p:cNvSpPr txBox="1"/>
          <p:nvPr/>
        </p:nvSpPr>
        <p:spPr>
          <a:xfrm>
            <a:off x="2006600" y="309372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20" name="!!category-1"/>
          <p:cNvSpPr txBox="1"/>
          <p:nvPr/>
        </p:nvSpPr>
        <p:spPr>
          <a:xfrm>
            <a:off x="2006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1" name="!!blade-2"/>
          <p:cNvSpPr/>
          <p:nvPr/>
        </p:nvSpPr>
        <p:spPr>
          <a:xfrm>
            <a:off x="3530600" y="3147060"/>
            <a:ext cx="952500" cy="155194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value-2"/>
          <p:cNvSpPr txBox="1"/>
          <p:nvPr/>
        </p:nvSpPr>
        <p:spPr>
          <a:xfrm>
            <a:off x="3467100" y="282956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47</a:t>
            </a:r>
          </a:p>
        </p:txBody>
      </p:sp>
      <p:sp>
        <p:nvSpPr>
          <p:cNvPr id="23" name="!!category-2"/>
          <p:cNvSpPr txBox="1"/>
          <p:nvPr/>
        </p:nvSpPr>
        <p:spPr>
          <a:xfrm>
            <a:off x="3467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24" name="!!blade-3"/>
          <p:cNvSpPr/>
          <p:nvPr/>
        </p:nvSpPr>
        <p:spPr>
          <a:xfrm>
            <a:off x="4991100" y="2684780"/>
            <a:ext cx="952500" cy="201422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value-3"/>
          <p:cNvSpPr txBox="1"/>
          <p:nvPr/>
        </p:nvSpPr>
        <p:spPr>
          <a:xfrm>
            <a:off x="4927600" y="236728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61</a:t>
            </a:r>
          </a:p>
        </p:txBody>
      </p:sp>
      <p:sp>
        <p:nvSpPr>
          <p:cNvPr id="26" name="!!category-3"/>
          <p:cNvSpPr txBox="1"/>
          <p:nvPr/>
        </p:nvSpPr>
        <p:spPr>
          <a:xfrm>
            <a:off x="4927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7" name="!!blade-4"/>
          <p:cNvSpPr/>
          <p:nvPr/>
        </p:nvSpPr>
        <p:spPr>
          <a:xfrm>
            <a:off x="6451600" y="2255520"/>
            <a:ext cx="952500" cy="244348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A99B8B"/>
              </a:gs>
              <a:gs pos="100000">
                <a:srgbClr val="D8CCB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value-4"/>
          <p:cNvSpPr txBox="1"/>
          <p:nvPr/>
        </p:nvSpPr>
        <p:spPr>
          <a:xfrm>
            <a:off x="6388100" y="1938020"/>
            <a:ext cx="10795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74</a:t>
            </a:r>
          </a:p>
        </p:txBody>
      </p:sp>
      <p:sp>
        <p:nvSpPr>
          <p:cNvPr id="29" name="!!category-4"/>
          <p:cNvSpPr txBox="1"/>
          <p:nvPr/>
        </p:nvSpPr>
        <p:spPr>
          <a:xfrm>
            <a:off x="63881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0" name="!!blade-5"/>
          <p:cNvSpPr/>
          <p:nvPr/>
        </p:nvSpPr>
        <p:spPr>
          <a:xfrm>
            <a:off x="7912100" y="1793240"/>
            <a:ext cx="952500" cy="290576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B44730"/>
              </a:gs>
              <a:gs pos="100000">
                <a:srgbClr val="EF8B60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value-5"/>
          <p:cNvSpPr txBox="1"/>
          <p:nvPr/>
        </p:nvSpPr>
        <p:spPr>
          <a:xfrm>
            <a:off x="7816850" y="1132840"/>
            <a:ext cx="1143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484"/>
              </a:lnSpc>
              <a:spcBef>
                <a:spcPts val="0"/>
              </a:spcBef>
              <a:spcAft>
                <a:spcPts val="0"/>
              </a:spcAft>
            </a:pPr>
            <a:r>
              <a:rPr sz="3800" b="1" spc="0">
                <a:solidFill>
                  <a:srgbClr val="26231F"/>
                </a:solidFill>
                <a:latin typeface="Noto Sans CJK SC"/>
                <a:ea typeface="Noto Sans CJK SC"/>
                <a:cs typeface="Noto Sans CJK SC"/>
              </a:rPr>
              <a:t>88</a:t>
            </a:r>
          </a:p>
        </p:txBody>
      </p:sp>
      <p:sp>
        <p:nvSpPr>
          <p:cNvPr id="32" name="!!category-5"/>
          <p:cNvSpPr txBox="1"/>
          <p:nvPr/>
        </p:nvSpPr>
        <p:spPr>
          <a:xfrm>
            <a:off x="7848600" y="48895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0">
                <a:solidFill>
                  <a:srgbClr val="6E645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800">
        <p159:morph option="byObject"/>
      </p:transition>
    </mc:Choice>
    <mc:Fallback>
      <p:transition xmlns:ns0="http://schemas.microsoft.com/office/powerpoint/2010/main" spd="fast" advClick="1" ns0:dur="18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聚焦 / 连续原生 Morph 视觉样片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