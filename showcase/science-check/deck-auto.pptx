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一次点击展开三根柱子及其数值。柱子的底部保持在同一基线上。数字来自scientific-demo.csv中的模拟数据。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一次点击，曲线按观测时间逐段淡入，点位保持原始采样值。灰色参照曲线、坐标和刻度始终保持可见。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同一sample-token保持对象与子对象身份；曲线漂移结束后回到静态布局，再进行跨页Morph。示意网络不代表真实分子或实验模型。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同一sample-token保持对象与子对象身份；曲线漂移结束后回到静态布局，再进行跨页Morph。示意网络不代表真实分子或实验模型。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第一次点击展开观测点，第二次点击展示四分位区间与中位数。中位数和四分位数由原始模拟观测计算；横向错开只用于分开点，不表示额外变量。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cience-brand"/>
          <p:cNvSpPr txBox="1"/>
          <p:nvPr/>
        </p:nvSpPr>
        <p:spPr>
          <a:xfrm>
            <a:off x="685800" y="444500"/>
            <a:ext cx="508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115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SCIENCE / MOTION</a:t>
            </a:r>
          </a:p>
        </p:txBody>
      </p:sp>
      <p:sp>
        <p:nvSpPr>
          <p:cNvPr id="3" name="!!science-folio-1"/>
          <p:cNvSpPr txBox="1"/>
          <p:nvPr/>
        </p:nvSpPr>
        <p:spPr>
          <a:xfrm>
            <a:off x="10160000" y="444500"/>
            <a:ext cx="1346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01 / 05</a:t>
            </a:r>
          </a:p>
        </p:txBody>
      </p:sp>
      <p:sp>
        <p:nvSpPr>
          <p:cNvPr id="4" name="!!science-rule"/>
          <p:cNvSpPr/>
          <p:nvPr/>
        </p:nvSpPr>
        <p:spPr>
          <a:xfrm>
            <a:off x="685800" y="901700"/>
            <a:ext cx="10820400" cy="6"/>
          </a:xfrm>
          <a:custGeom>
            <a:avLst/>
            <a:gdLst/>
            <a:ahLst/>
            <a:cxnLst/>
            <a:rect l="0" t="0" r="r" b="b"/>
            <a:pathLst>
              <a:path w="1704000" h="1">
                <a:moveTo>
                  <a:pt x="0" y="0"/>
                </a:moveTo>
                <a:lnTo>
                  <a:pt x="1704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cience-source"/>
          <p:cNvSpPr txBox="1"/>
          <p:nvPr/>
        </p:nvSpPr>
        <p:spPr>
          <a:xfrm>
            <a:off x="711200" y="63754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模拟数据与流程示意，仅用于演示；不代表实验结果。</a:t>
            </a:r>
          </a:p>
        </p:txBody>
      </p:sp>
      <p:sp>
        <p:nvSpPr>
          <p:cNvPr id="6" name="!!science-title-1"/>
          <p:cNvSpPr txBox="1"/>
          <p:nvPr/>
        </p:nvSpPr>
        <p:spPr>
          <a:xfrm>
            <a:off x="685800" y="2006600"/>
            <a:ext cx="4508500" cy="190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把比较</a:t>
            </a:r>
          </a:p>
          <a:p>
            <a:pPr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放在一起。</a:t>
            </a:r>
          </a:p>
        </p:txBody>
      </p:sp>
      <p:sp>
        <p:nvSpPr>
          <p:cNvPr id="7" name="!!science-note-1"/>
          <p:cNvSpPr txBox="1"/>
          <p:nvPr/>
        </p:nvSpPr>
        <p:spPr>
          <a:xfrm>
            <a:off x="723900" y="4635500"/>
            <a:ext cx="4381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共用坐标和基线，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差异才看得清。</a:t>
            </a:r>
          </a:p>
        </p:txBody>
      </p:sp>
      <p:sp>
        <p:nvSpPr>
          <p:cNvPr id="8" name="!!comparison-grid-0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comparison-tick-0"/>
          <p:cNvSpPr txBox="1"/>
          <p:nvPr/>
        </p:nvSpPr>
        <p:spPr>
          <a:xfrm>
            <a:off x="5207000" y="5016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10" name="!!comparison-grid-1"/>
          <p:cNvSpPr/>
          <p:nvPr/>
        </p:nvSpPr>
        <p:spPr>
          <a:xfrm>
            <a:off x="5842000" y="4468812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comparison-tick-1"/>
          <p:cNvSpPr txBox="1"/>
          <p:nvPr/>
        </p:nvSpPr>
        <p:spPr>
          <a:xfrm>
            <a:off x="5207000" y="4341812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15</a:t>
            </a:r>
          </a:p>
        </p:txBody>
      </p:sp>
      <p:sp>
        <p:nvSpPr>
          <p:cNvPr id="12" name="!!comparison-grid-2"/>
          <p:cNvSpPr/>
          <p:nvPr/>
        </p:nvSpPr>
        <p:spPr>
          <a:xfrm>
            <a:off x="5842000" y="3794125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omparison-tick-2"/>
          <p:cNvSpPr txBox="1"/>
          <p:nvPr/>
        </p:nvSpPr>
        <p:spPr>
          <a:xfrm>
            <a:off x="5207000" y="3667125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30</a:t>
            </a:r>
          </a:p>
        </p:txBody>
      </p:sp>
      <p:sp>
        <p:nvSpPr>
          <p:cNvPr id="14" name="!!comparison-grid-3"/>
          <p:cNvSpPr/>
          <p:nvPr/>
        </p:nvSpPr>
        <p:spPr>
          <a:xfrm>
            <a:off x="5842000" y="3119438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comparison-tick-3"/>
          <p:cNvSpPr txBox="1"/>
          <p:nvPr/>
        </p:nvSpPr>
        <p:spPr>
          <a:xfrm>
            <a:off x="5207000" y="2992438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45</a:t>
            </a:r>
          </a:p>
        </p:txBody>
      </p:sp>
      <p:sp>
        <p:nvSpPr>
          <p:cNvPr id="16" name="!!comparison-grid-4"/>
          <p:cNvSpPr/>
          <p:nvPr/>
        </p:nvSpPr>
        <p:spPr>
          <a:xfrm>
            <a:off x="5842000" y="244475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comparison-tick-4"/>
          <p:cNvSpPr txBox="1"/>
          <p:nvPr/>
        </p:nvSpPr>
        <p:spPr>
          <a:xfrm>
            <a:off x="5207000" y="23177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60</a:t>
            </a:r>
          </a:p>
        </p:txBody>
      </p:sp>
      <p:sp>
        <p:nvSpPr>
          <p:cNvPr id="18" name="!!comparison-baseline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12700">
            <a:solidFill>
              <a:srgbClr val="142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comparison-unit"/>
          <p:cNvSpPr txBox="1"/>
          <p:nvPr/>
        </p:nvSpPr>
        <p:spPr>
          <a:xfrm>
            <a:off x="5842000" y="165100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完成时间（s）</a:t>
            </a:r>
          </a:p>
        </p:txBody>
      </p:sp>
      <p:sp>
        <p:nvSpPr>
          <p:cNvPr id="20" name="!!comparison-bar-0"/>
          <p:cNvSpPr/>
          <p:nvPr/>
        </p:nvSpPr>
        <p:spPr>
          <a:xfrm>
            <a:off x="6333067" y="2804583"/>
            <a:ext cx="711200" cy="2338917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comparison-category-0"/>
          <p:cNvSpPr txBox="1"/>
          <p:nvPr/>
        </p:nvSpPr>
        <p:spPr>
          <a:xfrm>
            <a:off x="5926667" y="5308600"/>
            <a:ext cx="1524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方法 A</a:t>
            </a:r>
          </a:p>
        </p:txBody>
      </p:sp>
      <p:sp>
        <p:nvSpPr>
          <p:cNvPr id="22" name="!!comparison-value-0"/>
          <p:cNvSpPr txBox="1"/>
          <p:nvPr/>
        </p:nvSpPr>
        <p:spPr>
          <a:xfrm>
            <a:off x="6085417" y="2385483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52</a:t>
            </a:r>
          </a:p>
        </p:txBody>
      </p:sp>
      <p:sp>
        <p:nvSpPr>
          <p:cNvPr id="23" name="!!comparison-bar-1"/>
          <p:cNvSpPr/>
          <p:nvPr/>
        </p:nvSpPr>
        <p:spPr>
          <a:xfrm>
            <a:off x="8026400" y="3614208"/>
            <a:ext cx="711200" cy="1529292"/>
          </a:xfrm>
          <a:prstGeom prst="rect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comparison-category-1"/>
          <p:cNvSpPr txBox="1"/>
          <p:nvPr/>
        </p:nvSpPr>
        <p:spPr>
          <a:xfrm>
            <a:off x="7620000" y="5308600"/>
            <a:ext cx="1524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方法 B</a:t>
            </a:r>
          </a:p>
        </p:txBody>
      </p:sp>
      <p:sp>
        <p:nvSpPr>
          <p:cNvPr id="25" name="!!comparison-value-1"/>
          <p:cNvSpPr txBox="1"/>
          <p:nvPr/>
        </p:nvSpPr>
        <p:spPr>
          <a:xfrm>
            <a:off x="7778750" y="3195108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34</a:t>
            </a:r>
          </a:p>
        </p:txBody>
      </p:sp>
      <p:sp>
        <p:nvSpPr>
          <p:cNvPr id="26" name="!!comparison-bar-2"/>
          <p:cNvSpPr/>
          <p:nvPr/>
        </p:nvSpPr>
        <p:spPr>
          <a:xfrm>
            <a:off x="9719733" y="4198938"/>
            <a:ext cx="711200" cy="944562"/>
          </a:xfrm>
          <a:prstGeom prst="rect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comparison-category-2"/>
          <p:cNvSpPr txBox="1"/>
          <p:nvPr/>
        </p:nvSpPr>
        <p:spPr>
          <a:xfrm>
            <a:off x="9313333" y="5308600"/>
            <a:ext cx="1524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方法 C</a:t>
            </a:r>
          </a:p>
        </p:txBody>
      </p:sp>
      <p:sp>
        <p:nvSpPr>
          <p:cNvPr id="28" name="!!comparison-value-2"/>
          <p:cNvSpPr txBox="1"/>
          <p:nvPr/>
        </p:nvSpPr>
        <p:spPr>
          <a:xfrm>
            <a:off x="9472083" y="3779838"/>
            <a:ext cx="12065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0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21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60" advTm="6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33333333 L 0.000000000 0.000000000 E" pathEditMode="relative" rAng="0">
                                      <p:cBhvr>
                                        <p:cTn id="8" dur="70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.000000000 0.011111111 L 0.000000000 0.000000000 E" pathEditMode="relative" rAng="0">
                                      <p:cBhvr>
                                        <p:cTn id="12" dur="50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100" fill="hold" accel="10000" decel="65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20" fill="hold" accel="10000" decel="6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100" fill="hold" accel="10000" decel="65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20" fill="hold" accel="10000" decel="6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100" fill="hold" accel="10000" decel="65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0" fill="hold" accel="10000" decel="65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cience-brand"/>
          <p:cNvSpPr txBox="1"/>
          <p:nvPr/>
        </p:nvSpPr>
        <p:spPr>
          <a:xfrm>
            <a:off x="685800" y="444500"/>
            <a:ext cx="508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115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SCIENCE / MOTION</a:t>
            </a:r>
          </a:p>
        </p:txBody>
      </p:sp>
      <p:sp>
        <p:nvSpPr>
          <p:cNvPr id="3" name="!!science-folio-2"/>
          <p:cNvSpPr txBox="1"/>
          <p:nvPr/>
        </p:nvSpPr>
        <p:spPr>
          <a:xfrm>
            <a:off x="10160000" y="444500"/>
            <a:ext cx="1346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02 / 05</a:t>
            </a:r>
          </a:p>
        </p:txBody>
      </p:sp>
      <p:sp>
        <p:nvSpPr>
          <p:cNvPr id="4" name="!!science-rule"/>
          <p:cNvSpPr/>
          <p:nvPr/>
        </p:nvSpPr>
        <p:spPr>
          <a:xfrm>
            <a:off x="685800" y="901700"/>
            <a:ext cx="10820400" cy="6"/>
          </a:xfrm>
          <a:custGeom>
            <a:avLst/>
            <a:gdLst/>
            <a:ahLst/>
            <a:cxnLst/>
            <a:rect l="0" t="0" r="r" b="b"/>
            <a:pathLst>
              <a:path w="1704000" h="1">
                <a:moveTo>
                  <a:pt x="0" y="0"/>
                </a:moveTo>
                <a:lnTo>
                  <a:pt x="1704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cience-source"/>
          <p:cNvSpPr txBox="1"/>
          <p:nvPr/>
        </p:nvSpPr>
        <p:spPr>
          <a:xfrm>
            <a:off x="711200" y="63754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模拟数据与流程示意，仅用于演示；不代表实验结果。</a:t>
            </a:r>
          </a:p>
        </p:txBody>
      </p:sp>
      <p:sp>
        <p:nvSpPr>
          <p:cNvPr id="6" name="!!science-title-2"/>
          <p:cNvSpPr txBox="1"/>
          <p:nvPr/>
        </p:nvSpPr>
        <p:spPr>
          <a:xfrm>
            <a:off x="685800" y="2006600"/>
            <a:ext cx="4508500" cy="190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变化需要</a:t>
            </a:r>
          </a:p>
          <a:p>
            <a:pPr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一段过程。</a:t>
            </a:r>
          </a:p>
        </p:txBody>
      </p:sp>
      <p:sp>
        <p:nvSpPr>
          <p:cNvPr id="7" name="!!science-note-2"/>
          <p:cNvSpPr txBox="1"/>
          <p:nvPr/>
        </p:nvSpPr>
        <p:spPr>
          <a:xfrm>
            <a:off x="723900" y="4635500"/>
            <a:ext cx="4381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参照保持可见，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再看变化怎样发生。</a:t>
            </a:r>
          </a:p>
        </p:txBody>
      </p:sp>
      <p:sp>
        <p:nvSpPr>
          <p:cNvPr id="8" name="!!response-grid-0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esponse-tick-0"/>
          <p:cNvSpPr txBox="1"/>
          <p:nvPr/>
        </p:nvSpPr>
        <p:spPr>
          <a:xfrm>
            <a:off x="5207000" y="5016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10" name="!!response-grid-1"/>
          <p:cNvSpPr/>
          <p:nvPr/>
        </p:nvSpPr>
        <p:spPr>
          <a:xfrm>
            <a:off x="5842000" y="4468812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esponse-tick-1"/>
          <p:cNvSpPr txBox="1"/>
          <p:nvPr/>
        </p:nvSpPr>
        <p:spPr>
          <a:xfrm>
            <a:off x="5207000" y="4341812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0.8</a:t>
            </a:r>
          </a:p>
        </p:txBody>
      </p:sp>
      <p:sp>
        <p:nvSpPr>
          <p:cNvPr id="12" name="!!response-grid-2"/>
          <p:cNvSpPr/>
          <p:nvPr/>
        </p:nvSpPr>
        <p:spPr>
          <a:xfrm>
            <a:off x="5842000" y="3794125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response-tick-2"/>
          <p:cNvSpPr txBox="1"/>
          <p:nvPr/>
        </p:nvSpPr>
        <p:spPr>
          <a:xfrm>
            <a:off x="5207000" y="3667125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1.6</a:t>
            </a:r>
          </a:p>
        </p:txBody>
      </p:sp>
      <p:sp>
        <p:nvSpPr>
          <p:cNvPr id="14" name="!!response-grid-3"/>
          <p:cNvSpPr/>
          <p:nvPr/>
        </p:nvSpPr>
        <p:spPr>
          <a:xfrm>
            <a:off x="5842000" y="3119438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response-tick-3"/>
          <p:cNvSpPr txBox="1"/>
          <p:nvPr/>
        </p:nvSpPr>
        <p:spPr>
          <a:xfrm>
            <a:off x="5207000" y="2992438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2.4</a:t>
            </a:r>
          </a:p>
        </p:txBody>
      </p:sp>
      <p:sp>
        <p:nvSpPr>
          <p:cNvPr id="16" name="!!response-grid-4"/>
          <p:cNvSpPr/>
          <p:nvPr/>
        </p:nvSpPr>
        <p:spPr>
          <a:xfrm>
            <a:off x="5842000" y="244475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response-tick-4"/>
          <p:cNvSpPr txBox="1"/>
          <p:nvPr/>
        </p:nvSpPr>
        <p:spPr>
          <a:xfrm>
            <a:off x="5207000" y="23177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3.2</a:t>
            </a:r>
          </a:p>
        </p:txBody>
      </p:sp>
      <p:sp>
        <p:nvSpPr>
          <p:cNvPr id="18" name="!!response-baseline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12700">
            <a:solidFill>
              <a:srgbClr val="142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response-unit"/>
          <p:cNvSpPr txBox="1"/>
          <p:nvPr/>
        </p:nvSpPr>
        <p:spPr>
          <a:xfrm>
            <a:off x="5842000" y="165100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响应（a.u.）</a:t>
            </a:r>
          </a:p>
        </p:txBody>
      </p:sp>
      <p:sp>
        <p:nvSpPr>
          <p:cNvPr id="20" name="!!response-x-0"/>
          <p:cNvSpPr txBox="1"/>
          <p:nvPr/>
        </p:nvSpPr>
        <p:spPr>
          <a:xfrm>
            <a:off x="5524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21" name="!!response-x-1"/>
          <p:cNvSpPr txBox="1"/>
          <p:nvPr/>
        </p:nvSpPr>
        <p:spPr>
          <a:xfrm>
            <a:off x="6540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10</a:t>
            </a:r>
          </a:p>
        </p:txBody>
      </p:sp>
      <p:sp>
        <p:nvSpPr>
          <p:cNvPr id="22" name="!!response-x-2"/>
          <p:cNvSpPr txBox="1"/>
          <p:nvPr/>
        </p:nvSpPr>
        <p:spPr>
          <a:xfrm>
            <a:off x="7556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20</a:t>
            </a:r>
          </a:p>
        </p:txBody>
      </p:sp>
      <p:sp>
        <p:nvSpPr>
          <p:cNvPr id="23" name="!!response-x-3"/>
          <p:cNvSpPr txBox="1"/>
          <p:nvPr/>
        </p:nvSpPr>
        <p:spPr>
          <a:xfrm>
            <a:off x="8572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30</a:t>
            </a:r>
          </a:p>
        </p:txBody>
      </p:sp>
      <p:sp>
        <p:nvSpPr>
          <p:cNvPr id="24" name="!!response-x-4"/>
          <p:cNvSpPr txBox="1"/>
          <p:nvPr/>
        </p:nvSpPr>
        <p:spPr>
          <a:xfrm>
            <a:off x="9588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40</a:t>
            </a:r>
          </a:p>
        </p:txBody>
      </p:sp>
      <p:sp>
        <p:nvSpPr>
          <p:cNvPr id="25" name="!!response-x-5"/>
          <p:cNvSpPr txBox="1"/>
          <p:nvPr/>
        </p:nvSpPr>
        <p:spPr>
          <a:xfrm>
            <a:off x="10604500" y="5295900"/>
            <a:ext cx="63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50</a:t>
            </a:r>
          </a:p>
        </p:txBody>
      </p:sp>
      <p:sp>
        <p:nvSpPr>
          <p:cNvPr id="26" name="!!response-reference-0"/>
          <p:cNvSpPr/>
          <p:nvPr/>
        </p:nvSpPr>
        <p:spPr>
          <a:xfrm>
            <a:off x="5842000" y="4089301"/>
            <a:ext cx="1016000" cy="42168"/>
          </a:xfrm>
          <a:custGeom>
            <a:avLst/>
            <a:gdLst/>
            <a:ahLst/>
            <a:cxnLst/>
            <a:rect l="0" t="0" r="r" b="b"/>
            <a:pathLst>
              <a:path w="160000" h="6641">
                <a:moveTo>
                  <a:pt x="0" y="6641"/>
                </a:moveTo>
                <a:lnTo>
                  <a:pt x="160000" y="0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response-reference-1"/>
          <p:cNvSpPr/>
          <p:nvPr/>
        </p:nvSpPr>
        <p:spPr>
          <a:xfrm>
            <a:off x="6858000" y="4089301"/>
            <a:ext cx="1016000" cy="84336"/>
          </a:xfrm>
          <a:custGeom>
            <a:avLst/>
            <a:gdLst/>
            <a:ahLst/>
            <a:cxnLst/>
            <a:rect l="0" t="0" r="r" b="b"/>
            <a:pathLst>
              <a:path w="160000" h="13281">
                <a:moveTo>
                  <a:pt x="0" y="0"/>
                </a:moveTo>
                <a:lnTo>
                  <a:pt x="160000" y="13281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response-reference-2"/>
          <p:cNvSpPr/>
          <p:nvPr/>
        </p:nvSpPr>
        <p:spPr>
          <a:xfrm>
            <a:off x="7874000" y="4047133"/>
            <a:ext cx="1016000" cy="126504"/>
          </a:xfrm>
          <a:custGeom>
            <a:avLst/>
            <a:gdLst/>
            <a:ahLst/>
            <a:cxnLst/>
            <a:rect l="0" t="0" r="r" b="b"/>
            <a:pathLst>
              <a:path w="160000" h="19922">
                <a:moveTo>
                  <a:pt x="0" y="19922"/>
                </a:moveTo>
                <a:lnTo>
                  <a:pt x="160000" y="0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response-reference-3"/>
          <p:cNvSpPr/>
          <p:nvPr/>
        </p:nvSpPr>
        <p:spPr>
          <a:xfrm>
            <a:off x="8890000" y="4047133"/>
            <a:ext cx="1016000" cy="50602"/>
          </a:xfrm>
          <a:custGeom>
            <a:avLst/>
            <a:gdLst/>
            <a:ahLst/>
            <a:cxnLst/>
            <a:rect l="0" t="0" r="r" b="b"/>
            <a:pathLst>
              <a:path w="160000" h="7969">
                <a:moveTo>
                  <a:pt x="0" y="0"/>
                </a:moveTo>
                <a:lnTo>
                  <a:pt x="160000" y="7969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response-reference-4"/>
          <p:cNvSpPr/>
          <p:nvPr/>
        </p:nvSpPr>
        <p:spPr>
          <a:xfrm>
            <a:off x="9906000" y="4064000"/>
            <a:ext cx="1016000" cy="33734"/>
          </a:xfrm>
          <a:custGeom>
            <a:avLst/>
            <a:gdLst/>
            <a:ahLst/>
            <a:cxnLst/>
            <a:rect l="0" t="0" r="r" b="b"/>
            <a:pathLst>
              <a:path w="160000" h="5312">
                <a:moveTo>
                  <a:pt x="0" y="5312"/>
                </a:moveTo>
                <a:lnTo>
                  <a:pt x="160000" y="0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response-segment-0"/>
          <p:cNvSpPr/>
          <p:nvPr/>
        </p:nvSpPr>
        <p:spPr>
          <a:xfrm>
            <a:off x="5842000" y="3962797"/>
            <a:ext cx="1016000" cy="168672"/>
          </a:xfrm>
          <a:custGeom>
            <a:avLst/>
            <a:gdLst/>
            <a:ahLst/>
            <a:cxnLst/>
            <a:rect l="0" t="0" r="r" b="b"/>
            <a:pathLst>
              <a:path w="160000" h="26562">
                <a:moveTo>
                  <a:pt x="0" y="26562"/>
                </a:moveTo>
                <a:lnTo>
                  <a:pt x="160000" y="0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response-segment-1"/>
          <p:cNvSpPr/>
          <p:nvPr/>
        </p:nvSpPr>
        <p:spPr>
          <a:xfrm>
            <a:off x="6858000" y="3245941"/>
            <a:ext cx="1016000" cy="716855"/>
          </a:xfrm>
          <a:custGeom>
            <a:avLst/>
            <a:gdLst/>
            <a:ahLst/>
            <a:cxnLst/>
            <a:rect l="0" t="0" r="r" b="b"/>
            <a:pathLst>
              <a:path w="160000" h="112891">
                <a:moveTo>
                  <a:pt x="0" y="112891"/>
                </a:moveTo>
                <a:lnTo>
                  <a:pt x="160000" y="0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response-segment-2"/>
          <p:cNvSpPr/>
          <p:nvPr/>
        </p:nvSpPr>
        <p:spPr>
          <a:xfrm>
            <a:off x="7874000" y="2739926"/>
            <a:ext cx="1016000" cy="506016"/>
          </a:xfrm>
          <a:custGeom>
            <a:avLst/>
            <a:gdLst/>
            <a:ahLst/>
            <a:cxnLst/>
            <a:rect l="0" t="0" r="r" b="b"/>
            <a:pathLst>
              <a:path w="160000" h="79688">
                <a:moveTo>
                  <a:pt x="0" y="79688"/>
                </a:moveTo>
                <a:lnTo>
                  <a:pt x="160000" y="0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response-segment-3"/>
          <p:cNvSpPr/>
          <p:nvPr/>
        </p:nvSpPr>
        <p:spPr>
          <a:xfrm>
            <a:off x="8890000" y="2739926"/>
            <a:ext cx="1016000" cy="506016"/>
          </a:xfrm>
          <a:custGeom>
            <a:avLst/>
            <a:gdLst/>
            <a:ahLst/>
            <a:cxnLst/>
            <a:rect l="0" t="0" r="r" b="b"/>
            <a:pathLst>
              <a:path w="160000" h="79688">
                <a:moveTo>
                  <a:pt x="0" y="0"/>
                </a:moveTo>
                <a:lnTo>
                  <a:pt x="160000" y="79688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response-segment-4"/>
          <p:cNvSpPr/>
          <p:nvPr/>
        </p:nvSpPr>
        <p:spPr>
          <a:xfrm>
            <a:off x="9906000" y="3245941"/>
            <a:ext cx="1016000" cy="632520"/>
          </a:xfrm>
          <a:custGeom>
            <a:avLst/>
            <a:gdLst/>
            <a:ahLst/>
            <a:cxnLst/>
            <a:rect l="0" t="0" r="r" b="b"/>
            <a:pathLst>
              <a:path w="160000" h="99609">
                <a:moveTo>
                  <a:pt x="0" y="0"/>
                </a:moveTo>
                <a:lnTo>
                  <a:pt x="160000" y="99609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response-point-0"/>
          <p:cNvSpPr/>
          <p:nvPr/>
        </p:nvSpPr>
        <p:spPr>
          <a:xfrm>
            <a:off x="5797550" y="4087019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response-point-1"/>
          <p:cNvSpPr/>
          <p:nvPr/>
        </p:nvSpPr>
        <p:spPr>
          <a:xfrm>
            <a:off x="6813550" y="3918347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response-point-2"/>
          <p:cNvSpPr/>
          <p:nvPr/>
        </p:nvSpPr>
        <p:spPr>
          <a:xfrm>
            <a:off x="7829550" y="3201491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response-point-3"/>
          <p:cNvSpPr/>
          <p:nvPr/>
        </p:nvSpPr>
        <p:spPr>
          <a:xfrm>
            <a:off x="8845550" y="2695476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response-point-4"/>
          <p:cNvSpPr/>
          <p:nvPr/>
        </p:nvSpPr>
        <p:spPr>
          <a:xfrm>
            <a:off x="9861550" y="3201491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response-point-5"/>
          <p:cNvSpPr/>
          <p:nvPr/>
        </p:nvSpPr>
        <p:spPr>
          <a:xfrm>
            <a:off x="10877550" y="3834011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legend-reference-line"/>
          <p:cNvSpPr/>
          <p:nvPr/>
        </p:nvSpPr>
        <p:spPr>
          <a:xfrm>
            <a:off x="8128000" y="1784350"/>
            <a:ext cx="317500" cy="6"/>
          </a:xfrm>
          <a:custGeom>
            <a:avLst/>
            <a:gdLst/>
            <a:ahLst/>
            <a:cxnLst/>
            <a:rect l="0" t="0" r="r" b="b"/>
            <a:pathLst>
              <a:path w="50000" h="1">
                <a:moveTo>
                  <a:pt x="0" y="0"/>
                </a:moveTo>
                <a:lnTo>
                  <a:pt x="50000" y="0"/>
                </a:lnTo>
              </a:path>
            </a:pathLst>
          </a:custGeom>
          <a:noFill/>
          <a:ln w="19050">
            <a:solidFill>
              <a:srgbClr val="536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legend-reference"/>
          <p:cNvSpPr txBox="1"/>
          <p:nvPr/>
        </p:nvSpPr>
        <p:spPr>
          <a:xfrm>
            <a:off x="8540750" y="1638300"/>
            <a:ext cx="730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参照</a:t>
            </a:r>
          </a:p>
        </p:txBody>
      </p:sp>
      <p:sp>
        <p:nvSpPr>
          <p:cNvPr id="44" name="!!legend-response-line"/>
          <p:cNvSpPr/>
          <p:nvPr/>
        </p:nvSpPr>
        <p:spPr>
          <a:xfrm>
            <a:off x="9525000" y="1784350"/>
            <a:ext cx="317500" cy="6"/>
          </a:xfrm>
          <a:custGeom>
            <a:avLst/>
            <a:gdLst/>
            <a:ahLst/>
            <a:cxnLst/>
            <a:rect l="0" t="0" r="r" b="b"/>
            <a:pathLst>
              <a:path w="50000" h="1">
                <a:moveTo>
                  <a:pt x="0" y="0"/>
                </a:moveTo>
                <a:lnTo>
                  <a:pt x="50000" y="0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legend-response"/>
          <p:cNvSpPr txBox="1"/>
          <p:nvPr/>
        </p:nvSpPr>
        <p:spPr>
          <a:xfrm>
            <a:off x="9937750" y="1638300"/>
            <a:ext cx="1397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00766A"/>
                </a:solidFill>
                <a:latin typeface="Noto Sans CJK SC"/>
                <a:ea typeface="Noto Sans CJK SC"/>
                <a:cs typeface="Noto Sans CJK SC"/>
              </a:rPr>
              <a:t>改变条件后</a:t>
            </a:r>
          </a:p>
        </p:txBody>
      </p:sp>
      <p:sp>
        <p:nvSpPr>
          <p:cNvPr id="46" name="!!response-time-unit"/>
          <p:cNvSpPr txBox="1"/>
          <p:nvPr/>
        </p:nvSpPr>
        <p:spPr>
          <a:xfrm>
            <a:off x="9461500" y="5702300"/>
            <a:ext cx="18097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时间（s）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60" advTm="6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33333333 L 0.000000000 0.000000000 E" pathEditMode="relative" rAng="0">
                                      <p:cBhvr>
                                        <p:cTn id="8" dur="70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.000000000 0.011111111 L 0.000000000 0.000000000 E" pathEditMode="relative" rAng="0">
                                      <p:cBhvr>
                                        <p:cTn id="12" dur="50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 fill="hold" accel="10000" decel="65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80" fill="hold" accel="10000" decel="65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80" fill="hold" accel="10000" decel="65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80" fill="hold" accel="10000" decel="65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 fill="hold" accel="10000" decel="65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40" fill="hold" accel="10000" decel="65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40" fill="hold" accel="10000" decel="65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40" fill="hold" accel="10000" decel="65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40" fill="hold" accel="10000" decel="65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 fill="hold" accel="10000" decel="65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53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40" fill="hold" accel="10000" decel="65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cience-brand"/>
          <p:cNvSpPr txBox="1"/>
          <p:nvPr/>
        </p:nvSpPr>
        <p:spPr>
          <a:xfrm>
            <a:off x="685800" y="444500"/>
            <a:ext cx="508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115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SCIENCE / MOTION</a:t>
            </a:r>
          </a:p>
        </p:txBody>
      </p:sp>
      <p:sp>
        <p:nvSpPr>
          <p:cNvPr id="3" name="!!science-folio-3"/>
          <p:cNvSpPr txBox="1"/>
          <p:nvPr/>
        </p:nvSpPr>
        <p:spPr>
          <a:xfrm>
            <a:off x="10160000" y="444500"/>
            <a:ext cx="1346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03 / 05</a:t>
            </a:r>
          </a:p>
        </p:txBody>
      </p:sp>
      <p:sp>
        <p:nvSpPr>
          <p:cNvPr id="4" name="!!science-rule"/>
          <p:cNvSpPr/>
          <p:nvPr/>
        </p:nvSpPr>
        <p:spPr>
          <a:xfrm>
            <a:off x="685800" y="901700"/>
            <a:ext cx="10820400" cy="6"/>
          </a:xfrm>
          <a:custGeom>
            <a:avLst/>
            <a:gdLst/>
            <a:ahLst/>
            <a:cxnLst/>
            <a:rect l="0" t="0" r="r" b="b"/>
            <a:pathLst>
              <a:path w="1704000" h="1">
                <a:moveTo>
                  <a:pt x="0" y="0"/>
                </a:moveTo>
                <a:lnTo>
                  <a:pt x="1704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cience-source"/>
          <p:cNvSpPr txBox="1"/>
          <p:nvPr/>
        </p:nvSpPr>
        <p:spPr>
          <a:xfrm>
            <a:off x="711200" y="63754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模拟数据与流程示意，仅用于演示；不代表实验结果。</a:t>
            </a:r>
          </a:p>
        </p:txBody>
      </p:sp>
      <p:sp>
        <p:nvSpPr>
          <p:cNvPr id="6" name="!!science-title-3"/>
          <p:cNvSpPr txBox="1"/>
          <p:nvPr/>
        </p:nvSpPr>
        <p:spPr>
          <a:xfrm>
            <a:off x="685800" y="1384300"/>
            <a:ext cx="10414000" cy="1079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72"/>
              </a:lnSpc>
              <a:spcBef>
                <a:spcPts val="0"/>
              </a:spcBef>
              <a:spcAft>
                <a:spcPts val="0"/>
              </a:spcAft>
            </a:pPr>
            <a:r>
              <a:rPr sz="54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先固定条件。</a:t>
            </a:r>
          </a:p>
        </p:txBody>
      </p:sp>
      <p:sp>
        <p:nvSpPr>
          <p:cNvPr id="7" name="!!experiment-stage-0"/>
          <p:cNvSpPr txBox="1"/>
          <p:nvPr/>
        </p:nvSpPr>
        <p:spPr>
          <a:xfrm>
            <a:off x="1143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00766A"/>
                </a:solidFill>
                <a:latin typeface="Noto Sans CJK SC"/>
                <a:ea typeface="Noto Sans CJK SC"/>
                <a:cs typeface="Noto Sans CJK SC"/>
              </a:rPr>
              <a:t>输入条件</a:t>
            </a:r>
          </a:p>
        </p:txBody>
      </p:sp>
      <p:sp>
        <p:nvSpPr>
          <p:cNvPr id="8" name="!!experiment-link-0"/>
          <p:cNvSpPr/>
          <p:nvPr/>
        </p:nvSpPr>
        <p:spPr>
          <a:xfrm>
            <a:off x="3524250" y="4025900"/>
            <a:ext cx="1587500" cy="6"/>
          </a:xfrm>
          <a:custGeom>
            <a:avLst/>
            <a:gdLst/>
            <a:ahLst/>
            <a:cxnLst/>
            <a:rect l="0" t="0" r="r" b="b"/>
            <a:pathLst>
              <a:path w="250000" h="1">
                <a:moveTo>
                  <a:pt x="0" y="0"/>
                </a:moveTo>
                <a:lnTo>
                  <a:pt x="250000" y="0"/>
                </a:lnTo>
              </a:path>
            </a:pathLst>
          </a:custGeom>
          <a:noFill/>
          <a:ln w="19050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experiment-arrow-0"/>
          <p:cNvSpPr/>
          <p:nvPr/>
        </p:nvSpPr>
        <p:spPr>
          <a:xfrm>
            <a:off x="5016500" y="39687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15000" h="18000">
                <a:moveTo>
                  <a:pt x="0" y="0"/>
                </a:moveTo>
                <a:lnTo>
                  <a:pt x="15000" y="9000"/>
                </a:lnTo>
                <a:lnTo>
                  <a:pt x="0" y="18000"/>
                </a:lnTo>
                <a:close/>
              </a:path>
            </a:pathLst>
          </a:custGeom>
          <a:solidFill>
            <a:srgbClr val="536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experiment-stage-1"/>
          <p:cNvSpPr txBox="1"/>
          <p:nvPr/>
        </p:nvSpPr>
        <p:spPr>
          <a:xfrm>
            <a:off x="4699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受控变化</a:t>
            </a:r>
          </a:p>
        </p:txBody>
      </p:sp>
      <p:sp>
        <p:nvSpPr>
          <p:cNvPr id="11" name="!!experiment-link-1"/>
          <p:cNvSpPr/>
          <p:nvPr/>
        </p:nvSpPr>
        <p:spPr>
          <a:xfrm>
            <a:off x="7080250" y="4025900"/>
            <a:ext cx="1587500" cy="6"/>
          </a:xfrm>
          <a:custGeom>
            <a:avLst/>
            <a:gdLst/>
            <a:ahLst/>
            <a:cxnLst/>
            <a:rect l="0" t="0" r="r" b="b"/>
            <a:pathLst>
              <a:path w="250000" h="1">
                <a:moveTo>
                  <a:pt x="0" y="0"/>
                </a:moveTo>
                <a:lnTo>
                  <a:pt x="250000" y="0"/>
                </a:lnTo>
              </a:path>
            </a:pathLst>
          </a:custGeom>
          <a:noFill/>
          <a:ln w="19050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experiment-arrow-1"/>
          <p:cNvSpPr/>
          <p:nvPr/>
        </p:nvSpPr>
        <p:spPr>
          <a:xfrm>
            <a:off x="8572500" y="39687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15000" h="18000">
                <a:moveTo>
                  <a:pt x="0" y="0"/>
                </a:moveTo>
                <a:lnTo>
                  <a:pt x="15000" y="9000"/>
                </a:lnTo>
                <a:lnTo>
                  <a:pt x="0" y="18000"/>
                </a:lnTo>
                <a:close/>
              </a:path>
            </a:pathLst>
          </a:custGeom>
          <a:solidFill>
            <a:srgbClr val="536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experiment-stage-2"/>
          <p:cNvSpPr txBox="1"/>
          <p:nvPr/>
        </p:nvSpPr>
        <p:spPr>
          <a:xfrm>
            <a:off x="8255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观察响应</a:t>
            </a:r>
          </a:p>
        </p:txBody>
      </p:sp>
      <p:grpSp>
        <p:nvGrpSpPr>
          <p:cNvPr id="14" name="!!sample-token"/>
          <p:cNvGrpSpPr/>
          <p:nvPr/>
        </p:nvGrpSpPr>
        <p:grpSpPr>
          <a:xfrm>
            <a:off x="1727200" y="3213100"/>
            <a:ext cx="1625600" cy="1625600"/>
            <a:chOff x="0" y="0"/>
            <a:chExt cx="1625600" cy="1625600"/>
          </a:xfrm>
        </p:grpSpPr>
        <p:sp>
          <p:nvSpPr>
            <p:cNvPr id="15" name="!!sample-token-bond-0"/>
            <p:cNvSpPr/>
            <p:nvPr/>
          </p:nvSpPr>
          <p:spPr>
            <a:xfrm>
              <a:off x="357632" y="390144"/>
              <a:ext cx="455168" cy="422656"/>
            </a:xfrm>
            <a:custGeom>
              <a:avLst/>
              <a:gdLst/>
              <a:ahLst/>
              <a:cxnLst/>
              <a:rect l="0" t="0" r="r" b="b"/>
              <a:pathLst>
                <a:path w="71680" h="66560">
                  <a:moveTo>
                    <a:pt x="71680" y="6656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!!sample-token-bond-1"/>
            <p:cNvSpPr/>
            <p:nvPr/>
          </p:nvSpPr>
          <p:spPr>
            <a:xfrm>
              <a:off x="812800" y="325120"/>
              <a:ext cx="438912" cy="487680"/>
            </a:xfrm>
            <a:custGeom>
              <a:avLst/>
              <a:gdLst/>
              <a:ahLst/>
              <a:cxnLst/>
              <a:rect l="0" t="0" r="r" b="b"/>
              <a:pathLst>
                <a:path w="69120" h="76800">
                  <a:moveTo>
                    <a:pt x="0" y="76800"/>
                  </a:moveTo>
                  <a:lnTo>
                    <a:pt x="6912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!!sample-token-bond-2"/>
            <p:cNvSpPr/>
            <p:nvPr/>
          </p:nvSpPr>
          <p:spPr>
            <a:xfrm>
              <a:off x="812800" y="812800"/>
              <a:ext cx="617728" cy="48768"/>
            </a:xfrm>
            <a:custGeom>
              <a:avLst/>
              <a:gdLst/>
              <a:ahLst/>
              <a:cxnLst/>
              <a:rect l="0" t="0" r="r" b="b"/>
              <a:pathLst>
                <a:path w="97280" h="7680">
                  <a:moveTo>
                    <a:pt x="0" y="0"/>
                  </a:moveTo>
                  <a:lnTo>
                    <a:pt x="97280" y="768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sample-token-bond-3"/>
            <p:cNvSpPr/>
            <p:nvPr/>
          </p:nvSpPr>
          <p:spPr>
            <a:xfrm>
              <a:off x="812800" y="812800"/>
              <a:ext cx="341376" cy="536448"/>
            </a:xfrm>
            <a:custGeom>
              <a:avLst/>
              <a:gdLst/>
              <a:ahLst/>
              <a:cxnLst/>
              <a:rect l="0" t="0" r="r" b="b"/>
              <a:pathLst>
                <a:path w="53760" h="84480">
                  <a:moveTo>
                    <a:pt x="0" y="0"/>
                  </a:moveTo>
                  <a:lnTo>
                    <a:pt x="53760" y="8448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sample-token-bond-4"/>
            <p:cNvSpPr/>
            <p:nvPr/>
          </p:nvSpPr>
          <p:spPr>
            <a:xfrm>
              <a:off x="471424" y="812800"/>
              <a:ext cx="341376" cy="471424"/>
            </a:xfrm>
            <a:custGeom>
              <a:avLst/>
              <a:gdLst/>
              <a:ahLst/>
              <a:cxnLst/>
              <a:rect l="0" t="0" r="r" b="b"/>
              <a:pathLst>
                <a:path w="53760" h="74240">
                  <a:moveTo>
                    <a:pt x="53760" y="0"/>
                  </a:moveTo>
                  <a:lnTo>
                    <a:pt x="0" y="7424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sample-token-bond-5"/>
            <p:cNvSpPr/>
            <p:nvPr/>
          </p:nvSpPr>
          <p:spPr>
            <a:xfrm>
              <a:off x="178816" y="812800"/>
              <a:ext cx="633984" cy="16256"/>
            </a:xfrm>
            <a:custGeom>
              <a:avLst/>
              <a:gdLst/>
              <a:ahLst/>
              <a:cxnLst/>
              <a:rect l="0" t="0" r="r" b="b"/>
              <a:pathLst>
                <a:path w="99840" h="2560">
                  <a:moveTo>
                    <a:pt x="99840" y="0"/>
                  </a:moveTo>
                  <a:lnTo>
                    <a:pt x="0" y="256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sample-token-bond-6"/>
            <p:cNvSpPr/>
            <p:nvPr/>
          </p:nvSpPr>
          <p:spPr>
            <a:xfrm>
              <a:off x="357632" y="325120"/>
              <a:ext cx="894080" cy="65024"/>
            </a:xfrm>
            <a:custGeom>
              <a:avLst/>
              <a:gdLst/>
              <a:ahLst/>
              <a:cxnLst/>
              <a:rect l="0" t="0" r="r" b="b"/>
              <a:pathLst>
                <a:path w="140800" h="10240">
                  <a:moveTo>
                    <a:pt x="0" y="10240"/>
                  </a:moveTo>
                  <a:lnTo>
                    <a:pt x="14080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sample-token-bond-7"/>
            <p:cNvSpPr/>
            <p:nvPr/>
          </p:nvSpPr>
          <p:spPr>
            <a:xfrm>
              <a:off x="1251712" y="325120"/>
              <a:ext cx="178816" cy="536448"/>
            </a:xfrm>
            <a:custGeom>
              <a:avLst/>
              <a:gdLst/>
              <a:ahLst/>
              <a:cxnLst/>
              <a:rect l="0" t="0" r="r" b="b"/>
              <a:pathLst>
                <a:path w="28160" h="84480">
                  <a:moveTo>
                    <a:pt x="0" y="0"/>
                  </a:moveTo>
                  <a:lnTo>
                    <a:pt x="28160" y="8448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!!sample-token-bond-8"/>
            <p:cNvSpPr/>
            <p:nvPr/>
          </p:nvSpPr>
          <p:spPr>
            <a:xfrm>
              <a:off x="1154176" y="861568"/>
              <a:ext cx="276352" cy="487680"/>
            </a:xfrm>
            <a:custGeom>
              <a:avLst/>
              <a:gdLst/>
              <a:ahLst/>
              <a:cxnLst/>
              <a:rect l="0" t="0" r="r" b="b"/>
              <a:pathLst>
                <a:path w="43520" h="76800">
                  <a:moveTo>
                    <a:pt x="43520" y="0"/>
                  </a:moveTo>
                  <a:lnTo>
                    <a:pt x="0" y="768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!!sample-token-bond-9"/>
            <p:cNvSpPr/>
            <p:nvPr/>
          </p:nvSpPr>
          <p:spPr>
            <a:xfrm>
              <a:off x="471424" y="1284224"/>
              <a:ext cx="682752" cy="65024"/>
            </a:xfrm>
            <a:custGeom>
              <a:avLst/>
              <a:gdLst/>
              <a:ahLst/>
              <a:cxnLst/>
              <a:rect l="0" t="0" r="r" b="b"/>
              <a:pathLst>
                <a:path w="107520" h="10240">
                  <a:moveTo>
                    <a:pt x="107520" y="1024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sample-token-bond-10"/>
            <p:cNvSpPr/>
            <p:nvPr/>
          </p:nvSpPr>
          <p:spPr>
            <a:xfrm>
              <a:off x="178816" y="829056"/>
              <a:ext cx="292608" cy="455168"/>
            </a:xfrm>
            <a:custGeom>
              <a:avLst/>
              <a:gdLst/>
              <a:ahLst/>
              <a:cxnLst/>
              <a:rect l="0" t="0" r="r" b="b"/>
              <a:pathLst>
                <a:path w="46080" h="71680">
                  <a:moveTo>
                    <a:pt x="46080" y="7168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sample-token-bond-11"/>
            <p:cNvSpPr/>
            <p:nvPr/>
          </p:nvSpPr>
          <p:spPr>
            <a:xfrm>
              <a:off x="178816" y="390144"/>
              <a:ext cx="178816" cy="438912"/>
            </a:xfrm>
            <a:custGeom>
              <a:avLst/>
              <a:gdLst/>
              <a:ahLst/>
              <a:cxnLst/>
              <a:rect l="0" t="0" r="r" b="b"/>
              <a:pathLst>
                <a:path w="28160" h="69120">
                  <a:moveTo>
                    <a:pt x="0" y="69120"/>
                  </a:moveTo>
                  <a:lnTo>
                    <a:pt x="2816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sample-token-node-0"/>
            <p:cNvSpPr/>
            <p:nvPr/>
          </p:nvSpPr>
          <p:spPr>
            <a:xfrm>
              <a:off x="687629" y="687629"/>
              <a:ext cx="250342" cy="25034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sample-token-node-1"/>
            <p:cNvSpPr/>
            <p:nvPr/>
          </p:nvSpPr>
          <p:spPr>
            <a:xfrm>
              <a:off x="302362" y="334874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sample-token-node-2"/>
            <p:cNvSpPr/>
            <p:nvPr/>
          </p:nvSpPr>
          <p:spPr>
            <a:xfrm>
              <a:off x="1196442" y="269850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!!sample-token-node-3"/>
            <p:cNvSpPr/>
            <p:nvPr/>
          </p:nvSpPr>
          <p:spPr>
            <a:xfrm>
              <a:off x="1375258" y="806298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!!sample-token-node-4"/>
            <p:cNvSpPr/>
            <p:nvPr/>
          </p:nvSpPr>
          <p:spPr>
            <a:xfrm>
              <a:off x="1098906" y="1293978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sample-token-node-5"/>
            <p:cNvSpPr/>
            <p:nvPr/>
          </p:nvSpPr>
          <p:spPr>
            <a:xfrm>
              <a:off x="416154" y="1228954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sample-token-node-6"/>
            <p:cNvSpPr/>
            <p:nvPr/>
          </p:nvSpPr>
          <p:spPr>
            <a:xfrm>
              <a:off x="123546" y="773786"/>
              <a:ext cx="110541" cy="110541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!!science-note-3"/>
          <p:cNvSpPr txBox="1"/>
          <p:nvPr/>
        </p:nvSpPr>
        <p:spPr>
          <a:xfrm>
            <a:off x="723900" y="5562600"/>
            <a:ext cx="10731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保持输入一致，才能比较后面的变化。</a:t>
            </a:r>
          </a:p>
        </p:txBody>
      </p:sp>
      <p:sp>
        <p:nvSpPr>
          <p:cNvPr id="35" name="!!process-schematic-3"/>
          <p:cNvSpPr txBox="1"/>
          <p:nvPr/>
        </p:nvSpPr>
        <p:spPr>
          <a:xfrm>
            <a:off x="723900" y="60071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网络结构为程序化示意，不对应真实分子。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60" advTm="5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33333333 L 0.000000000 0.000000000 E" pathEditMode="relative" rAng="0">
                                      <p:cBhvr>
                                        <p:cTn id="8" dur="70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00000000 0.000000000 C 0.002013538 0.000000000 0.003645833 -0.003316409 0.003645833 -0.007407407 C 0.003645833 -0.011498406 0.002013538 -0.014814815 0.000000000 -0.014814815 C -0.002013538 -0.014814815 -0.003645833 -0.011498406 -0.003645833 -0.007407407 C -0.003645833 -0.003316409 -0.002013538 0.000000000 0.000000000 0.000000000  E" pathEditMode="relative" rAng="0">
                                      <p:cBhvr>
                                        <p:cTn id="10" dur="1800" fill="hold" accel="25000" decel="25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 accel="10000" decel="65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.000000000 0.011111111 L 0.000000000 0.000000000 E" pathEditMode="relative" rAng="0">
                                      <p:cBhvr>
                                        <p:cTn id="14" dur="500" fill="hold" accel="10000" decel="65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cience-brand"/>
          <p:cNvSpPr txBox="1"/>
          <p:nvPr/>
        </p:nvSpPr>
        <p:spPr>
          <a:xfrm>
            <a:off x="685800" y="444500"/>
            <a:ext cx="508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115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SCIENCE / MOTION</a:t>
            </a:r>
          </a:p>
        </p:txBody>
      </p:sp>
      <p:sp>
        <p:nvSpPr>
          <p:cNvPr id="3" name="!!science-folio-4"/>
          <p:cNvSpPr txBox="1"/>
          <p:nvPr/>
        </p:nvSpPr>
        <p:spPr>
          <a:xfrm>
            <a:off x="10160000" y="444500"/>
            <a:ext cx="1346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04 / 05</a:t>
            </a:r>
          </a:p>
        </p:txBody>
      </p:sp>
      <p:sp>
        <p:nvSpPr>
          <p:cNvPr id="4" name="!!science-rule"/>
          <p:cNvSpPr/>
          <p:nvPr/>
        </p:nvSpPr>
        <p:spPr>
          <a:xfrm>
            <a:off x="685800" y="901700"/>
            <a:ext cx="10820400" cy="6"/>
          </a:xfrm>
          <a:custGeom>
            <a:avLst/>
            <a:gdLst/>
            <a:ahLst/>
            <a:cxnLst/>
            <a:rect l="0" t="0" r="r" b="b"/>
            <a:pathLst>
              <a:path w="1704000" h="1">
                <a:moveTo>
                  <a:pt x="0" y="0"/>
                </a:moveTo>
                <a:lnTo>
                  <a:pt x="1704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cience-source"/>
          <p:cNvSpPr txBox="1"/>
          <p:nvPr/>
        </p:nvSpPr>
        <p:spPr>
          <a:xfrm>
            <a:off x="711200" y="63754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模拟数据与流程示意，仅用于演示；不代表实验结果。</a:t>
            </a:r>
          </a:p>
        </p:txBody>
      </p:sp>
      <p:sp>
        <p:nvSpPr>
          <p:cNvPr id="6" name="!!science-title-4"/>
          <p:cNvSpPr txBox="1"/>
          <p:nvPr/>
        </p:nvSpPr>
        <p:spPr>
          <a:xfrm>
            <a:off x="685800" y="1384300"/>
            <a:ext cx="10414000" cy="1079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72"/>
              </a:lnSpc>
              <a:spcBef>
                <a:spcPts val="0"/>
              </a:spcBef>
              <a:spcAft>
                <a:spcPts val="0"/>
              </a:spcAft>
            </a:pPr>
            <a:r>
              <a:rPr sz="54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再改变一个因素。</a:t>
            </a:r>
          </a:p>
        </p:txBody>
      </p:sp>
      <p:sp>
        <p:nvSpPr>
          <p:cNvPr id="7" name="!!experiment-stage-0"/>
          <p:cNvSpPr txBox="1"/>
          <p:nvPr/>
        </p:nvSpPr>
        <p:spPr>
          <a:xfrm>
            <a:off x="1143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输入条件</a:t>
            </a:r>
          </a:p>
        </p:txBody>
      </p:sp>
      <p:sp>
        <p:nvSpPr>
          <p:cNvPr id="8" name="!!experiment-link-0"/>
          <p:cNvSpPr/>
          <p:nvPr/>
        </p:nvSpPr>
        <p:spPr>
          <a:xfrm>
            <a:off x="3524250" y="4025900"/>
            <a:ext cx="1587500" cy="6"/>
          </a:xfrm>
          <a:custGeom>
            <a:avLst/>
            <a:gdLst/>
            <a:ahLst/>
            <a:cxnLst/>
            <a:rect l="0" t="0" r="r" b="b"/>
            <a:pathLst>
              <a:path w="250000" h="1">
                <a:moveTo>
                  <a:pt x="0" y="0"/>
                </a:moveTo>
                <a:lnTo>
                  <a:pt x="250000" y="0"/>
                </a:lnTo>
              </a:path>
            </a:pathLst>
          </a:custGeom>
          <a:noFill/>
          <a:ln w="19050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experiment-arrow-0"/>
          <p:cNvSpPr/>
          <p:nvPr/>
        </p:nvSpPr>
        <p:spPr>
          <a:xfrm>
            <a:off x="5016500" y="39687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15000" h="18000">
                <a:moveTo>
                  <a:pt x="0" y="0"/>
                </a:moveTo>
                <a:lnTo>
                  <a:pt x="15000" y="9000"/>
                </a:lnTo>
                <a:lnTo>
                  <a:pt x="0" y="18000"/>
                </a:lnTo>
                <a:close/>
              </a:path>
            </a:pathLst>
          </a:custGeom>
          <a:solidFill>
            <a:srgbClr val="536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experiment-stage-1"/>
          <p:cNvSpPr txBox="1"/>
          <p:nvPr/>
        </p:nvSpPr>
        <p:spPr>
          <a:xfrm>
            <a:off x="4699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00766A"/>
                </a:solidFill>
                <a:latin typeface="Noto Sans CJK SC"/>
                <a:ea typeface="Noto Sans CJK SC"/>
                <a:cs typeface="Noto Sans CJK SC"/>
              </a:rPr>
              <a:t>受控变化</a:t>
            </a:r>
          </a:p>
        </p:txBody>
      </p:sp>
      <p:sp>
        <p:nvSpPr>
          <p:cNvPr id="11" name="!!experiment-link-1"/>
          <p:cNvSpPr/>
          <p:nvPr/>
        </p:nvSpPr>
        <p:spPr>
          <a:xfrm>
            <a:off x="7080250" y="4025900"/>
            <a:ext cx="1587500" cy="6"/>
          </a:xfrm>
          <a:custGeom>
            <a:avLst/>
            <a:gdLst/>
            <a:ahLst/>
            <a:cxnLst/>
            <a:rect l="0" t="0" r="r" b="b"/>
            <a:pathLst>
              <a:path w="250000" h="1">
                <a:moveTo>
                  <a:pt x="0" y="0"/>
                </a:moveTo>
                <a:lnTo>
                  <a:pt x="250000" y="0"/>
                </a:lnTo>
              </a:path>
            </a:pathLst>
          </a:custGeom>
          <a:noFill/>
          <a:ln w="19050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experiment-arrow-1"/>
          <p:cNvSpPr/>
          <p:nvPr/>
        </p:nvSpPr>
        <p:spPr>
          <a:xfrm>
            <a:off x="8572500" y="39687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15000" h="18000">
                <a:moveTo>
                  <a:pt x="0" y="0"/>
                </a:moveTo>
                <a:lnTo>
                  <a:pt x="15000" y="9000"/>
                </a:lnTo>
                <a:lnTo>
                  <a:pt x="0" y="18000"/>
                </a:lnTo>
                <a:close/>
              </a:path>
            </a:pathLst>
          </a:custGeom>
          <a:solidFill>
            <a:srgbClr val="536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experiment-stage-2"/>
          <p:cNvSpPr txBox="1"/>
          <p:nvPr/>
        </p:nvSpPr>
        <p:spPr>
          <a:xfrm>
            <a:off x="8255000" y="2781300"/>
            <a:ext cx="2794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观察响应</a:t>
            </a:r>
          </a:p>
        </p:txBody>
      </p:sp>
      <p:grpSp>
        <p:nvGrpSpPr>
          <p:cNvPr id="14" name="!!sample-token"/>
          <p:cNvGrpSpPr/>
          <p:nvPr/>
        </p:nvGrpSpPr>
        <p:grpSpPr>
          <a:xfrm>
            <a:off x="5016500" y="2946400"/>
            <a:ext cx="2159000" cy="2159000"/>
            <a:chOff x="0" y="0"/>
            <a:chExt cx="2159000" cy="2159000"/>
          </a:xfrm>
        </p:grpSpPr>
        <p:sp>
          <p:nvSpPr>
            <p:cNvPr id="15" name="!!sample-token-bond-0"/>
            <p:cNvSpPr/>
            <p:nvPr/>
          </p:nvSpPr>
          <p:spPr>
            <a:xfrm>
              <a:off x="474980" y="518160"/>
              <a:ext cx="604520" cy="561340"/>
            </a:xfrm>
            <a:custGeom>
              <a:avLst/>
              <a:gdLst/>
              <a:ahLst/>
              <a:cxnLst/>
              <a:rect l="0" t="0" r="r" b="b"/>
              <a:pathLst>
                <a:path w="95200" h="88400">
                  <a:moveTo>
                    <a:pt x="95200" y="8840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!!sample-token-bond-1"/>
            <p:cNvSpPr/>
            <p:nvPr/>
          </p:nvSpPr>
          <p:spPr>
            <a:xfrm>
              <a:off x="1079500" y="431800"/>
              <a:ext cx="582930" cy="647700"/>
            </a:xfrm>
            <a:custGeom>
              <a:avLst/>
              <a:gdLst/>
              <a:ahLst/>
              <a:cxnLst/>
              <a:rect l="0" t="0" r="r" b="b"/>
              <a:pathLst>
                <a:path w="91800" h="102000">
                  <a:moveTo>
                    <a:pt x="0" y="102000"/>
                  </a:moveTo>
                  <a:lnTo>
                    <a:pt x="9180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!!sample-token-bond-2"/>
            <p:cNvSpPr/>
            <p:nvPr/>
          </p:nvSpPr>
          <p:spPr>
            <a:xfrm>
              <a:off x="1079500" y="1079500"/>
              <a:ext cx="820420" cy="64770"/>
            </a:xfrm>
            <a:custGeom>
              <a:avLst/>
              <a:gdLst/>
              <a:ahLst/>
              <a:cxnLst/>
              <a:rect l="0" t="0" r="r" b="b"/>
              <a:pathLst>
                <a:path w="129200" h="10200">
                  <a:moveTo>
                    <a:pt x="0" y="0"/>
                  </a:moveTo>
                  <a:lnTo>
                    <a:pt x="129200" y="102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!!sample-token-bond-3"/>
            <p:cNvSpPr/>
            <p:nvPr/>
          </p:nvSpPr>
          <p:spPr>
            <a:xfrm>
              <a:off x="1079500" y="1079500"/>
              <a:ext cx="453390" cy="712470"/>
            </a:xfrm>
            <a:custGeom>
              <a:avLst/>
              <a:gdLst/>
              <a:ahLst/>
              <a:cxnLst/>
              <a:rect l="0" t="0" r="r" b="b"/>
              <a:pathLst>
                <a:path w="71400" h="112200">
                  <a:moveTo>
                    <a:pt x="0" y="0"/>
                  </a:moveTo>
                  <a:lnTo>
                    <a:pt x="71400" y="1122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!!sample-token-bond-4"/>
            <p:cNvSpPr/>
            <p:nvPr/>
          </p:nvSpPr>
          <p:spPr>
            <a:xfrm>
              <a:off x="626110" y="1079500"/>
              <a:ext cx="453390" cy="626110"/>
            </a:xfrm>
            <a:custGeom>
              <a:avLst/>
              <a:gdLst/>
              <a:ahLst/>
              <a:cxnLst/>
              <a:rect l="0" t="0" r="r" b="b"/>
              <a:pathLst>
                <a:path w="71400" h="98600">
                  <a:moveTo>
                    <a:pt x="71400" y="0"/>
                  </a:moveTo>
                  <a:lnTo>
                    <a:pt x="0" y="986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!!sample-token-bond-5"/>
            <p:cNvSpPr/>
            <p:nvPr/>
          </p:nvSpPr>
          <p:spPr>
            <a:xfrm>
              <a:off x="237490" y="1079500"/>
              <a:ext cx="842010" cy="21590"/>
            </a:xfrm>
            <a:custGeom>
              <a:avLst/>
              <a:gdLst/>
              <a:ahLst/>
              <a:cxnLst/>
              <a:rect l="0" t="0" r="r" b="b"/>
              <a:pathLst>
                <a:path w="132600" h="3400">
                  <a:moveTo>
                    <a:pt x="132600" y="0"/>
                  </a:moveTo>
                  <a:lnTo>
                    <a:pt x="0" y="34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!!sample-token-bond-6"/>
            <p:cNvSpPr/>
            <p:nvPr/>
          </p:nvSpPr>
          <p:spPr>
            <a:xfrm>
              <a:off x="474980" y="431800"/>
              <a:ext cx="1187450" cy="86360"/>
            </a:xfrm>
            <a:custGeom>
              <a:avLst/>
              <a:gdLst/>
              <a:ahLst/>
              <a:cxnLst/>
              <a:rect l="0" t="0" r="r" b="b"/>
              <a:pathLst>
                <a:path w="187000" h="13600">
                  <a:moveTo>
                    <a:pt x="0" y="13600"/>
                  </a:moveTo>
                  <a:lnTo>
                    <a:pt x="18700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!!sample-token-bond-7"/>
            <p:cNvSpPr/>
            <p:nvPr/>
          </p:nvSpPr>
          <p:spPr>
            <a:xfrm>
              <a:off x="1662430" y="431800"/>
              <a:ext cx="237490" cy="712470"/>
            </a:xfrm>
            <a:custGeom>
              <a:avLst/>
              <a:gdLst/>
              <a:ahLst/>
              <a:cxnLst/>
              <a:rect l="0" t="0" r="r" b="b"/>
              <a:pathLst>
                <a:path w="37400" h="112200">
                  <a:moveTo>
                    <a:pt x="0" y="0"/>
                  </a:moveTo>
                  <a:lnTo>
                    <a:pt x="37400" y="1122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!!sample-token-bond-8"/>
            <p:cNvSpPr/>
            <p:nvPr/>
          </p:nvSpPr>
          <p:spPr>
            <a:xfrm>
              <a:off x="1532890" y="1144270"/>
              <a:ext cx="367030" cy="647700"/>
            </a:xfrm>
            <a:custGeom>
              <a:avLst/>
              <a:gdLst/>
              <a:ahLst/>
              <a:cxnLst/>
              <a:rect l="0" t="0" r="r" b="b"/>
              <a:pathLst>
                <a:path w="57800" h="102000">
                  <a:moveTo>
                    <a:pt x="57800" y="0"/>
                  </a:moveTo>
                  <a:lnTo>
                    <a:pt x="0" y="10200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!!sample-token-bond-9"/>
            <p:cNvSpPr/>
            <p:nvPr/>
          </p:nvSpPr>
          <p:spPr>
            <a:xfrm>
              <a:off x="626110" y="1705610"/>
              <a:ext cx="906780" cy="86360"/>
            </a:xfrm>
            <a:custGeom>
              <a:avLst/>
              <a:gdLst/>
              <a:ahLst/>
              <a:cxnLst/>
              <a:rect l="0" t="0" r="r" b="b"/>
              <a:pathLst>
                <a:path w="142800" h="13600">
                  <a:moveTo>
                    <a:pt x="142800" y="1360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!!sample-token-bond-10"/>
            <p:cNvSpPr/>
            <p:nvPr/>
          </p:nvSpPr>
          <p:spPr>
            <a:xfrm>
              <a:off x="237490" y="1101090"/>
              <a:ext cx="388620" cy="604520"/>
            </a:xfrm>
            <a:custGeom>
              <a:avLst/>
              <a:gdLst/>
              <a:ahLst/>
              <a:cxnLst/>
              <a:rect l="0" t="0" r="r" b="b"/>
              <a:pathLst>
                <a:path w="61200" h="95200">
                  <a:moveTo>
                    <a:pt x="61200" y="9520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!!sample-token-bond-11"/>
            <p:cNvSpPr/>
            <p:nvPr/>
          </p:nvSpPr>
          <p:spPr>
            <a:xfrm>
              <a:off x="237490" y="518160"/>
              <a:ext cx="237490" cy="582930"/>
            </a:xfrm>
            <a:custGeom>
              <a:avLst/>
              <a:gdLst/>
              <a:ahLst/>
              <a:cxnLst/>
              <a:rect l="0" t="0" r="r" b="b"/>
              <a:pathLst>
                <a:path w="37400" h="91800">
                  <a:moveTo>
                    <a:pt x="0" y="91800"/>
                  </a:moveTo>
                  <a:lnTo>
                    <a:pt x="37400" y="0"/>
                  </a:lnTo>
                </a:path>
              </a:pathLst>
            </a:custGeom>
            <a:noFill/>
            <a:ln w="12700">
              <a:solidFill>
                <a:srgbClr val="00766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!!sample-token-node-0"/>
            <p:cNvSpPr/>
            <p:nvPr/>
          </p:nvSpPr>
          <p:spPr>
            <a:xfrm>
              <a:off x="913257" y="913257"/>
              <a:ext cx="332486" cy="332486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BE5434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!!sample-token-node-1"/>
            <p:cNvSpPr/>
            <p:nvPr/>
          </p:nvSpPr>
          <p:spPr>
            <a:xfrm>
              <a:off x="401574" y="44475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!!sample-token-node-2"/>
            <p:cNvSpPr/>
            <p:nvPr/>
          </p:nvSpPr>
          <p:spPr>
            <a:xfrm>
              <a:off x="1589024" y="35839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!!sample-token-node-3"/>
            <p:cNvSpPr/>
            <p:nvPr/>
          </p:nvSpPr>
          <p:spPr>
            <a:xfrm>
              <a:off x="1826514" y="107086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!!sample-token-node-4"/>
            <p:cNvSpPr/>
            <p:nvPr/>
          </p:nvSpPr>
          <p:spPr>
            <a:xfrm>
              <a:off x="1459484" y="171856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!!sample-token-node-5"/>
            <p:cNvSpPr/>
            <p:nvPr/>
          </p:nvSpPr>
          <p:spPr>
            <a:xfrm>
              <a:off x="552704" y="163220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!!sample-token-node-6"/>
            <p:cNvSpPr/>
            <p:nvPr/>
          </p:nvSpPr>
          <p:spPr>
            <a:xfrm>
              <a:off x="164084" y="1027684"/>
              <a:ext cx="146812" cy="146812"/>
            </a:xfrm>
            <a:prstGeom prst="ellipse">
              <a:avLst/>
            </a:prstGeom>
            <a:gradFill rotWithShape="1">
              <a:gsLst>
                <a:gs pos="0">
                  <a:srgbClr val="D2E5DE"/>
                </a:gs>
                <a:gs pos="100000">
                  <a:srgbClr val="00766A"/>
                </a:gs>
              </a:gsLst>
              <a:lin ang="3300000" scaled="1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!!science-note-4"/>
          <p:cNvSpPr txBox="1"/>
          <p:nvPr/>
        </p:nvSpPr>
        <p:spPr>
          <a:xfrm>
            <a:off x="723900" y="5562600"/>
            <a:ext cx="107315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只改变一个因素，再观察它带来的响应。</a:t>
            </a:r>
          </a:p>
        </p:txBody>
      </p:sp>
      <p:sp>
        <p:nvSpPr>
          <p:cNvPr id="35" name="!!process-schematic-4"/>
          <p:cNvSpPr txBox="1"/>
          <p:nvPr/>
        </p:nvSpPr>
        <p:spPr>
          <a:xfrm>
            <a:off x="723900" y="60071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网络结构为程序化示意，不对应真实分子。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400" advTm="5500">
        <p159:morph option="byObject"/>
      </p:transition>
    </mc:Choice>
    <mc:Fallback>
      <p:transition xmlns:ns0="http://schemas.microsoft.com/office/powerpoint/2010/main" spd="fast" advClick="1" ns0:dur="1400" advTm="5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33333333 L 0.000000000 0.000000000 E" pathEditMode="relative" rAng="0">
                                      <p:cBhvr>
                                        <p:cTn id="8" dur="70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00000000 0.000000000 C 0.002013538 0.000000000 0.003645833 -0.003316409 0.003645833 -0.007407407 C 0.003645833 -0.011498406 0.002013538 -0.014814815 0.000000000 -0.014814815 C -0.002013538 -0.014814815 -0.003645833 -0.011498406 -0.003645833 -0.007407407 C -0.003645833 -0.003316409 -0.002013538 0.000000000 0.000000000 0.000000000  E" pathEditMode="relative" rAng="0">
                                      <p:cBhvr>
                                        <p:cTn id="10" dur="1800" fill="hold" accel="25000" decel="25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 accel="10000" decel="65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Motion origin="layout" path="M 0.000000000 0.011111111 L 0.000000000 0.000000000 E" pathEditMode="relative" rAng="0">
                                      <p:cBhvr>
                                        <p:cTn id="14" dur="500" fill="hold" accel="10000" decel="65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cience-brand"/>
          <p:cNvSpPr txBox="1"/>
          <p:nvPr/>
        </p:nvSpPr>
        <p:spPr>
          <a:xfrm>
            <a:off x="685800" y="444500"/>
            <a:ext cx="5080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115">
                <a:solidFill>
                  <a:srgbClr val="142B31"/>
                </a:solidFill>
                <a:latin typeface="Space Grotesk SemiBold"/>
                <a:ea typeface="Space Grotesk SemiBold"/>
                <a:cs typeface="Space Grotesk SemiBold"/>
              </a:rPr>
              <a:t>SCIENCE / MOTION</a:t>
            </a:r>
          </a:p>
        </p:txBody>
      </p:sp>
      <p:sp>
        <p:nvSpPr>
          <p:cNvPr id="3" name="!!science-folio-5"/>
          <p:cNvSpPr txBox="1"/>
          <p:nvPr/>
        </p:nvSpPr>
        <p:spPr>
          <a:xfrm>
            <a:off x="10160000" y="444500"/>
            <a:ext cx="13462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05 / 05</a:t>
            </a:r>
          </a:p>
        </p:txBody>
      </p:sp>
      <p:sp>
        <p:nvSpPr>
          <p:cNvPr id="4" name="!!science-rule"/>
          <p:cNvSpPr/>
          <p:nvPr/>
        </p:nvSpPr>
        <p:spPr>
          <a:xfrm>
            <a:off x="685800" y="901700"/>
            <a:ext cx="10820400" cy="6"/>
          </a:xfrm>
          <a:custGeom>
            <a:avLst/>
            <a:gdLst/>
            <a:ahLst/>
            <a:cxnLst/>
            <a:rect l="0" t="0" r="r" b="b"/>
            <a:pathLst>
              <a:path w="1704000" h="1">
                <a:moveTo>
                  <a:pt x="0" y="0"/>
                </a:moveTo>
                <a:lnTo>
                  <a:pt x="1704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cience-source"/>
          <p:cNvSpPr txBox="1"/>
          <p:nvPr/>
        </p:nvSpPr>
        <p:spPr>
          <a:xfrm>
            <a:off x="711200" y="6375400"/>
            <a:ext cx="952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模拟数据与流程示意，仅用于演示；不代表实验结果。</a:t>
            </a:r>
          </a:p>
        </p:txBody>
      </p:sp>
      <p:sp>
        <p:nvSpPr>
          <p:cNvPr id="6" name="!!science-title-5"/>
          <p:cNvSpPr txBox="1"/>
          <p:nvPr/>
        </p:nvSpPr>
        <p:spPr>
          <a:xfrm>
            <a:off x="685800" y="2006600"/>
            <a:ext cx="4508500" cy="190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545"/>
              </a:lnSpc>
              <a:spcBef>
                <a:spcPts val="0"/>
              </a:spcBef>
              <a:spcAft>
                <a:spcPts val="0"/>
              </a:spcAft>
            </a:pPr>
            <a:r>
              <a:rPr sz="47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把离散程度</a:t>
            </a:r>
          </a:p>
          <a:p>
            <a:pPr algn="l">
              <a:lnSpc>
                <a:spcPts val="5545"/>
              </a:lnSpc>
              <a:spcBef>
                <a:spcPts val="0"/>
              </a:spcBef>
              <a:spcAft>
                <a:spcPts val="0"/>
              </a:spcAft>
            </a:pPr>
            <a:r>
              <a:rPr sz="4700" b="1" spc="0">
                <a:solidFill>
                  <a:srgbClr val="142B31"/>
                </a:solidFill>
                <a:latin typeface="Noto Serif CJK SC"/>
                <a:ea typeface="Noto Serif CJK SC"/>
                <a:cs typeface="Noto Serif CJK SC"/>
              </a:rPr>
              <a:t>也交代清楚。</a:t>
            </a:r>
          </a:p>
        </p:txBody>
      </p:sp>
      <p:sp>
        <p:nvSpPr>
          <p:cNvPr id="7" name="!!science-note-5"/>
          <p:cNvSpPr txBox="1"/>
          <p:nvPr/>
        </p:nvSpPr>
        <p:spPr>
          <a:xfrm>
            <a:off x="723900" y="4635500"/>
            <a:ext cx="4381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每个点是一条观测。</a:t>
            </a:r>
          </a:p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中位数和分布一起看。</a:t>
            </a:r>
          </a:p>
        </p:txBody>
      </p:sp>
      <p:sp>
        <p:nvSpPr>
          <p:cNvPr id="8" name="!!distribution-grid-0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distribution-tick-0"/>
          <p:cNvSpPr txBox="1"/>
          <p:nvPr/>
        </p:nvSpPr>
        <p:spPr>
          <a:xfrm>
            <a:off x="5207000" y="501650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0</a:t>
            </a:r>
          </a:p>
        </p:txBody>
      </p:sp>
      <p:sp>
        <p:nvSpPr>
          <p:cNvPr id="10" name="!!distribution-grid-1"/>
          <p:cNvSpPr/>
          <p:nvPr/>
        </p:nvSpPr>
        <p:spPr>
          <a:xfrm>
            <a:off x="5842000" y="4468812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distribution-tick-1"/>
          <p:cNvSpPr txBox="1"/>
          <p:nvPr/>
        </p:nvSpPr>
        <p:spPr>
          <a:xfrm>
            <a:off x="5207000" y="4341812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20</a:t>
            </a:r>
          </a:p>
        </p:txBody>
      </p:sp>
      <p:sp>
        <p:nvSpPr>
          <p:cNvPr id="12" name="!!distribution-grid-2"/>
          <p:cNvSpPr/>
          <p:nvPr/>
        </p:nvSpPr>
        <p:spPr>
          <a:xfrm>
            <a:off x="5842000" y="3794125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distribution-tick-2"/>
          <p:cNvSpPr txBox="1"/>
          <p:nvPr/>
        </p:nvSpPr>
        <p:spPr>
          <a:xfrm>
            <a:off x="5207000" y="3667125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40</a:t>
            </a:r>
          </a:p>
        </p:txBody>
      </p:sp>
      <p:sp>
        <p:nvSpPr>
          <p:cNvPr id="14" name="!!distribution-grid-3"/>
          <p:cNvSpPr/>
          <p:nvPr/>
        </p:nvSpPr>
        <p:spPr>
          <a:xfrm>
            <a:off x="5842000" y="3119438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distribution-tick-3"/>
          <p:cNvSpPr txBox="1"/>
          <p:nvPr/>
        </p:nvSpPr>
        <p:spPr>
          <a:xfrm>
            <a:off x="5207000" y="2992438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60</a:t>
            </a:r>
          </a:p>
        </p:txBody>
      </p:sp>
      <p:sp>
        <p:nvSpPr>
          <p:cNvPr id="16" name="!!distribution-grid-4"/>
          <p:cNvSpPr/>
          <p:nvPr/>
        </p:nvSpPr>
        <p:spPr>
          <a:xfrm>
            <a:off x="5842000" y="244475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9525"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distribution-tick-4"/>
          <p:cNvSpPr txBox="1"/>
          <p:nvPr/>
        </p:nvSpPr>
        <p:spPr>
          <a:xfrm>
            <a:off x="5207000" y="2317750"/>
            <a:ext cx="4762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536867"/>
                </a:solidFill>
                <a:latin typeface="Space Grotesk SemiBold"/>
                <a:ea typeface="Space Grotesk SemiBold"/>
                <a:cs typeface="Space Grotesk SemiBold"/>
              </a:rPr>
              <a:t>80</a:t>
            </a:r>
          </a:p>
        </p:txBody>
      </p:sp>
      <p:sp>
        <p:nvSpPr>
          <p:cNvPr id="18" name="!!distribution-baseline"/>
          <p:cNvSpPr/>
          <p:nvPr/>
        </p:nvSpPr>
        <p:spPr>
          <a:xfrm>
            <a:off x="5842000" y="5143500"/>
            <a:ext cx="5080000" cy="6"/>
          </a:xfrm>
          <a:custGeom>
            <a:avLst/>
            <a:gdLst/>
            <a:ahLst/>
            <a:cxnLst/>
            <a:rect l="0" t="0" r="r" b="b"/>
            <a:pathLst>
              <a:path w="800000" h="1">
                <a:moveTo>
                  <a:pt x="0" y="0"/>
                </a:moveTo>
                <a:lnTo>
                  <a:pt x="800000" y="0"/>
                </a:lnTo>
              </a:path>
            </a:pathLst>
          </a:custGeom>
          <a:noFill/>
          <a:ln w="12700">
            <a:solidFill>
              <a:srgbClr val="142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distribution-unit"/>
          <p:cNvSpPr txBox="1"/>
          <p:nvPr/>
        </p:nvSpPr>
        <p:spPr>
          <a:xfrm>
            <a:off x="5842000" y="1651000"/>
            <a:ext cx="1905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观测值（a.u.）</a:t>
            </a:r>
          </a:p>
        </p:txBody>
      </p:sp>
      <p:sp>
        <p:nvSpPr>
          <p:cNvPr id="20" name="!!distribution-iqr-0"/>
          <p:cNvSpPr/>
          <p:nvPr/>
        </p:nvSpPr>
        <p:spPr>
          <a:xfrm>
            <a:off x="6616700" y="3144738"/>
            <a:ext cx="990600" cy="160238"/>
          </a:xfrm>
          <a:prstGeom prst="rect">
            <a:avLst/>
          </a:prstGeom>
          <a:solidFill>
            <a:srgbClr val="D2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distribution-observation-0-0"/>
          <p:cNvSpPr/>
          <p:nvPr/>
        </p:nvSpPr>
        <p:spPr>
          <a:xfrm>
            <a:off x="6762750" y="3243659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distribution-observation-0-1"/>
          <p:cNvSpPr/>
          <p:nvPr/>
        </p:nvSpPr>
        <p:spPr>
          <a:xfrm>
            <a:off x="7200900" y="3108722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distribution-observation-0-2"/>
          <p:cNvSpPr/>
          <p:nvPr/>
        </p:nvSpPr>
        <p:spPr>
          <a:xfrm>
            <a:off x="6991350" y="3378597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distribution-observation-0-3"/>
          <p:cNvSpPr/>
          <p:nvPr/>
        </p:nvSpPr>
        <p:spPr>
          <a:xfrm>
            <a:off x="7366000" y="3007519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distribution-observation-0-4"/>
          <p:cNvSpPr/>
          <p:nvPr/>
        </p:nvSpPr>
        <p:spPr>
          <a:xfrm>
            <a:off x="6870700" y="3142456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distribution-observation-0-5"/>
          <p:cNvSpPr/>
          <p:nvPr/>
        </p:nvSpPr>
        <p:spPr>
          <a:xfrm>
            <a:off x="7092950" y="3311128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distribution-observation-0-6"/>
          <p:cNvSpPr/>
          <p:nvPr/>
        </p:nvSpPr>
        <p:spPr>
          <a:xfrm>
            <a:off x="7296150" y="3209925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distribution-observation-0-7"/>
          <p:cNvSpPr/>
          <p:nvPr/>
        </p:nvSpPr>
        <p:spPr>
          <a:xfrm>
            <a:off x="7035800" y="3074988"/>
            <a:ext cx="88900" cy="88900"/>
          </a:xfrm>
          <a:prstGeom prst="ellipse">
            <a:avLst/>
          </a:prstGeom>
          <a:solidFill>
            <a:srgbClr val="007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distribution-category-0"/>
          <p:cNvSpPr txBox="1"/>
          <p:nvPr/>
        </p:nvSpPr>
        <p:spPr>
          <a:xfrm>
            <a:off x="5969000" y="5308600"/>
            <a:ext cx="2286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条件 A</a:t>
            </a:r>
          </a:p>
        </p:txBody>
      </p:sp>
      <p:sp>
        <p:nvSpPr>
          <p:cNvPr id="30" name="!!distribution-median-0"/>
          <p:cNvSpPr/>
          <p:nvPr/>
        </p:nvSpPr>
        <p:spPr>
          <a:xfrm>
            <a:off x="6540500" y="3220641"/>
            <a:ext cx="1143000" cy="6"/>
          </a:xfrm>
          <a:custGeom>
            <a:avLst/>
            <a:gdLst/>
            <a:ahLst/>
            <a:cxnLst/>
            <a:rect l="0" t="0" r="r" b="b"/>
            <a:pathLst>
              <a:path w="180000" h="1">
                <a:moveTo>
                  <a:pt x="0" y="0"/>
                </a:moveTo>
                <a:lnTo>
                  <a:pt x="180000" y="0"/>
                </a:lnTo>
              </a:path>
            </a:pathLst>
          </a:custGeom>
          <a:noFill/>
          <a:ln w="31750">
            <a:solidFill>
              <a:srgbClr val="007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distribution-median-label-0"/>
          <p:cNvSpPr txBox="1"/>
          <p:nvPr/>
        </p:nvSpPr>
        <p:spPr>
          <a:xfrm>
            <a:off x="6096000" y="2639219"/>
            <a:ext cx="2032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中位数 57</a:t>
            </a:r>
          </a:p>
        </p:txBody>
      </p:sp>
      <p:sp>
        <p:nvSpPr>
          <p:cNvPr id="32" name="!!distribution-iqr-1"/>
          <p:cNvSpPr/>
          <p:nvPr/>
        </p:nvSpPr>
        <p:spPr>
          <a:xfrm>
            <a:off x="9156700" y="3912195"/>
            <a:ext cx="990600" cy="126504"/>
          </a:xfrm>
          <a:prstGeom prst="rect">
            <a:avLst/>
          </a:prstGeom>
          <a:solidFill>
            <a:srgbClr val="D2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distribution-observation-1-0"/>
          <p:cNvSpPr/>
          <p:nvPr/>
        </p:nvSpPr>
        <p:spPr>
          <a:xfrm>
            <a:off x="9302750" y="3952081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distribution-observation-1-1"/>
          <p:cNvSpPr/>
          <p:nvPr/>
        </p:nvSpPr>
        <p:spPr>
          <a:xfrm>
            <a:off x="9740900" y="4053284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distribution-observation-1-2"/>
          <p:cNvSpPr/>
          <p:nvPr/>
        </p:nvSpPr>
        <p:spPr>
          <a:xfrm>
            <a:off x="9531350" y="3817144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distribution-observation-1-3"/>
          <p:cNvSpPr/>
          <p:nvPr/>
        </p:nvSpPr>
        <p:spPr>
          <a:xfrm>
            <a:off x="9906000" y="3884612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distribution-observation-1-4"/>
          <p:cNvSpPr/>
          <p:nvPr/>
        </p:nvSpPr>
        <p:spPr>
          <a:xfrm>
            <a:off x="9410700" y="4019550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distribution-observation-1-5"/>
          <p:cNvSpPr/>
          <p:nvPr/>
        </p:nvSpPr>
        <p:spPr>
          <a:xfrm>
            <a:off x="9632950" y="3749675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distribution-observation-1-6"/>
          <p:cNvSpPr/>
          <p:nvPr/>
        </p:nvSpPr>
        <p:spPr>
          <a:xfrm>
            <a:off x="9836150" y="3918347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distribution-observation-1-7"/>
          <p:cNvSpPr/>
          <p:nvPr/>
        </p:nvSpPr>
        <p:spPr>
          <a:xfrm>
            <a:off x="9575800" y="3985816"/>
            <a:ext cx="88900" cy="88900"/>
          </a:xfrm>
          <a:prstGeom prst="ellipse">
            <a:avLst/>
          </a:prstGeom>
          <a:solidFill>
            <a:srgbClr val="BE5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distribution-category-1"/>
          <p:cNvSpPr txBox="1"/>
          <p:nvPr/>
        </p:nvSpPr>
        <p:spPr>
          <a:xfrm>
            <a:off x="8509000" y="5308600"/>
            <a:ext cx="2286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条件 B</a:t>
            </a:r>
          </a:p>
        </p:txBody>
      </p:sp>
      <p:sp>
        <p:nvSpPr>
          <p:cNvPr id="42" name="!!distribution-median-1"/>
          <p:cNvSpPr/>
          <p:nvPr/>
        </p:nvSpPr>
        <p:spPr>
          <a:xfrm>
            <a:off x="9080500" y="3979664"/>
            <a:ext cx="1143000" cy="6"/>
          </a:xfrm>
          <a:custGeom>
            <a:avLst/>
            <a:gdLst/>
            <a:ahLst/>
            <a:cxnLst/>
            <a:rect l="0" t="0" r="r" b="b"/>
            <a:pathLst>
              <a:path w="180000" h="1">
                <a:moveTo>
                  <a:pt x="0" y="0"/>
                </a:moveTo>
                <a:lnTo>
                  <a:pt x="180000" y="0"/>
                </a:lnTo>
              </a:path>
            </a:pathLst>
          </a:custGeom>
          <a:noFill/>
          <a:ln w="31750">
            <a:solidFill>
              <a:srgbClr val="BE5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distribution-median-label-1"/>
          <p:cNvSpPr txBox="1"/>
          <p:nvPr/>
        </p:nvSpPr>
        <p:spPr>
          <a:xfrm>
            <a:off x="8636000" y="3381375"/>
            <a:ext cx="20320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0" spc="0">
                <a:solidFill>
                  <a:srgbClr val="142B31"/>
                </a:solidFill>
                <a:latin typeface="Noto Sans CJK SC"/>
                <a:ea typeface="Noto Sans CJK SC"/>
                <a:cs typeface="Noto Sans CJK SC"/>
              </a:rPr>
              <a:t>中位数 34.5</a:t>
            </a:r>
          </a:p>
        </p:txBody>
      </p:sp>
      <p:sp>
        <p:nvSpPr>
          <p:cNvPr id="44" name="!!distribution-legend"/>
          <p:cNvSpPr txBox="1"/>
          <p:nvPr/>
        </p:nvSpPr>
        <p:spPr>
          <a:xfrm>
            <a:off x="5810250" y="5715000"/>
            <a:ext cx="5619750" cy="317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536867"/>
                </a:solidFill>
                <a:latin typeface="Noto Sans CJK SC"/>
                <a:ea typeface="Noto Sans CJK SC"/>
                <a:cs typeface="Noto Sans CJK SC"/>
              </a:rPr>
              <a:t>色块：四分位区间  ·  短线：中位数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="M 0.000000000 0.033333333 L 0.000000000 0.000000000 E" pathEditMode="relative" rAng="0">
                                      <p:cBhvr>
                                        <p:cTn id="8" dur="700" fill="hold" accel="10000" decel="65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="M 0.000000000 0.011111111 L 0.000000000 0.000000000 E" pathEditMode="relative" rAng="0">
                                      <p:cBhvr>
                                        <p:cTn id="12" dur="50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80" fill="hold" accel="10000" decel="65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80" fill="hold" accel="10000" decel="65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80" fill="hold" accel="10000" decel="65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80" fill="hold" accel="10000" decel="6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 fill="hold" accel="10000" decel="65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80" fill="hold" accel="10000" decel="65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80" fill="hold" accel="10000" decel="65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80" fill="hold" accel="10000" decel="65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80" fill="hold" accel="10000" decel="65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80" fill="hold" accel="10000" decel="65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80" fill="hold" accel="10000" decel="65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80" fill="hold" accel="10000" decel="65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80" fill="hold" accel="10000" decel="65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80" fill="hold" accel="10000" decel="65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17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80" fill="hold" accel="10000" decel="65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80" fill="hold" accel="10000" decel="65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 fill="hold" accel="10000" decel="65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 fill="hold" accel="10000" decel="65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227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 fill="hold" accel="10000" decel="65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 fill="hold" accel="10000" decel="65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 fill="hold" accel="10000" decel="65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227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 fill="hold" accel="10000" decel="65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/ Motion · 动态图表与科研流程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