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duct-compare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PRODUCT / EDITABLE PRESENTATION</a:t>
            </a:r>
          </a:p>
        </p:txBody>
      </p:sp>
      <p:sp>
        <p:nvSpPr>
          <p:cNvPr id="3" name="!!product-compare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01 / 03</a:t>
            </a:r>
          </a:p>
        </p:txBody>
      </p:sp>
      <p:sp>
        <p:nvSpPr>
          <p:cNvPr id="4" name="!!product-compare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-compare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duct-heading-a"/>
          <p:cNvSpPr txBox="1"/>
          <p:nvPr/>
        </p:nvSpPr>
        <p:spPr>
          <a:xfrm>
            <a:off x="685800" y="1168400"/>
            <a:ext cx="4889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内容的变化，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在同一页看清。</a:t>
            </a:r>
          </a:p>
        </p:txBody>
      </p:sp>
      <p:sp>
        <p:nvSpPr>
          <p:cNvPr id="7" name="!!product-purpose"/>
          <p:cNvSpPr txBox="1"/>
          <p:nvPr/>
        </p:nvSpPr>
        <p:spPr>
          <a:xfrm>
            <a:off x="711200" y="2667000"/>
            <a:ext cx="45720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用原生对象组织信息，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让每次修改都能继续编辑。</a:t>
            </a:r>
          </a:p>
        </p:txBody>
      </p:sp>
      <p:sp>
        <p:nvSpPr>
          <p:cNvPr id="8" name="!!product-token"/>
          <p:cNvSpPr/>
          <p:nvPr/>
        </p:nvSpPr>
        <p:spPr>
          <a:xfrm>
            <a:off x="952500" y="3937000"/>
            <a:ext cx="1397000" cy="952500"/>
          </a:xfrm>
          <a:prstGeom prst="roundRect">
            <a:avLst>
              <a:gd name="adj" fmla="val 12000"/>
            </a:avLst>
          </a:prstGeom>
          <a:solidFill>
            <a:srgbClr val="446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duct-token-caption"/>
          <p:cNvSpPr txBox="1"/>
          <p:nvPr/>
        </p:nvSpPr>
        <p:spPr>
          <a:xfrm>
            <a:off x="762000" y="5016500"/>
            <a:ext cx="279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一个可编辑主体</a:t>
            </a:r>
          </a:p>
        </p:txBody>
      </p:sp>
      <p:sp>
        <p:nvSpPr>
          <p:cNvPr id="10" name="!!revision-grid-0"/>
          <p:cNvSpPr/>
          <p:nvPr/>
        </p:nvSpPr>
        <p:spPr>
          <a:xfrm>
            <a:off x="6350000" y="41275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evision-tick-0"/>
          <p:cNvSpPr txBox="1"/>
          <p:nvPr/>
        </p:nvSpPr>
        <p:spPr>
          <a:xfrm>
            <a:off x="5715000" y="4000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2" name="!!revision-grid-1"/>
          <p:cNvSpPr/>
          <p:nvPr/>
        </p:nvSpPr>
        <p:spPr>
          <a:xfrm>
            <a:off x="6350000" y="365125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revision-tick-1"/>
          <p:cNvSpPr txBox="1"/>
          <p:nvPr/>
        </p:nvSpPr>
        <p:spPr>
          <a:xfrm>
            <a:off x="5715000" y="35242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25</a:t>
            </a:r>
          </a:p>
        </p:txBody>
      </p:sp>
      <p:sp>
        <p:nvSpPr>
          <p:cNvPr id="14" name="!!revision-grid-2"/>
          <p:cNvSpPr/>
          <p:nvPr/>
        </p:nvSpPr>
        <p:spPr>
          <a:xfrm>
            <a:off x="6350000" y="31750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revision-tick-2"/>
          <p:cNvSpPr txBox="1"/>
          <p:nvPr/>
        </p:nvSpPr>
        <p:spPr>
          <a:xfrm>
            <a:off x="5715000" y="30480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50</a:t>
            </a:r>
          </a:p>
        </p:txBody>
      </p:sp>
      <p:sp>
        <p:nvSpPr>
          <p:cNvPr id="16" name="!!revision-grid-3"/>
          <p:cNvSpPr/>
          <p:nvPr/>
        </p:nvSpPr>
        <p:spPr>
          <a:xfrm>
            <a:off x="6350000" y="269875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revision-tick-3"/>
          <p:cNvSpPr txBox="1"/>
          <p:nvPr/>
        </p:nvSpPr>
        <p:spPr>
          <a:xfrm>
            <a:off x="5715000" y="2571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75</a:t>
            </a:r>
          </a:p>
        </p:txBody>
      </p:sp>
      <p:sp>
        <p:nvSpPr>
          <p:cNvPr id="18" name="!!revision-grid-4"/>
          <p:cNvSpPr/>
          <p:nvPr/>
        </p:nvSpPr>
        <p:spPr>
          <a:xfrm>
            <a:off x="6350000" y="22225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revision-tick-4"/>
          <p:cNvSpPr txBox="1"/>
          <p:nvPr/>
        </p:nvSpPr>
        <p:spPr>
          <a:xfrm>
            <a:off x="5715000" y="2095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100</a:t>
            </a:r>
          </a:p>
        </p:txBody>
      </p:sp>
      <p:sp>
        <p:nvSpPr>
          <p:cNvPr id="20" name="!!revision-baseline"/>
          <p:cNvSpPr/>
          <p:nvPr/>
        </p:nvSpPr>
        <p:spPr>
          <a:xfrm>
            <a:off x="6350000" y="41275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revision-unit"/>
          <p:cNvSpPr txBox="1"/>
          <p:nvPr/>
        </p:nvSpPr>
        <p:spPr>
          <a:xfrm>
            <a:off x="6350000" y="142875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示例耗时</a:t>
            </a:r>
          </a:p>
        </p:txBody>
      </p:sp>
      <p:sp>
        <p:nvSpPr>
          <p:cNvPr id="22" name="!!revision-bar-0"/>
          <p:cNvSpPr/>
          <p:nvPr/>
        </p:nvSpPr>
        <p:spPr>
          <a:xfrm>
            <a:off x="6764338" y="2755900"/>
            <a:ext cx="600075" cy="13716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revision-category-0"/>
          <p:cNvSpPr txBox="1"/>
          <p:nvPr/>
        </p:nvSpPr>
        <p:spPr>
          <a:xfrm>
            <a:off x="6421438" y="4292600"/>
            <a:ext cx="1285875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拆散重做</a:t>
            </a:r>
          </a:p>
        </p:txBody>
      </p:sp>
      <p:sp>
        <p:nvSpPr>
          <p:cNvPr id="24" name="!!revision-value-0"/>
          <p:cNvSpPr txBox="1"/>
          <p:nvPr/>
        </p:nvSpPr>
        <p:spPr>
          <a:xfrm>
            <a:off x="6461125" y="233680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72</a:t>
            </a:r>
          </a:p>
        </p:txBody>
      </p:sp>
      <p:sp>
        <p:nvSpPr>
          <p:cNvPr id="25" name="!!revision-bar-1"/>
          <p:cNvSpPr/>
          <p:nvPr/>
        </p:nvSpPr>
        <p:spPr>
          <a:xfrm>
            <a:off x="8193088" y="3441700"/>
            <a:ext cx="600075" cy="685800"/>
          </a:xfrm>
          <a:prstGeom prst="rect">
            <a:avLst/>
          </a:prstGeom>
          <a:solidFill>
            <a:srgbClr val="B35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revision-category-1"/>
          <p:cNvSpPr txBox="1"/>
          <p:nvPr/>
        </p:nvSpPr>
        <p:spPr>
          <a:xfrm>
            <a:off x="7850188" y="4292600"/>
            <a:ext cx="1285875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保留对象</a:t>
            </a:r>
          </a:p>
        </p:txBody>
      </p:sp>
      <p:sp>
        <p:nvSpPr>
          <p:cNvPr id="27" name="!!revision-value-1"/>
          <p:cNvSpPr txBox="1"/>
          <p:nvPr/>
        </p:nvSpPr>
        <p:spPr>
          <a:xfrm>
            <a:off x="7889875" y="302260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36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000 0.000000000 C 0.002761424 0.000000000 0.005000000 -0.003482230 0.005000000 -0.007777778 C 0.005000000 -0.012073326 0.002761424 -0.015555556 0.000000000 -0.015555556 C -0.002761424 -0.015555556 -0.005000000 -0.012073326 -0.005000000 -0.007777778 C -0.005000000 -0.003482230 -0.002761424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10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10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duct-connect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PRODUCT / SAME OBJECT</a:t>
            </a:r>
          </a:p>
        </p:txBody>
      </p:sp>
      <p:sp>
        <p:nvSpPr>
          <p:cNvPr id="3" name="!!product-connect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02 / 03</a:t>
            </a:r>
          </a:p>
        </p:txBody>
      </p:sp>
      <p:sp>
        <p:nvSpPr>
          <p:cNvPr id="4" name="!!product-connect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-connect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duct-heading-b"/>
          <p:cNvSpPr txBox="1"/>
          <p:nvPr/>
        </p:nvSpPr>
        <p:spPr>
          <a:xfrm>
            <a:off x="685800" y="1143000"/>
            <a:ext cx="8572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同一份内容，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延续同一个主体。</a:t>
            </a:r>
          </a:p>
        </p:txBody>
      </p:sp>
      <p:sp>
        <p:nvSpPr>
          <p:cNvPr id="7" name="!!product-flow-step-0"/>
          <p:cNvSpPr txBox="1"/>
          <p:nvPr/>
        </p:nvSpPr>
        <p:spPr>
          <a:xfrm>
            <a:off x="762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源内容</a:t>
            </a:r>
          </a:p>
        </p:txBody>
      </p:sp>
      <p:sp>
        <p:nvSpPr>
          <p:cNvPr id="8" name="!!product-flow-link-0"/>
          <p:cNvSpPr/>
          <p:nvPr/>
        </p:nvSpPr>
        <p:spPr>
          <a:xfrm>
            <a:off x="2667000" y="38735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duct-flow-step-1"/>
          <p:cNvSpPr txBox="1"/>
          <p:nvPr/>
        </p:nvSpPr>
        <p:spPr>
          <a:xfrm>
            <a:off x="4064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动作编排</a:t>
            </a:r>
          </a:p>
        </p:txBody>
      </p:sp>
      <p:sp>
        <p:nvSpPr>
          <p:cNvPr id="10" name="!!product-flow-link-1"/>
          <p:cNvSpPr/>
          <p:nvPr/>
        </p:nvSpPr>
        <p:spPr>
          <a:xfrm>
            <a:off x="5969000" y="38735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duct-flow-step-2"/>
          <p:cNvSpPr txBox="1"/>
          <p:nvPr/>
        </p:nvSpPr>
        <p:spPr>
          <a:xfrm>
            <a:off x="7366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原生输出</a:t>
            </a:r>
          </a:p>
        </p:txBody>
      </p:sp>
      <p:sp>
        <p:nvSpPr>
          <p:cNvPr id="12" name="!!product-token"/>
          <p:cNvSpPr/>
          <p:nvPr/>
        </p:nvSpPr>
        <p:spPr>
          <a:xfrm>
            <a:off x="7556500" y="3302000"/>
            <a:ext cx="1714500" cy="1143000"/>
          </a:xfrm>
          <a:prstGeom prst="roundRect">
            <a:avLst>
              <a:gd name="adj" fmla="val 11111"/>
            </a:avLst>
          </a:prstGeom>
          <a:solidFill>
            <a:srgbClr val="446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duct-flow-note"/>
          <p:cNvSpPr txBox="1"/>
          <p:nvPr/>
        </p:nvSpPr>
        <p:spPr>
          <a:xfrm>
            <a:off x="711200" y="479425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位置与尺度跨页衔接，动作结束后留出阅读时间。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761424 0.000000000 0.005000000 -0.003482230 0.005000000 -0.007777778 C 0.005000000 -0.012073326 0.002761424 -0.015555556 0.000000000 -0.015555556 C -0.002761424 -0.015555556 -0.005000000 -0.012073326 -0.005000000 -0.007777778 C -0.005000000 -0.003482230 -0.002761424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duct-deliver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PRODUCT / HANDOFF</a:t>
            </a:r>
          </a:p>
        </p:txBody>
      </p:sp>
      <p:sp>
        <p:nvSpPr>
          <p:cNvPr id="3" name="!!product-deliver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03 / 03</a:t>
            </a:r>
          </a:p>
        </p:txBody>
      </p:sp>
      <p:sp>
        <p:nvSpPr>
          <p:cNvPr id="4" name="!!product-deliver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-deliver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duct-heading-c"/>
          <p:cNvSpPr txBox="1"/>
          <p:nvPr/>
        </p:nvSpPr>
        <p:spPr>
          <a:xfrm>
            <a:off x="685800" y="1168400"/>
            <a:ext cx="8699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交付之后，仍能继续修改。</a:t>
            </a:r>
          </a:p>
        </p:txBody>
      </p:sp>
      <p:sp>
        <p:nvSpPr>
          <p:cNvPr id="7" name="!!product-three-note"/>
          <p:cNvSpPr txBox="1"/>
          <p:nvPr/>
        </p:nvSpPr>
        <p:spPr>
          <a:xfrm>
            <a:off x="711200" y="2000250"/>
            <a:ext cx="8636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让内容、动作和检查记录一起留下。</a:t>
            </a:r>
          </a:p>
        </p:txBody>
      </p:sp>
      <p:sp>
        <p:nvSpPr>
          <p:cNvPr id="8" name="!!product-card-0"/>
          <p:cNvSpPr/>
          <p:nvPr/>
        </p:nvSpPr>
        <p:spPr>
          <a:xfrm>
            <a:off x="685800" y="2806700"/>
            <a:ext cx="27622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duct-feature-0"/>
          <p:cNvSpPr txBox="1"/>
          <p:nvPr/>
        </p:nvSpPr>
        <p:spPr>
          <a:xfrm>
            <a:off x="863600" y="3098800"/>
            <a:ext cx="238125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保留原生对象</a:t>
            </a:r>
          </a:p>
        </p:txBody>
      </p:sp>
      <p:sp>
        <p:nvSpPr>
          <p:cNvPr id="10" name="!!product-detail-0"/>
          <p:cNvSpPr txBox="1"/>
          <p:nvPr/>
        </p:nvSpPr>
        <p:spPr>
          <a:xfrm>
            <a:off x="863600" y="3746500"/>
            <a:ext cx="2381250" cy="730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文字、图形与动画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可以分别编辑。</a:t>
            </a:r>
          </a:p>
        </p:txBody>
      </p:sp>
      <p:sp>
        <p:nvSpPr>
          <p:cNvPr id="11" name="!!product-card-1"/>
          <p:cNvSpPr/>
          <p:nvPr/>
        </p:nvSpPr>
        <p:spPr>
          <a:xfrm>
            <a:off x="3702050" y="2806700"/>
            <a:ext cx="27622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duct-feature-1"/>
          <p:cNvSpPr txBox="1"/>
          <p:nvPr/>
        </p:nvSpPr>
        <p:spPr>
          <a:xfrm>
            <a:off x="3879850" y="3098800"/>
            <a:ext cx="238125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按讲解展开</a:t>
            </a:r>
          </a:p>
        </p:txBody>
      </p:sp>
      <p:sp>
        <p:nvSpPr>
          <p:cNvPr id="13" name="!!product-detail-1"/>
          <p:cNvSpPr txBox="1"/>
          <p:nvPr/>
        </p:nvSpPr>
        <p:spPr>
          <a:xfrm>
            <a:off x="3879850" y="3746500"/>
            <a:ext cx="2381250" cy="730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用少量语义点击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组织信息顺序。</a:t>
            </a:r>
          </a:p>
        </p:txBody>
      </p:sp>
      <p:sp>
        <p:nvSpPr>
          <p:cNvPr id="14" name="!!product-card-2"/>
          <p:cNvSpPr/>
          <p:nvPr/>
        </p:nvSpPr>
        <p:spPr>
          <a:xfrm>
            <a:off x="6718300" y="2806700"/>
            <a:ext cx="27622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product-feature-2"/>
          <p:cNvSpPr txBox="1"/>
          <p:nvPr/>
        </p:nvSpPr>
        <p:spPr>
          <a:xfrm>
            <a:off x="6896100" y="3098800"/>
            <a:ext cx="238125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按版本复核</a:t>
            </a:r>
          </a:p>
        </p:txBody>
      </p:sp>
      <p:sp>
        <p:nvSpPr>
          <p:cNvPr id="16" name="!!product-detail-2"/>
          <p:cNvSpPr txBox="1"/>
          <p:nvPr/>
        </p:nvSpPr>
        <p:spPr>
          <a:xfrm>
            <a:off x="6896100" y="3746500"/>
            <a:ext cx="2381250" cy="730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源稿、PPT 与录像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各自绑定校验值。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 accel="1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 accel="1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 accel="1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 accel="1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产品介绍 · 原生演示示例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