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160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gress-overview-section"/>
          <p:cNvSpPr txBox="1"/>
          <p:nvPr/>
        </p:nvSpPr>
        <p:spPr>
          <a:xfrm>
            <a:off x="685800" y="393700"/>
            <a:ext cx="5715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PROJECT / STATUS</a:t>
            </a:r>
          </a:p>
        </p:txBody>
      </p:sp>
      <p:sp>
        <p:nvSpPr>
          <p:cNvPr id="3" name="!!progress-overview-page"/>
          <p:cNvSpPr txBox="1"/>
          <p:nvPr/>
        </p:nvSpPr>
        <p:spPr>
          <a:xfrm>
            <a:off x="8477250" y="393700"/>
            <a:ext cx="1016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01 / 03</a:t>
            </a:r>
          </a:p>
        </p:txBody>
      </p:sp>
      <p:sp>
        <p:nvSpPr>
          <p:cNvPr id="4" name="!!progress-overview-rule"/>
          <p:cNvSpPr/>
          <p:nvPr/>
        </p:nvSpPr>
        <p:spPr>
          <a:xfrm>
            <a:off x="685800" y="73660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825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gress-overview-disclaimer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模拟数据与流程示意，仅用于演示；请替换为核实后的内容。</a:t>
            </a:r>
          </a:p>
        </p:txBody>
      </p:sp>
      <p:sp>
        <p:nvSpPr>
          <p:cNvPr id="6" name="!!progress-heading-a"/>
          <p:cNvSpPr txBox="1"/>
          <p:nvPr/>
        </p:nvSpPr>
        <p:spPr>
          <a:xfrm>
            <a:off x="685800" y="1168400"/>
            <a:ext cx="4127500" cy="1238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阶段进展，</a:t>
            </a:r>
          </a:p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用同一尺度比较。</a:t>
            </a:r>
          </a:p>
        </p:txBody>
      </p:sp>
      <p:sp>
        <p:nvSpPr>
          <p:cNvPr id="7" name="!!progress-purpose"/>
          <p:cNvSpPr txBox="1"/>
          <p:nvPr/>
        </p:nvSpPr>
        <p:spPr>
          <a:xfrm>
            <a:off x="711200" y="2667000"/>
            <a:ext cx="4254500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先看已完成的工作，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再看需要推进的环节。</a:t>
            </a:r>
          </a:p>
        </p:txBody>
      </p:sp>
      <p:sp>
        <p:nvSpPr>
          <p:cNvPr id="8" name="!!delivery-marker"/>
          <p:cNvSpPr/>
          <p:nvPr/>
        </p:nvSpPr>
        <p:spPr>
          <a:xfrm>
            <a:off x="1079500" y="3937000"/>
            <a:ext cx="889000" cy="889000"/>
          </a:xfrm>
          <a:prstGeom prst="ellipse">
            <a:avLst/>
          </a:prstGeom>
          <a:solidFill>
            <a:srgbClr val="B76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-marker-caption"/>
          <p:cNvSpPr txBox="1"/>
          <p:nvPr/>
        </p:nvSpPr>
        <p:spPr>
          <a:xfrm>
            <a:off x="762000" y="4978400"/>
            <a:ext cx="2730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同一项交付</a:t>
            </a:r>
          </a:p>
        </p:txBody>
      </p:sp>
      <p:sp>
        <p:nvSpPr>
          <p:cNvPr id="10" name="!!milestone-grid-0"/>
          <p:cNvSpPr/>
          <p:nvPr/>
        </p:nvSpPr>
        <p:spPr>
          <a:xfrm>
            <a:off x="5778500" y="4127500"/>
            <a:ext cx="3429000" cy="6"/>
          </a:xfrm>
          <a:custGeom>
            <a:avLst/>
            <a:gdLst/>
            <a:ahLst/>
            <a:cxnLst/>
            <a:rect l="0" t="0" r="r" b="b"/>
            <a:pathLst>
              <a:path w="540000" h="1">
                <a:moveTo>
                  <a:pt x="0" y="0"/>
                </a:moveTo>
                <a:lnTo>
                  <a:pt x="54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milestone-tick-0"/>
          <p:cNvSpPr txBox="1"/>
          <p:nvPr/>
        </p:nvSpPr>
        <p:spPr>
          <a:xfrm>
            <a:off x="5143500" y="40005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0</a:t>
            </a:r>
          </a:p>
        </p:txBody>
      </p:sp>
      <p:sp>
        <p:nvSpPr>
          <p:cNvPr id="12" name="!!milestone-grid-1"/>
          <p:cNvSpPr/>
          <p:nvPr/>
        </p:nvSpPr>
        <p:spPr>
          <a:xfrm>
            <a:off x="5778500" y="3651250"/>
            <a:ext cx="3429000" cy="6"/>
          </a:xfrm>
          <a:custGeom>
            <a:avLst/>
            <a:gdLst/>
            <a:ahLst/>
            <a:cxnLst/>
            <a:rect l="0" t="0" r="r" b="b"/>
            <a:pathLst>
              <a:path w="540000" h="1">
                <a:moveTo>
                  <a:pt x="0" y="0"/>
                </a:moveTo>
                <a:lnTo>
                  <a:pt x="54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milestone-tick-1"/>
          <p:cNvSpPr txBox="1"/>
          <p:nvPr/>
        </p:nvSpPr>
        <p:spPr>
          <a:xfrm>
            <a:off x="5143500" y="352425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25</a:t>
            </a:r>
          </a:p>
        </p:txBody>
      </p:sp>
      <p:sp>
        <p:nvSpPr>
          <p:cNvPr id="14" name="!!milestone-grid-2"/>
          <p:cNvSpPr/>
          <p:nvPr/>
        </p:nvSpPr>
        <p:spPr>
          <a:xfrm>
            <a:off x="5778500" y="3175000"/>
            <a:ext cx="3429000" cy="6"/>
          </a:xfrm>
          <a:custGeom>
            <a:avLst/>
            <a:gdLst/>
            <a:ahLst/>
            <a:cxnLst/>
            <a:rect l="0" t="0" r="r" b="b"/>
            <a:pathLst>
              <a:path w="540000" h="1">
                <a:moveTo>
                  <a:pt x="0" y="0"/>
                </a:moveTo>
                <a:lnTo>
                  <a:pt x="54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milestone-tick-2"/>
          <p:cNvSpPr txBox="1"/>
          <p:nvPr/>
        </p:nvSpPr>
        <p:spPr>
          <a:xfrm>
            <a:off x="5143500" y="30480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50</a:t>
            </a:r>
          </a:p>
        </p:txBody>
      </p:sp>
      <p:sp>
        <p:nvSpPr>
          <p:cNvPr id="16" name="!!milestone-grid-3"/>
          <p:cNvSpPr/>
          <p:nvPr/>
        </p:nvSpPr>
        <p:spPr>
          <a:xfrm>
            <a:off x="5778500" y="2698750"/>
            <a:ext cx="3429000" cy="6"/>
          </a:xfrm>
          <a:custGeom>
            <a:avLst/>
            <a:gdLst/>
            <a:ahLst/>
            <a:cxnLst/>
            <a:rect l="0" t="0" r="r" b="b"/>
            <a:pathLst>
              <a:path w="540000" h="1">
                <a:moveTo>
                  <a:pt x="0" y="0"/>
                </a:moveTo>
                <a:lnTo>
                  <a:pt x="54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milestone-tick-3"/>
          <p:cNvSpPr txBox="1"/>
          <p:nvPr/>
        </p:nvSpPr>
        <p:spPr>
          <a:xfrm>
            <a:off x="5143500" y="257175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75</a:t>
            </a:r>
          </a:p>
        </p:txBody>
      </p:sp>
      <p:sp>
        <p:nvSpPr>
          <p:cNvPr id="18" name="!!milestone-grid-4"/>
          <p:cNvSpPr/>
          <p:nvPr/>
        </p:nvSpPr>
        <p:spPr>
          <a:xfrm>
            <a:off x="5778500" y="2222500"/>
            <a:ext cx="3429000" cy="6"/>
          </a:xfrm>
          <a:custGeom>
            <a:avLst/>
            <a:gdLst/>
            <a:ahLst/>
            <a:cxnLst/>
            <a:rect l="0" t="0" r="r" b="b"/>
            <a:pathLst>
              <a:path w="540000" h="1">
                <a:moveTo>
                  <a:pt x="0" y="0"/>
                </a:moveTo>
                <a:lnTo>
                  <a:pt x="54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milestone-tick-4"/>
          <p:cNvSpPr txBox="1"/>
          <p:nvPr/>
        </p:nvSpPr>
        <p:spPr>
          <a:xfrm>
            <a:off x="5143500" y="20955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100</a:t>
            </a:r>
          </a:p>
        </p:txBody>
      </p:sp>
      <p:sp>
        <p:nvSpPr>
          <p:cNvPr id="20" name="!!milestone-baseline"/>
          <p:cNvSpPr/>
          <p:nvPr/>
        </p:nvSpPr>
        <p:spPr>
          <a:xfrm>
            <a:off x="5778500" y="4127500"/>
            <a:ext cx="3429000" cy="6"/>
          </a:xfrm>
          <a:custGeom>
            <a:avLst/>
            <a:gdLst/>
            <a:ahLst/>
            <a:cxnLst/>
            <a:rect l="0" t="0" r="r" b="b"/>
            <a:pathLst>
              <a:path w="540000" h="1">
                <a:moveTo>
                  <a:pt x="0" y="0"/>
                </a:moveTo>
                <a:lnTo>
                  <a:pt x="540000" y="0"/>
                </a:lnTo>
              </a:path>
            </a:pathLst>
          </a:custGeom>
          <a:noFill/>
          <a:ln w="12700">
            <a:solidFill>
              <a:srgbClr val="142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milestone-unit"/>
          <p:cNvSpPr txBox="1"/>
          <p:nvPr/>
        </p:nvSpPr>
        <p:spPr>
          <a:xfrm>
            <a:off x="5778500" y="1428750"/>
            <a:ext cx="190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完成度（%）</a:t>
            </a:r>
          </a:p>
        </p:txBody>
      </p:sp>
      <p:sp>
        <p:nvSpPr>
          <p:cNvPr id="22" name="!!milestone-bar-0"/>
          <p:cNvSpPr/>
          <p:nvPr/>
        </p:nvSpPr>
        <p:spPr>
          <a:xfrm>
            <a:off x="6109970" y="2508250"/>
            <a:ext cx="480060" cy="1619250"/>
          </a:xfrm>
          <a:prstGeom prst="rect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milestone-category-0"/>
          <p:cNvSpPr txBox="1"/>
          <p:nvPr/>
        </p:nvSpPr>
        <p:spPr>
          <a:xfrm>
            <a:off x="5835650" y="4292600"/>
            <a:ext cx="10287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设计</a:t>
            </a:r>
          </a:p>
        </p:txBody>
      </p:sp>
      <p:sp>
        <p:nvSpPr>
          <p:cNvPr id="24" name="!!milestone-value-0"/>
          <p:cNvSpPr txBox="1"/>
          <p:nvPr/>
        </p:nvSpPr>
        <p:spPr>
          <a:xfrm>
            <a:off x="5746750" y="2089150"/>
            <a:ext cx="1206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85</a:t>
            </a:r>
          </a:p>
        </p:txBody>
      </p:sp>
      <p:sp>
        <p:nvSpPr>
          <p:cNvPr id="25" name="!!milestone-bar-1"/>
          <p:cNvSpPr/>
          <p:nvPr/>
        </p:nvSpPr>
        <p:spPr>
          <a:xfrm>
            <a:off x="7252970" y="2984500"/>
            <a:ext cx="480060" cy="1143000"/>
          </a:xfrm>
          <a:prstGeom prst="rect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milestone-category-1"/>
          <p:cNvSpPr txBox="1"/>
          <p:nvPr/>
        </p:nvSpPr>
        <p:spPr>
          <a:xfrm>
            <a:off x="6978650" y="4292600"/>
            <a:ext cx="10287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联调</a:t>
            </a:r>
          </a:p>
        </p:txBody>
      </p:sp>
      <p:sp>
        <p:nvSpPr>
          <p:cNvPr id="27" name="!!milestone-value-1"/>
          <p:cNvSpPr txBox="1"/>
          <p:nvPr/>
        </p:nvSpPr>
        <p:spPr>
          <a:xfrm>
            <a:off x="6889750" y="2565400"/>
            <a:ext cx="1206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60</a:t>
            </a:r>
          </a:p>
        </p:txBody>
      </p:sp>
      <p:sp>
        <p:nvSpPr>
          <p:cNvPr id="28" name="!!milestone-bar-2"/>
          <p:cNvSpPr/>
          <p:nvPr/>
        </p:nvSpPr>
        <p:spPr>
          <a:xfrm>
            <a:off x="8395970" y="3460750"/>
            <a:ext cx="480060" cy="666750"/>
          </a:xfrm>
          <a:prstGeom prst="rect">
            <a:avLst/>
          </a:prstGeom>
          <a:solidFill>
            <a:srgbClr val="A85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milestone-category-2"/>
          <p:cNvSpPr txBox="1"/>
          <p:nvPr/>
        </p:nvSpPr>
        <p:spPr>
          <a:xfrm>
            <a:off x="8121650" y="4292600"/>
            <a:ext cx="10287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验收</a:t>
            </a:r>
          </a:p>
        </p:txBody>
      </p:sp>
      <p:sp>
        <p:nvSpPr>
          <p:cNvPr id="30" name="!!milestone-value-2"/>
          <p:cNvSpPr txBox="1"/>
          <p:nvPr/>
        </p:nvSpPr>
        <p:spPr>
          <a:xfrm>
            <a:off x="8032750" y="3041650"/>
            <a:ext cx="1206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35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50"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15555556 L 0.000000000 0.000000000 E" pathEditMode="relative" rAng="0">
                                      <p:cBhvr>
                                        <p:cTn id="8" dur="52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000 0.000000000 C 0.002416246 0.000000000 0.004375000 -0.003979691 0.004375000 -0.008888889 C 0.004375000 -0.013798087 0.002416246 -0.017777778 0.000000000 -0.017777778 C -0.002416246 -0.017777778 -0.004375000 -0.013798087 -0.004375000 -0.008888889 C -0.004375000 -0.003979691 -0.002416246 0.000000000 0.000000000 0.000000000  E" pathEditMode="relative" rAng="0">
                                      <p:cBhvr>
                                        <p:cTn id="10" dur="2000" fill="hold" accel="25000" decel="25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100" fill="hold" accel="10000" decel="6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 fill="hold" accel="10000" decel="65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100" fill="hold" accel="10000" decel="65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 fill="hold" accel="10000" decel="65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100" fill="hold" accel="10000" decel="65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20" fill="hold" accel="10000" decel="65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gress-flow-section"/>
          <p:cNvSpPr txBox="1"/>
          <p:nvPr/>
        </p:nvSpPr>
        <p:spPr>
          <a:xfrm>
            <a:off x="685800" y="393700"/>
            <a:ext cx="5715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PROJECT / DELIVERY</a:t>
            </a:r>
          </a:p>
        </p:txBody>
      </p:sp>
      <p:sp>
        <p:nvSpPr>
          <p:cNvPr id="3" name="!!progress-flow-page"/>
          <p:cNvSpPr txBox="1"/>
          <p:nvPr/>
        </p:nvSpPr>
        <p:spPr>
          <a:xfrm>
            <a:off x="8477250" y="393700"/>
            <a:ext cx="1016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02 / 03</a:t>
            </a:r>
          </a:p>
        </p:txBody>
      </p:sp>
      <p:sp>
        <p:nvSpPr>
          <p:cNvPr id="4" name="!!progress-flow-rule"/>
          <p:cNvSpPr/>
          <p:nvPr/>
        </p:nvSpPr>
        <p:spPr>
          <a:xfrm>
            <a:off x="685800" y="73660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825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gress-flow-disclaimer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模拟数据与流程示意，仅用于演示；请替换为核实后的内容。</a:t>
            </a:r>
          </a:p>
        </p:txBody>
      </p:sp>
      <p:sp>
        <p:nvSpPr>
          <p:cNvPr id="6" name="!!progress-heading-b"/>
          <p:cNvSpPr txBox="1"/>
          <p:nvPr/>
        </p:nvSpPr>
        <p:spPr>
          <a:xfrm>
            <a:off x="685800" y="1143000"/>
            <a:ext cx="8572500" cy="1238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让交付沿着</a:t>
            </a:r>
          </a:p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同一条路径前进。</a:t>
            </a:r>
          </a:p>
        </p:txBody>
      </p:sp>
      <p:sp>
        <p:nvSpPr>
          <p:cNvPr id="7" name="!!progress-stage-0"/>
          <p:cNvSpPr txBox="1"/>
          <p:nvPr/>
        </p:nvSpPr>
        <p:spPr>
          <a:xfrm>
            <a:off x="762000" y="2667000"/>
            <a:ext cx="228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设计确认</a:t>
            </a:r>
          </a:p>
        </p:txBody>
      </p:sp>
      <p:sp>
        <p:nvSpPr>
          <p:cNvPr id="8" name="!!progress-link-0"/>
          <p:cNvSpPr/>
          <p:nvPr/>
        </p:nvSpPr>
        <p:spPr>
          <a:xfrm>
            <a:off x="2667000" y="3937000"/>
            <a:ext cx="1524000" cy="6"/>
          </a:xfrm>
          <a:custGeom>
            <a:avLst/>
            <a:gdLst/>
            <a:ahLst/>
            <a:cxnLst/>
            <a:rect l="0" t="0" r="r" b="b"/>
            <a:pathLst>
              <a:path w="240000" h="1">
                <a:moveTo>
                  <a:pt x="0" y="0"/>
                </a:moveTo>
                <a:lnTo>
                  <a:pt x="240000" y="0"/>
                </a:lnTo>
              </a:path>
            </a:pathLst>
          </a:custGeom>
          <a:noFill/>
          <a:ln w="19050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-stage-1"/>
          <p:cNvSpPr txBox="1"/>
          <p:nvPr/>
        </p:nvSpPr>
        <p:spPr>
          <a:xfrm>
            <a:off x="4064000" y="2667000"/>
            <a:ext cx="228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接口联调</a:t>
            </a:r>
          </a:p>
        </p:txBody>
      </p:sp>
      <p:sp>
        <p:nvSpPr>
          <p:cNvPr id="10" name="!!progress-link-1"/>
          <p:cNvSpPr/>
          <p:nvPr/>
        </p:nvSpPr>
        <p:spPr>
          <a:xfrm>
            <a:off x="5969000" y="3937000"/>
            <a:ext cx="1524000" cy="6"/>
          </a:xfrm>
          <a:custGeom>
            <a:avLst/>
            <a:gdLst/>
            <a:ahLst/>
            <a:cxnLst/>
            <a:rect l="0" t="0" r="r" b="b"/>
            <a:pathLst>
              <a:path w="240000" h="1">
                <a:moveTo>
                  <a:pt x="0" y="0"/>
                </a:moveTo>
                <a:lnTo>
                  <a:pt x="240000" y="0"/>
                </a:lnTo>
              </a:path>
            </a:pathLst>
          </a:custGeom>
          <a:noFill/>
          <a:ln w="19050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progress-stage-2"/>
          <p:cNvSpPr txBox="1"/>
          <p:nvPr/>
        </p:nvSpPr>
        <p:spPr>
          <a:xfrm>
            <a:off x="7366000" y="2667000"/>
            <a:ext cx="228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验收发布</a:t>
            </a:r>
          </a:p>
        </p:txBody>
      </p:sp>
      <p:sp>
        <p:nvSpPr>
          <p:cNvPr id="12" name="!!delivery-marker"/>
          <p:cNvSpPr/>
          <p:nvPr/>
        </p:nvSpPr>
        <p:spPr>
          <a:xfrm>
            <a:off x="7874000" y="3365500"/>
            <a:ext cx="1143000" cy="1143000"/>
          </a:xfrm>
          <a:prstGeom prst="ellipse">
            <a:avLst/>
          </a:prstGeom>
          <a:solidFill>
            <a:srgbClr val="B76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-flow-note"/>
          <p:cNvSpPr txBox="1"/>
          <p:nvPr/>
        </p:nvSpPr>
        <p:spPr>
          <a:xfrm>
            <a:off x="711200" y="4794250"/>
            <a:ext cx="8763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每一步都有明确输入、负责人和可核对的结束状态。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800" advTm="6800">
        <p159:morph option="byObject"/>
      </p:transition>
    </mc:Choice>
    <mc:Fallback>
      <p:transition xmlns:ns0="http://schemas.microsoft.com/office/powerpoint/2010/main" spd="fast" advClick="1" ns0:dur="1800" advTm="68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15555556 L 0.000000000 0.000000000 E" pathEditMode="relative" rAng="0">
                                      <p:cBhvr>
                                        <p:cTn id="8" dur="52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.000000000 0.000000000 C 0.002416246 0.000000000 0.004375000 -0.003979691 0.004375000 -0.008888889 C 0.004375000 -0.013798087 0.002416246 -0.017777778 0.000000000 -0.017777778 C -0.002416246 -0.017777778 -0.004375000 -0.013798087 -0.004375000 -0.008888889 C -0.004375000 -0.003979691 -0.002416246 0.000000000 0.000000000 0.000000000  E" pathEditMode="relative" rAng="0">
                                      <p:cBhvr>
                                        <p:cTn id="10" dur="2000" fill="hold" accel="25000" decel="25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gress-actions-section"/>
          <p:cNvSpPr txBox="1"/>
          <p:nvPr/>
        </p:nvSpPr>
        <p:spPr>
          <a:xfrm>
            <a:off x="685800" y="393700"/>
            <a:ext cx="5715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PROJECT / NEXT ACTIONS</a:t>
            </a:r>
          </a:p>
        </p:txBody>
      </p:sp>
      <p:sp>
        <p:nvSpPr>
          <p:cNvPr id="3" name="!!progress-actions-page"/>
          <p:cNvSpPr txBox="1"/>
          <p:nvPr/>
        </p:nvSpPr>
        <p:spPr>
          <a:xfrm>
            <a:off x="8477250" y="393700"/>
            <a:ext cx="1016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03 / 03</a:t>
            </a:r>
          </a:p>
        </p:txBody>
      </p:sp>
      <p:sp>
        <p:nvSpPr>
          <p:cNvPr id="4" name="!!progress-actions-rule"/>
          <p:cNvSpPr/>
          <p:nvPr/>
        </p:nvSpPr>
        <p:spPr>
          <a:xfrm>
            <a:off x="685800" y="73660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825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gress-actions-disclaimer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模拟数据与流程示意，仅用于演示；请替换为核实后的内容。</a:t>
            </a:r>
          </a:p>
        </p:txBody>
      </p:sp>
      <p:sp>
        <p:nvSpPr>
          <p:cNvPr id="6" name="!!progress-heading-c"/>
          <p:cNvSpPr txBox="1"/>
          <p:nvPr/>
        </p:nvSpPr>
        <p:spPr>
          <a:xfrm>
            <a:off x="685800" y="1168400"/>
            <a:ext cx="87630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下一步，把依赖说清楚。</a:t>
            </a:r>
          </a:p>
        </p:txBody>
      </p:sp>
      <p:sp>
        <p:nvSpPr>
          <p:cNvPr id="7" name="!!progress-next-subtitle"/>
          <p:cNvSpPr txBox="1"/>
          <p:nvPr/>
        </p:nvSpPr>
        <p:spPr>
          <a:xfrm>
            <a:off x="711200" y="2000250"/>
            <a:ext cx="8763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围绕实际阻碍分配行动，避免只列完成百分比。</a:t>
            </a:r>
          </a:p>
        </p:txBody>
      </p:sp>
      <p:sp>
        <p:nvSpPr>
          <p:cNvPr id="8" name="!!progress-row-line-0"/>
          <p:cNvSpPr/>
          <p:nvPr/>
        </p:nvSpPr>
        <p:spPr>
          <a:xfrm>
            <a:off x="685800" y="335915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952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-topic-0"/>
          <p:cNvSpPr txBox="1"/>
          <p:nvPr/>
        </p:nvSpPr>
        <p:spPr>
          <a:xfrm>
            <a:off x="762000" y="2876550"/>
            <a:ext cx="2222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范围收敛</a:t>
            </a:r>
          </a:p>
        </p:txBody>
      </p:sp>
      <p:sp>
        <p:nvSpPr>
          <p:cNvPr id="10" name="!!progress-owner-0"/>
          <p:cNvSpPr txBox="1"/>
          <p:nvPr/>
        </p:nvSpPr>
        <p:spPr>
          <a:xfrm>
            <a:off x="3746500" y="2876550"/>
            <a:ext cx="1460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产品</a:t>
            </a:r>
          </a:p>
        </p:txBody>
      </p:sp>
      <p:sp>
        <p:nvSpPr>
          <p:cNvPr id="11" name="!!progress-action-0"/>
          <p:cNvSpPr txBox="1"/>
          <p:nvPr/>
        </p:nvSpPr>
        <p:spPr>
          <a:xfrm>
            <a:off x="5905500" y="2876550"/>
            <a:ext cx="3492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确认边界与验收标准</a:t>
            </a:r>
          </a:p>
        </p:txBody>
      </p:sp>
      <p:sp>
        <p:nvSpPr>
          <p:cNvPr id="12" name="!!progress-row-line-1"/>
          <p:cNvSpPr/>
          <p:nvPr/>
        </p:nvSpPr>
        <p:spPr>
          <a:xfrm>
            <a:off x="685800" y="410845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952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-topic-1"/>
          <p:cNvSpPr txBox="1"/>
          <p:nvPr/>
        </p:nvSpPr>
        <p:spPr>
          <a:xfrm>
            <a:off x="762000" y="3625850"/>
            <a:ext cx="2222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联调窗口</a:t>
            </a:r>
          </a:p>
        </p:txBody>
      </p:sp>
      <p:sp>
        <p:nvSpPr>
          <p:cNvPr id="14" name="!!progress-owner-1"/>
          <p:cNvSpPr txBox="1"/>
          <p:nvPr/>
        </p:nvSpPr>
        <p:spPr>
          <a:xfrm>
            <a:off x="3746500" y="3625850"/>
            <a:ext cx="1460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研发</a:t>
            </a:r>
          </a:p>
        </p:txBody>
      </p:sp>
      <p:sp>
        <p:nvSpPr>
          <p:cNvPr id="15" name="!!progress-action-1"/>
          <p:cNvSpPr txBox="1"/>
          <p:nvPr/>
        </p:nvSpPr>
        <p:spPr>
          <a:xfrm>
            <a:off x="5905500" y="3625850"/>
            <a:ext cx="3492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锁定接口及可用时间</a:t>
            </a:r>
          </a:p>
        </p:txBody>
      </p:sp>
      <p:sp>
        <p:nvSpPr>
          <p:cNvPr id="16" name="!!progress-row-line-2"/>
          <p:cNvSpPr/>
          <p:nvPr/>
        </p:nvSpPr>
        <p:spPr>
          <a:xfrm>
            <a:off x="685800" y="485775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952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progress-topic-2"/>
          <p:cNvSpPr txBox="1"/>
          <p:nvPr/>
        </p:nvSpPr>
        <p:spPr>
          <a:xfrm>
            <a:off x="762000" y="4375150"/>
            <a:ext cx="2222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发布依赖</a:t>
            </a:r>
          </a:p>
        </p:txBody>
      </p:sp>
      <p:sp>
        <p:nvSpPr>
          <p:cNvPr id="18" name="!!progress-owner-2"/>
          <p:cNvSpPr txBox="1"/>
          <p:nvPr/>
        </p:nvSpPr>
        <p:spPr>
          <a:xfrm>
            <a:off x="3746500" y="4375150"/>
            <a:ext cx="1460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测试</a:t>
            </a:r>
          </a:p>
        </p:txBody>
      </p:sp>
      <p:sp>
        <p:nvSpPr>
          <p:cNvPr id="19" name="!!progress-action-2"/>
          <p:cNvSpPr txBox="1"/>
          <p:nvPr/>
        </p:nvSpPr>
        <p:spPr>
          <a:xfrm>
            <a:off x="5905500" y="4375150"/>
            <a:ext cx="3492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核对版本与回归记录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15555556 L 0.000000000 0.000000000 E" pathEditMode="relative" rAng="0">
                                      <p:cBhvr>
                                        <p:cTn id="8" dur="52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 fill="hold" accel="10000" decel="6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20" fill="hold" accel="10000" decel="6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 fill="hold" accel="10000" decel="6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 fill="hold" accel="10000" decel="6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 fill="hold" accel="10000" decel="6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 fill="hold" accel="10000" decel="6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 fill="hold" accel="10000" decel="6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 fill="hold" accel="10000" decel="65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 fill="hold" accel="10000" decel="65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项目进展 · 交付流程示例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