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</p:sldIdLst>
  <p:sldSz cx="10160000" cy="5715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progress-overview-section"/>
          <p:cNvSpPr txBox="1"/>
          <p:nvPr/>
        </p:nvSpPr>
        <p:spPr>
          <a:xfrm>
            <a:off x="685800" y="393700"/>
            <a:ext cx="5715000" cy="254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97"/>
              </a:lnSpc>
              <a:spcBef>
                <a:spcPts val="0"/>
              </a:spcBef>
              <a:spcAft>
                <a:spcPts val="0"/>
              </a:spcAft>
            </a:pPr>
            <a:r>
              <a:rPr sz="1100" b="0" spc="0">
                <a:solidFill>
                  <a:srgbClr val="142B31"/>
                </a:solidFill>
                <a:latin typeface="Space Grotesk SemiBold"/>
                <a:ea typeface="Space Grotesk SemiBold"/>
                <a:cs typeface="Space Grotesk SemiBold"/>
              </a:rPr>
              <a:t>PROJECT / STATUS</a:t>
            </a:r>
          </a:p>
        </p:txBody>
      </p:sp>
      <p:sp>
        <p:nvSpPr>
          <p:cNvPr id="3" name="!!progress-overview-page"/>
          <p:cNvSpPr txBox="1"/>
          <p:nvPr/>
        </p:nvSpPr>
        <p:spPr>
          <a:xfrm>
            <a:off x="8477250" y="393700"/>
            <a:ext cx="1016000" cy="254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97"/>
              </a:lnSpc>
              <a:spcBef>
                <a:spcPts val="0"/>
              </a:spcBef>
              <a:spcAft>
                <a:spcPts val="0"/>
              </a:spcAft>
            </a:pPr>
            <a:r>
              <a:rPr sz="1100" b="0" spc="0">
                <a:solidFill>
                  <a:srgbClr val="526763"/>
                </a:solidFill>
                <a:latin typeface="Space Grotesk SemiBold"/>
                <a:ea typeface="Space Grotesk SemiBold"/>
                <a:cs typeface="Space Grotesk SemiBold"/>
              </a:rPr>
              <a:t>01 / 03</a:t>
            </a:r>
          </a:p>
        </p:txBody>
      </p:sp>
      <p:sp>
        <p:nvSpPr>
          <p:cNvPr id="4" name="!!progress-overview-rule"/>
          <p:cNvSpPr/>
          <p:nvPr/>
        </p:nvSpPr>
        <p:spPr>
          <a:xfrm>
            <a:off x="685800" y="736600"/>
            <a:ext cx="8788400" cy="6"/>
          </a:xfrm>
          <a:custGeom>
            <a:avLst/>
            <a:gdLst/>
            <a:ahLst/>
            <a:cxnLst/>
            <a:rect l="0" t="0" r="r" b="b"/>
            <a:pathLst>
              <a:path w="1384000" h="1">
                <a:moveTo>
                  <a:pt x="0" y="0"/>
                </a:moveTo>
                <a:lnTo>
                  <a:pt x="1384000" y="0"/>
                </a:lnTo>
              </a:path>
            </a:pathLst>
          </a:custGeom>
          <a:noFill/>
          <a:ln w="8255">
            <a:solidFill>
              <a:srgbClr val="CCD8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!!progress-overview-disclaimer"/>
          <p:cNvSpPr txBox="1"/>
          <p:nvPr/>
        </p:nvSpPr>
        <p:spPr>
          <a:xfrm>
            <a:off x="685800" y="5359400"/>
            <a:ext cx="876300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38"/>
              </a:lnSpc>
              <a:spcBef>
                <a:spcPts val="0"/>
              </a:spcBef>
              <a:spcAft>
                <a:spcPts val="0"/>
              </a:spcAft>
            </a:pPr>
            <a:r>
              <a:rPr sz="1050" b="0" spc="0">
                <a:solidFill>
                  <a:srgbClr val="526763"/>
                </a:solidFill>
                <a:latin typeface="Noto Sans CJK SC"/>
                <a:ea typeface="Noto Sans CJK SC"/>
                <a:cs typeface="Noto Sans CJK SC"/>
              </a:rPr>
              <a:t>模拟数据与流程示意，仅用于演示；请替换为核实后的内容。</a:t>
            </a:r>
          </a:p>
        </p:txBody>
      </p:sp>
      <p:sp>
        <p:nvSpPr>
          <p:cNvPr id="6" name="!!progress-heading-a"/>
          <p:cNvSpPr txBox="1"/>
          <p:nvPr/>
        </p:nvSpPr>
        <p:spPr>
          <a:xfrm>
            <a:off x="685800" y="1168400"/>
            <a:ext cx="4127500" cy="1238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894"/>
              </a:lnSpc>
              <a:spcBef>
                <a:spcPts val="0"/>
              </a:spcBef>
              <a:spcAft>
                <a:spcPts val="0"/>
              </a:spcAft>
            </a:pPr>
            <a:r>
              <a:rPr sz="3300" b="0" spc="0">
                <a:solidFill>
                  <a:srgbClr val="142B31"/>
                </a:solidFill>
                <a:latin typeface="Noto Serif CJK SC"/>
                <a:ea typeface="Noto Serif CJK SC"/>
                <a:cs typeface="Noto Serif CJK SC"/>
              </a:rPr>
              <a:t>阶段进展，</a:t>
            </a:r>
          </a:p>
          <a:p>
            <a:pPr algn="l">
              <a:lnSpc>
                <a:spcPts val="3894"/>
              </a:lnSpc>
              <a:spcBef>
                <a:spcPts val="0"/>
              </a:spcBef>
              <a:spcAft>
                <a:spcPts val="0"/>
              </a:spcAft>
            </a:pPr>
            <a:r>
              <a:rPr sz="3300" b="0" spc="0">
                <a:solidFill>
                  <a:srgbClr val="142B31"/>
                </a:solidFill>
                <a:latin typeface="Noto Serif CJK SC"/>
                <a:ea typeface="Noto Serif CJK SC"/>
                <a:cs typeface="Noto Serif CJK SC"/>
              </a:rPr>
              <a:t>用同一尺度比较。</a:t>
            </a:r>
          </a:p>
        </p:txBody>
      </p:sp>
      <p:sp>
        <p:nvSpPr>
          <p:cNvPr id="7" name="!!progress-purpose"/>
          <p:cNvSpPr txBox="1"/>
          <p:nvPr/>
        </p:nvSpPr>
        <p:spPr>
          <a:xfrm>
            <a:off x="711200" y="2667000"/>
            <a:ext cx="4254500" cy="666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7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spc="0">
                <a:solidFill>
                  <a:srgbClr val="142B31"/>
                </a:solidFill>
                <a:latin typeface="Noto Sans CJK SC"/>
                <a:ea typeface="Noto Sans CJK SC"/>
                <a:cs typeface="Noto Sans CJK SC"/>
              </a:rPr>
              <a:t>先看已完成的工作，</a:t>
            </a:r>
          </a:p>
          <a:p>
            <a:pPr algn="l">
              <a:lnSpc>
                <a:spcPts val="177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spc="0">
                <a:solidFill>
                  <a:srgbClr val="142B31"/>
                </a:solidFill>
                <a:latin typeface="Noto Sans CJK SC"/>
                <a:ea typeface="Noto Sans CJK SC"/>
                <a:cs typeface="Noto Sans CJK SC"/>
              </a:rPr>
              <a:t>再看需要推进的环节。</a:t>
            </a:r>
          </a:p>
        </p:txBody>
      </p:sp>
      <p:sp>
        <p:nvSpPr>
          <p:cNvPr id="8" name="!!delivery-marker"/>
          <p:cNvSpPr/>
          <p:nvPr/>
        </p:nvSpPr>
        <p:spPr>
          <a:xfrm>
            <a:off x="1079500" y="3937000"/>
            <a:ext cx="889000" cy="889000"/>
          </a:xfrm>
          <a:prstGeom prst="ellipse">
            <a:avLst/>
          </a:prstGeom>
          <a:solidFill>
            <a:srgbClr val="B76A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!!progress-marker-caption"/>
          <p:cNvSpPr txBox="1"/>
          <p:nvPr/>
        </p:nvSpPr>
        <p:spPr>
          <a:xfrm>
            <a:off x="762000" y="4978400"/>
            <a:ext cx="2730500" cy="285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75"/>
              </a:lnSpc>
              <a:spcBef>
                <a:spcPts val="0"/>
              </a:spcBef>
              <a:spcAft>
                <a:spcPts val="0"/>
              </a:spcAft>
            </a:pPr>
            <a:r>
              <a:rPr sz="1250" b="0" spc="0">
                <a:solidFill>
                  <a:srgbClr val="526763"/>
                </a:solidFill>
                <a:latin typeface="Noto Sans CJK SC"/>
                <a:ea typeface="Noto Sans CJK SC"/>
                <a:cs typeface="Noto Sans CJK SC"/>
              </a:rPr>
              <a:t>同一项交付</a:t>
            </a:r>
          </a:p>
        </p:txBody>
      </p:sp>
      <p:sp>
        <p:nvSpPr>
          <p:cNvPr id="10" name="!!milestone-grid-0"/>
          <p:cNvSpPr/>
          <p:nvPr/>
        </p:nvSpPr>
        <p:spPr>
          <a:xfrm>
            <a:off x="5778500" y="4127500"/>
            <a:ext cx="3429000" cy="6"/>
          </a:xfrm>
          <a:custGeom>
            <a:avLst/>
            <a:gdLst/>
            <a:ahLst/>
            <a:cxnLst/>
            <a:rect l="0" t="0" r="r" b="b"/>
            <a:pathLst>
              <a:path w="540000" h="1">
                <a:moveTo>
                  <a:pt x="0" y="0"/>
                </a:moveTo>
                <a:lnTo>
                  <a:pt x="540000" y="0"/>
                </a:lnTo>
              </a:path>
            </a:pathLst>
          </a:custGeom>
          <a:noFill/>
          <a:ln w="9525">
            <a:solidFill>
              <a:srgbClr val="D2DC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!!milestone-tick-0"/>
          <p:cNvSpPr txBox="1"/>
          <p:nvPr/>
        </p:nvSpPr>
        <p:spPr>
          <a:xfrm>
            <a:off x="5143500" y="4000500"/>
            <a:ext cx="476250" cy="279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593"/>
              </a:lnSpc>
              <a:spcBef>
                <a:spcPts val="0"/>
              </a:spcBef>
              <a:spcAft>
                <a:spcPts val="0"/>
              </a:spcAft>
            </a:pPr>
            <a:r>
              <a:rPr sz="1350" b="0" spc="0">
                <a:solidFill>
                  <a:srgbClr val="526763"/>
                </a:solidFill>
                <a:latin typeface="Space Grotesk SemiBold"/>
                <a:ea typeface="Space Grotesk SemiBold"/>
                <a:cs typeface="Space Grotesk SemiBold"/>
              </a:rPr>
              <a:t>0</a:t>
            </a:r>
          </a:p>
        </p:txBody>
      </p:sp>
      <p:sp>
        <p:nvSpPr>
          <p:cNvPr id="12" name="!!milestone-grid-1"/>
          <p:cNvSpPr/>
          <p:nvPr/>
        </p:nvSpPr>
        <p:spPr>
          <a:xfrm>
            <a:off x="5778500" y="3651250"/>
            <a:ext cx="3429000" cy="6"/>
          </a:xfrm>
          <a:custGeom>
            <a:avLst/>
            <a:gdLst/>
            <a:ahLst/>
            <a:cxnLst/>
            <a:rect l="0" t="0" r="r" b="b"/>
            <a:pathLst>
              <a:path w="540000" h="1">
                <a:moveTo>
                  <a:pt x="0" y="0"/>
                </a:moveTo>
                <a:lnTo>
                  <a:pt x="540000" y="0"/>
                </a:lnTo>
              </a:path>
            </a:pathLst>
          </a:custGeom>
          <a:noFill/>
          <a:ln w="9525">
            <a:solidFill>
              <a:srgbClr val="D2DC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!!milestone-tick-1"/>
          <p:cNvSpPr txBox="1"/>
          <p:nvPr/>
        </p:nvSpPr>
        <p:spPr>
          <a:xfrm>
            <a:off x="5143500" y="3524250"/>
            <a:ext cx="476250" cy="279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593"/>
              </a:lnSpc>
              <a:spcBef>
                <a:spcPts val="0"/>
              </a:spcBef>
              <a:spcAft>
                <a:spcPts val="0"/>
              </a:spcAft>
            </a:pPr>
            <a:r>
              <a:rPr sz="1350" b="0" spc="0">
                <a:solidFill>
                  <a:srgbClr val="526763"/>
                </a:solidFill>
                <a:latin typeface="Space Grotesk SemiBold"/>
                <a:ea typeface="Space Grotesk SemiBold"/>
                <a:cs typeface="Space Grotesk SemiBold"/>
              </a:rPr>
              <a:t>25</a:t>
            </a:r>
          </a:p>
        </p:txBody>
      </p:sp>
      <p:sp>
        <p:nvSpPr>
          <p:cNvPr id="14" name="!!milestone-grid-2"/>
          <p:cNvSpPr/>
          <p:nvPr/>
        </p:nvSpPr>
        <p:spPr>
          <a:xfrm>
            <a:off x="5778500" y="3175000"/>
            <a:ext cx="3429000" cy="6"/>
          </a:xfrm>
          <a:custGeom>
            <a:avLst/>
            <a:gdLst/>
            <a:ahLst/>
            <a:cxnLst/>
            <a:rect l="0" t="0" r="r" b="b"/>
            <a:pathLst>
              <a:path w="540000" h="1">
                <a:moveTo>
                  <a:pt x="0" y="0"/>
                </a:moveTo>
                <a:lnTo>
                  <a:pt x="540000" y="0"/>
                </a:lnTo>
              </a:path>
            </a:pathLst>
          </a:custGeom>
          <a:noFill/>
          <a:ln w="9525">
            <a:solidFill>
              <a:srgbClr val="D2DC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!!milestone-tick-2"/>
          <p:cNvSpPr txBox="1"/>
          <p:nvPr/>
        </p:nvSpPr>
        <p:spPr>
          <a:xfrm>
            <a:off x="5143500" y="3048000"/>
            <a:ext cx="476250" cy="279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593"/>
              </a:lnSpc>
              <a:spcBef>
                <a:spcPts val="0"/>
              </a:spcBef>
              <a:spcAft>
                <a:spcPts val="0"/>
              </a:spcAft>
            </a:pPr>
            <a:r>
              <a:rPr sz="1350" b="0" spc="0">
                <a:solidFill>
                  <a:srgbClr val="526763"/>
                </a:solidFill>
                <a:latin typeface="Space Grotesk SemiBold"/>
                <a:ea typeface="Space Grotesk SemiBold"/>
                <a:cs typeface="Space Grotesk SemiBold"/>
              </a:rPr>
              <a:t>50</a:t>
            </a:r>
          </a:p>
        </p:txBody>
      </p:sp>
      <p:sp>
        <p:nvSpPr>
          <p:cNvPr id="16" name="!!milestone-grid-3"/>
          <p:cNvSpPr/>
          <p:nvPr/>
        </p:nvSpPr>
        <p:spPr>
          <a:xfrm>
            <a:off x="5778500" y="2698750"/>
            <a:ext cx="3429000" cy="6"/>
          </a:xfrm>
          <a:custGeom>
            <a:avLst/>
            <a:gdLst/>
            <a:ahLst/>
            <a:cxnLst/>
            <a:rect l="0" t="0" r="r" b="b"/>
            <a:pathLst>
              <a:path w="540000" h="1">
                <a:moveTo>
                  <a:pt x="0" y="0"/>
                </a:moveTo>
                <a:lnTo>
                  <a:pt x="540000" y="0"/>
                </a:lnTo>
              </a:path>
            </a:pathLst>
          </a:custGeom>
          <a:noFill/>
          <a:ln w="9525">
            <a:solidFill>
              <a:srgbClr val="D2DC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!!milestone-tick-3"/>
          <p:cNvSpPr txBox="1"/>
          <p:nvPr/>
        </p:nvSpPr>
        <p:spPr>
          <a:xfrm>
            <a:off x="5143500" y="2571750"/>
            <a:ext cx="476250" cy="279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593"/>
              </a:lnSpc>
              <a:spcBef>
                <a:spcPts val="0"/>
              </a:spcBef>
              <a:spcAft>
                <a:spcPts val="0"/>
              </a:spcAft>
            </a:pPr>
            <a:r>
              <a:rPr sz="1350" b="0" spc="0">
                <a:solidFill>
                  <a:srgbClr val="526763"/>
                </a:solidFill>
                <a:latin typeface="Space Grotesk SemiBold"/>
                <a:ea typeface="Space Grotesk SemiBold"/>
                <a:cs typeface="Space Grotesk SemiBold"/>
              </a:rPr>
              <a:t>75</a:t>
            </a:r>
          </a:p>
        </p:txBody>
      </p:sp>
      <p:sp>
        <p:nvSpPr>
          <p:cNvPr id="18" name="!!milestone-grid-4"/>
          <p:cNvSpPr/>
          <p:nvPr/>
        </p:nvSpPr>
        <p:spPr>
          <a:xfrm>
            <a:off x="5778500" y="2222500"/>
            <a:ext cx="3429000" cy="6"/>
          </a:xfrm>
          <a:custGeom>
            <a:avLst/>
            <a:gdLst/>
            <a:ahLst/>
            <a:cxnLst/>
            <a:rect l="0" t="0" r="r" b="b"/>
            <a:pathLst>
              <a:path w="540000" h="1">
                <a:moveTo>
                  <a:pt x="0" y="0"/>
                </a:moveTo>
                <a:lnTo>
                  <a:pt x="540000" y="0"/>
                </a:lnTo>
              </a:path>
            </a:pathLst>
          </a:custGeom>
          <a:noFill/>
          <a:ln w="9525">
            <a:solidFill>
              <a:srgbClr val="D2DC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!!milestone-tick-4"/>
          <p:cNvSpPr txBox="1"/>
          <p:nvPr/>
        </p:nvSpPr>
        <p:spPr>
          <a:xfrm>
            <a:off x="5143500" y="2095500"/>
            <a:ext cx="476250" cy="279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593"/>
              </a:lnSpc>
              <a:spcBef>
                <a:spcPts val="0"/>
              </a:spcBef>
              <a:spcAft>
                <a:spcPts val="0"/>
              </a:spcAft>
            </a:pPr>
            <a:r>
              <a:rPr sz="1350" b="0" spc="0">
                <a:solidFill>
                  <a:srgbClr val="526763"/>
                </a:solidFill>
                <a:latin typeface="Space Grotesk SemiBold"/>
                <a:ea typeface="Space Grotesk SemiBold"/>
                <a:cs typeface="Space Grotesk SemiBold"/>
              </a:rPr>
              <a:t>100</a:t>
            </a:r>
          </a:p>
        </p:txBody>
      </p:sp>
      <p:sp>
        <p:nvSpPr>
          <p:cNvPr id="20" name="!!milestone-baseline"/>
          <p:cNvSpPr/>
          <p:nvPr/>
        </p:nvSpPr>
        <p:spPr>
          <a:xfrm>
            <a:off x="5778500" y="4127500"/>
            <a:ext cx="3429000" cy="6"/>
          </a:xfrm>
          <a:custGeom>
            <a:avLst/>
            <a:gdLst/>
            <a:ahLst/>
            <a:cxnLst/>
            <a:rect l="0" t="0" r="r" b="b"/>
            <a:pathLst>
              <a:path w="540000" h="1">
                <a:moveTo>
                  <a:pt x="0" y="0"/>
                </a:moveTo>
                <a:lnTo>
                  <a:pt x="540000" y="0"/>
                </a:lnTo>
              </a:path>
            </a:pathLst>
          </a:custGeom>
          <a:noFill/>
          <a:ln w="12700">
            <a:solidFill>
              <a:srgbClr val="142B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!!milestone-unit"/>
          <p:cNvSpPr txBox="1"/>
          <p:nvPr/>
        </p:nvSpPr>
        <p:spPr>
          <a:xfrm>
            <a:off x="5778500" y="1428750"/>
            <a:ext cx="1905000" cy="304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11"/>
              </a:lnSpc>
              <a:spcBef>
                <a:spcPts val="0"/>
              </a:spcBef>
              <a:spcAft>
                <a:spcPts val="0"/>
              </a:spcAft>
            </a:pPr>
            <a:r>
              <a:rPr sz="1450" b="0" spc="0">
                <a:solidFill>
                  <a:srgbClr val="526763"/>
                </a:solidFill>
                <a:latin typeface="Noto Sans CJK SC"/>
                <a:ea typeface="Noto Sans CJK SC"/>
                <a:cs typeface="Noto Sans CJK SC"/>
              </a:rPr>
              <a:t>完成度（%）</a:t>
            </a:r>
          </a:p>
        </p:txBody>
      </p:sp>
      <p:sp>
        <p:nvSpPr>
          <p:cNvPr id="22" name="!!milestone-bar-0"/>
          <p:cNvSpPr/>
          <p:nvPr/>
        </p:nvSpPr>
        <p:spPr>
          <a:xfrm>
            <a:off x="6109970" y="2508250"/>
            <a:ext cx="480060" cy="1619250"/>
          </a:xfrm>
          <a:prstGeom prst="rect">
            <a:avLst/>
          </a:prstGeom>
          <a:solidFill>
            <a:srgbClr val="0076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!!milestone-category-0"/>
          <p:cNvSpPr txBox="1"/>
          <p:nvPr/>
        </p:nvSpPr>
        <p:spPr>
          <a:xfrm>
            <a:off x="5835650" y="4292600"/>
            <a:ext cx="10287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888"/>
              </a:lnSpc>
              <a:spcBef>
                <a:spcPts val="0"/>
              </a:spcBef>
              <a:spcAft>
                <a:spcPts val="0"/>
              </a:spcAft>
            </a:pPr>
            <a:r>
              <a:rPr sz="1600" b="0" spc="0">
                <a:solidFill>
                  <a:srgbClr val="142B31"/>
                </a:solidFill>
                <a:latin typeface="Noto Sans CJK SC"/>
                <a:ea typeface="Noto Sans CJK SC"/>
                <a:cs typeface="Noto Sans CJK SC"/>
              </a:rPr>
              <a:t>设计</a:t>
            </a:r>
          </a:p>
        </p:txBody>
      </p:sp>
      <p:sp>
        <p:nvSpPr>
          <p:cNvPr id="24" name="!!milestone-value-0"/>
          <p:cNvSpPr txBox="1"/>
          <p:nvPr/>
        </p:nvSpPr>
        <p:spPr>
          <a:xfrm>
            <a:off x="5746750" y="2089150"/>
            <a:ext cx="1206500" cy="342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2242"/>
              </a:lnSpc>
              <a:spcBef>
                <a:spcPts val="0"/>
              </a:spcBef>
              <a:spcAft>
                <a:spcPts val="0"/>
              </a:spcAft>
            </a:pPr>
            <a:r>
              <a:rPr sz="1900" b="0" spc="0">
                <a:solidFill>
                  <a:srgbClr val="142B31"/>
                </a:solidFill>
                <a:latin typeface="Space Grotesk SemiBold"/>
                <a:ea typeface="Space Grotesk SemiBold"/>
                <a:cs typeface="Space Grotesk SemiBold"/>
              </a:rPr>
              <a:t>85</a:t>
            </a:r>
          </a:p>
        </p:txBody>
      </p:sp>
      <p:sp>
        <p:nvSpPr>
          <p:cNvPr id="25" name="!!milestone-bar-1"/>
          <p:cNvSpPr/>
          <p:nvPr/>
        </p:nvSpPr>
        <p:spPr>
          <a:xfrm>
            <a:off x="7252970" y="2984500"/>
            <a:ext cx="480060" cy="1143000"/>
          </a:xfrm>
          <a:prstGeom prst="rect">
            <a:avLst/>
          </a:prstGeom>
          <a:solidFill>
            <a:srgbClr val="0076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!!milestone-category-1"/>
          <p:cNvSpPr txBox="1"/>
          <p:nvPr/>
        </p:nvSpPr>
        <p:spPr>
          <a:xfrm>
            <a:off x="6978650" y="4292600"/>
            <a:ext cx="10287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888"/>
              </a:lnSpc>
              <a:spcBef>
                <a:spcPts val="0"/>
              </a:spcBef>
              <a:spcAft>
                <a:spcPts val="0"/>
              </a:spcAft>
            </a:pPr>
            <a:r>
              <a:rPr sz="1600" b="0" spc="0">
                <a:solidFill>
                  <a:srgbClr val="142B31"/>
                </a:solidFill>
                <a:latin typeface="Noto Sans CJK SC"/>
                <a:ea typeface="Noto Sans CJK SC"/>
                <a:cs typeface="Noto Sans CJK SC"/>
              </a:rPr>
              <a:t>联调</a:t>
            </a:r>
          </a:p>
        </p:txBody>
      </p:sp>
      <p:sp>
        <p:nvSpPr>
          <p:cNvPr id="27" name="!!milestone-value-1"/>
          <p:cNvSpPr txBox="1"/>
          <p:nvPr/>
        </p:nvSpPr>
        <p:spPr>
          <a:xfrm>
            <a:off x="6889750" y="2565400"/>
            <a:ext cx="1206500" cy="342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2242"/>
              </a:lnSpc>
              <a:spcBef>
                <a:spcPts val="0"/>
              </a:spcBef>
              <a:spcAft>
                <a:spcPts val="0"/>
              </a:spcAft>
            </a:pPr>
            <a:r>
              <a:rPr sz="1900" b="0" spc="0">
                <a:solidFill>
                  <a:srgbClr val="142B31"/>
                </a:solidFill>
                <a:latin typeface="Space Grotesk SemiBold"/>
                <a:ea typeface="Space Grotesk SemiBold"/>
                <a:cs typeface="Space Grotesk SemiBold"/>
              </a:rPr>
              <a:t>60</a:t>
            </a:r>
          </a:p>
        </p:txBody>
      </p:sp>
      <p:sp>
        <p:nvSpPr>
          <p:cNvPr id="28" name="!!milestone-bar-2"/>
          <p:cNvSpPr/>
          <p:nvPr/>
        </p:nvSpPr>
        <p:spPr>
          <a:xfrm>
            <a:off x="8395970" y="3460750"/>
            <a:ext cx="480060" cy="666750"/>
          </a:xfrm>
          <a:prstGeom prst="rect">
            <a:avLst/>
          </a:prstGeom>
          <a:solidFill>
            <a:srgbClr val="A851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!!milestone-category-2"/>
          <p:cNvSpPr txBox="1"/>
          <p:nvPr/>
        </p:nvSpPr>
        <p:spPr>
          <a:xfrm>
            <a:off x="8121650" y="4292600"/>
            <a:ext cx="10287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888"/>
              </a:lnSpc>
              <a:spcBef>
                <a:spcPts val="0"/>
              </a:spcBef>
              <a:spcAft>
                <a:spcPts val="0"/>
              </a:spcAft>
            </a:pPr>
            <a:r>
              <a:rPr sz="1600" b="0" spc="0">
                <a:solidFill>
                  <a:srgbClr val="142B31"/>
                </a:solidFill>
                <a:latin typeface="Noto Sans CJK SC"/>
                <a:ea typeface="Noto Sans CJK SC"/>
                <a:cs typeface="Noto Sans CJK SC"/>
              </a:rPr>
              <a:t>验收</a:t>
            </a:r>
          </a:p>
        </p:txBody>
      </p:sp>
      <p:sp>
        <p:nvSpPr>
          <p:cNvPr id="30" name="!!milestone-value-2"/>
          <p:cNvSpPr txBox="1"/>
          <p:nvPr/>
        </p:nvSpPr>
        <p:spPr>
          <a:xfrm>
            <a:off x="8032750" y="3041650"/>
            <a:ext cx="1206500" cy="342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2242"/>
              </a:lnSpc>
              <a:spcBef>
                <a:spcPts val="0"/>
              </a:spcBef>
              <a:spcAft>
                <a:spcPts val="0"/>
              </a:spcAft>
            </a:pPr>
            <a:r>
              <a:rPr sz="1900" b="0" spc="0">
                <a:solidFill>
                  <a:srgbClr val="142B31"/>
                </a:solidFill>
                <a:latin typeface="Space Grotesk SemiBold"/>
                <a:ea typeface="Space Grotesk SemiBold"/>
                <a:cs typeface="Space Grotesk SemiBold"/>
              </a:rPr>
              <a:t>35</a:t>
            </a:r>
          </a:p>
        </p:txBody>
      </p:sp>
    </p:spTree>
  </p:cSld>
  <p:clrMapOvr>
    <a:masterClrMapping/>
  </p:clrMapOvr>
  <p:transition xmlns:ns0="http://schemas.microsoft.com/office/powerpoint/2010/main" spd="fast" advClick="1" ns0:dur="35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" dur="1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20" fill="hold" accel="10000" decel="65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Motion origin="layout" path="M 0.000000000 0.015555556 L 0.000000000 0.000000000 E" pathEditMode="relative" rAng="0">
                                      <p:cBhvr>
                                        <p:cTn id="8" dur="520" fill="hold" accel="10000" decel="650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000000 0.000000000 C 0.002416246 0.000000000 0.004375000 -0.003979691 0.004375000 -0.008888889 C 0.004375000 -0.013798087 0.002416246 -0.017777778 0.000000000 -0.017777778 C -0.002416246 -0.017777778 -0.004375000 -0.013798087 -0.004375000 -0.008888889 C -0.004375000 -0.003979691 -0.002416246 0.000000000 0.000000000 0.000000000  E" pathEditMode="relative" rAng="0">
                                      <p:cBhvr>
                                        <p:cTn id="10" dur="2000" fill="hold" accel="25000" decel="250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1100" fill="hold" accel="10000" decel="65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17" dur="1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20" fill="hold" accel="10000" decel="65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4" fill="hold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20" dur="1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1100" fill="hold" accel="10000" decel="65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220"/>
                                  </p:stCondLst>
                                  <p:childTnLst>
                                    <p:set>
                                      <p:cBhvr>
                                        <p:cTn id="23" dur="1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20" fill="hold" accel="10000" decel="65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4" fill="hold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26" dur="1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1100" fill="hold" accel="10000" decel="65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1340"/>
                                  </p:stCondLst>
                                  <p:childTnLst>
                                    <p:set>
                                      <p:cBhvr>
                                        <p:cTn id="29" dur="1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20" fill="hold" accel="10000" decel="65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progress-flow-section"/>
          <p:cNvSpPr txBox="1"/>
          <p:nvPr/>
        </p:nvSpPr>
        <p:spPr>
          <a:xfrm>
            <a:off x="685800" y="393700"/>
            <a:ext cx="5715000" cy="254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97"/>
              </a:lnSpc>
              <a:spcBef>
                <a:spcPts val="0"/>
              </a:spcBef>
              <a:spcAft>
                <a:spcPts val="0"/>
              </a:spcAft>
            </a:pPr>
            <a:r>
              <a:rPr sz="1100" b="0" spc="0">
                <a:solidFill>
                  <a:srgbClr val="142B31"/>
                </a:solidFill>
                <a:latin typeface="Space Grotesk SemiBold"/>
                <a:ea typeface="Space Grotesk SemiBold"/>
                <a:cs typeface="Space Grotesk SemiBold"/>
              </a:rPr>
              <a:t>PROJECT / DELIVERY</a:t>
            </a:r>
          </a:p>
        </p:txBody>
      </p:sp>
      <p:sp>
        <p:nvSpPr>
          <p:cNvPr id="3" name="!!progress-flow-page"/>
          <p:cNvSpPr txBox="1"/>
          <p:nvPr/>
        </p:nvSpPr>
        <p:spPr>
          <a:xfrm>
            <a:off x="8477250" y="393700"/>
            <a:ext cx="1016000" cy="254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97"/>
              </a:lnSpc>
              <a:spcBef>
                <a:spcPts val="0"/>
              </a:spcBef>
              <a:spcAft>
                <a:spcPts val="0"/>
              </a:spcAft>
            </a:pPr>
            <a:r>
              <a:rPr sz="1100" b="0" spc="0">
                <a:solidFill>
                  <a:srgbClr val="526763"/>
                </a:solidFill>
                <a:latin typeface="Space Grotesk SemiBold"/>
                <a:ea typeface="Space Grotesk SemiBold"/>
                <a:cs typeface="Space Grotesk SemiBold"/>
              </a:rPr>
              <a:t>02 / 03</a:t>
            </a:r>
          </a:p>
        </p:txBody>
      </p:sp>
      <p:sp>
        <p:nvSpPr>
          <p:cNvPr id="4" name="!!progress-flow-rule"/>
          <p:cNvSpPr/>
          <p:nvPr/>
        </p:nvSpPr>
        <p:spPr>
          <a:xfrm>
            <a:off x="685800" y="736600"/>
            <a:ext cx="8788400" cy="6"/>
          </a:xfrm>
          <a:custGeom>
            <a:avLst/>
            <a:gdLst/>
            <a:ahLst/>
            <a:cxnLst/>
            <a:rect l="0" t="0" r="r" b="b"/>
            <a:pathLst>
              <a:path w="1384000" h="1">
                <a:moveTo>
                  <a:pt x="0" y="0"/>
                </a:moveTo>
                <a:lnTo>
                  <a:pt x="1384000" y="0"/>
                </a:lnTo>
              </a:path>
            </a:pathLst>
          </a:custGeom>
          <a:noFill/>
          <a:ln w="8255">
            <a:solidFill>
              <a:srgbClr val="CCD8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!!progress-flow-disclaimer"/>
          <p:cNvSpPr txBox="1"/>
          <p:nvPr/>
        </p:nvSpPr>
        <p:spPr>
          <a:xfrm>
            <a:off x="685800" y="5359400"/>
            <a:ext cx="876300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38"/>
              </a:lnSpc>
              <a:spcBef>
                <a:spcPts val="0"/>
              </a:spcBef>
              <a:spcAft>
                <a:spcPts val="0"/>
              </a:spcAft>
            </a:pPr>
            <a:r>
              <a:rPr sz="1050" b="0" spc="0">
                <a:solidFill>
                  <a:srgbClr val="526763"/>
                </a:solidFill>
                <a:latin typeface="Noto Sans CJK SC"/>
                <a:ea typeface="Noto Sans CJK SC"/>
                <a:cs typeface="Noto Sans CJK SC"/>
              </a:rPr>
              <a:t>模拟数据与流程示意，仅用于演示；请替换为核实后的内容。</a:t>
            </a:r>
          </a:p>
        </p:txBody>
      </p:sp>
      <p:sp>
        <p:nvSpPr>
          <p:cNvPr id="6" name="!!progress-heading-b"/>
          <p:cNvSpPr txBox="1"/>
          <p:nvPr/>
        </p:nvSpPr>
        <p:spPr>
          <a:xfrm>
            <a:off x="685800" y="1143000"/>
            <a:ext cx="8572500" cy="1238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894"/>
              </a:lnSpc>
              <a:spcBef>
                <a:spcPts val="0"/>
              </a:spcBef>
              <a:spcAft>
                <a:spcPts val="0"/>
              </a:spcAft>
            </a:pPr>
            <a:r>
              <a:rPr sz="3300" b="0" spc="0">
                <a:solidFill>
                  <a:srgbClr val="142B31"/>
                </a:solidFill>
                <a:latin typeface="Noto Serif CJK SC"/>
                <a:ea typeface="Noto Serif CJK SC"/>
                <a:cs typeface="Noto Serif CJK SC"/>
              </a:rPr>
              <a:t>让交付沿着</a:t>
            </a:r>
          </a:p>
          <a:p>
            <a:pPr algn="l">
              <a:lnSpc>
                <a:spcPts val="3894"/>
              </a:lnSpc>
              <a:spcBef>
                <a:spcPts val="0"/>
              </a:spcBef>
              <a:spcAft>
                <a:spcPts val="0"/>
              </a:spcAft>
            </a:pPr>
            <a:r>
              <a:rPr sz="3300" b="0" spc="0">
                <a:solidFill>
                  <a:srgbClr val="142B31"/>
                </a:solidFill>
                <a:latin typeface="Noto Serif CJK SC"/>
                <a:ea typeface="Noto Serif CJK SC"/>
                <a:cs typeface="Noto Serif CJK SC"/>
              </a:rPr>
              <a:t>同一条路径前进。</a:t>
            </a:r>
          </a:p>
        </p:txBody>
      </p:sp>
      <p:sp>
        <p:nvSpPr>
          <p:cNvPr id="7" name="!!progress-stage-0"/>
          <p:cNvSpPr txBox="1"/>
          <p:nvPr/>
        </p:nvSpPr>
        <p:spPr>
          <a:xfrm>
            <a:off x="762000" y="2667000"/>
            <a:ext cx="2286000" cy="412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2183"/>
              </a:lnSpc>
              <a:spcBef>
                <a:spcPts val="0"/>
              </a:spcBef>
              <a:spcAft>
                <a:spcPts val="0"/>
              </a:spcAft>
            </a:pPr>
            <a:r>
              <a:rPr sz="1850" b="0" spc="0">
                <a:solidFill>
                  <a:srgbClr val="142B31"/>
                </a:solidFill>
                <a:latin typeface="Noto Sans CJK SC"/>
                <a:ea typeface="Noto Sans CJK SC"/>
                <a:cs typeface="Noto Sans CJK SC"/>
              </a:rPr>
              <a:t>设计确认</a:t>
            </a:r>
          </a:p>
        </p:txBody>
      </p:sp>
      <p:sp>
        <p:nvSpPr>
          <p:cNvPr id="8" name="!!progress-link-0"/>
          <p:cNvSpPr/>
          <p:nvPr/>
        </p:nvSpPr>
        <p:spPr>
          <a:xfrm>
            <a:off x="2667000" y="3937000"/>
            <a:ext cx="1524000" cy="6"/>
          </a:xfrm>
          <a:custGeom>
            <a:avLst/>
            <a:gdLst/>
            <a:ahLst/>
            <a:cxnLst/>
            <a:rect l="0" t="0" r="r" b="b"/>
            <a:pathLst>
              <a:path w="240000" h="1">
                <a:moveTo>
                  <a:pt x="0" y="0"/>
                </a:moveTo>
                <a:lnTo>
                  <a:pt x="240000" y="0"/>
                </a:lnTo>
              </a:path>
            </a:pathLst>
          </a:custGeom>
          <a:noFill/>
          <a:ln w="19050">
            <a:solidFill>
              <a:srgbClr val="CCD8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!!progress-stage-1"/>
          <p:cNvSpPr txBox="1"/>
          <p:nvPr/>
        </p:nvSpPr>
        <p:spPr>
          <a:xfrm>
            <a:off x="4064000" y="2667000"/>
            <a:ext cx="2286000" cy="412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2183"/>
              </a:lnSpc>
              <a:spcBef>
                <a:spcPts val="0"/>
              </a:spcBef>
              <a:spcAft>
                <a:spcPts val="0"/>
              </a:spcAft>
            </a:pPr>
            <a:r>
              <a:rPr sz="1850" b="0" spc="0">
                <a:solidFill>
                  <a:srgbClr val="142B31"/>
                </a:solidFill>
                <a:latin typeface="Noto Sans CJK SC"/>
                <a:ea typeface="Noto Sans CJK SC"/>
                <a:cs typeface="Noto Sans CJK SC"/>
              </a:rPr>
              <a:t>接口联调</a:t>
            </a:r>
          </a:p>
        </p:txBody>
      </p:sp>
      <p:sp>
        <p:nvSpPr>
          <p:cNvPr id="10" name="!!progress-link-1"/>
          <p:cNvSpPr/>
          <p:nvPr/>
        </p:nvSpPr>
        <p:spPr>
          <a:xfrm>
            <a:off x="5969000" y="3937000"/>
            <a:ext cx="1524000" cy="6"/>
          </a:xfrm>
          <a:custGeom>
            <a:avLst/>
            <a:gdLst/>
            <a:ahLst/>
            <a:cxnLst/>
            <a:rect l="0" t="0" r="r" b="b"/>
            <a:pathLst>
              <a:path w="240000" h="1">
                <a:moveTo>
                  <a:pt x="0" y="0"/>
                </a:moveTo>
                <a:lnTo>
                  <a:pt x="240000" y="0"/>
                </a:lnTo>
              </a:path>
            </a:pathLst>
          </a:custGeom>
          <a:noFill/>
          <a:ln w="19050">
            <a:solidFill>
              <a:srgbClr val="CCD8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!!progress-stage-2"/>
          <p:cNvSpPr txBox="1"/>
          <p:nvPr/>
        </p:nvSpPr>
        <p:spPr>
          <a:xfrm>
            <a:off x="7366000" y="2667000"/>
            <a:ext cx="2286000" cy="412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2183"/>
              </a:lnSpc>
              <a:spcBef>
                <a:spcPts val="0"/>
              </a:spcBef>
              <a:spcAft>
                <a:spcPts val="0"/>
              </a:spcAft>
            </a:pPr>
            <a:r>
              <a:rPr sz="1850" b="0" spc="0">
                <a:solidFill>
                  <a:srgbClr val="142B31"/>
                </a:solidFill>
                <a:latin typeface="Noto Sans CJK SC"/>
                <a:ea typeface="Noto Sans CJK SC"/>
                <a:cs typeface="Noto Sans CJK SC"/>
              </a:rPr>
              <a:t>验收发布</a:t>
            </a:r>
          </a:p>
        </p:txBody>
      </p:sp>
      <p:sp>
        <p:nvSpPr>
          <p:cNvPr id="12" name="!!delivery-marker"/>
          <p:cNvSpPr/>
          <p:nvPr/>
        </p:nvSpPr>
        <p:spPr>
          <a:xfrm>
            <a:off x="7874000" y="3365500"/>
            <a:ext cx="1143000" cy="1143000"/>
          </a:xfrm>
          <a:prstGeom prst="ellipse">
            <a:avLst/>
          </a:prstGeom>
          <a:solidFill>
            <a:srgbClr val="B76A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!!progress-flow-note"/>
          <p:cNvSpPr txBox="1"/>
          <p:nvPr/>
        </p:nvSpPr>
        <p:spPr>
          <a:xfrm>
            <a:off x="711200" y="4794250"/>
            <a:ext cx="87630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52"/>
              </a:lnSpc>
              <a:spcBef>
                <a:spcPts val="0"/>
              </a:spcBef>
              <a:spcAft>
                <a:spcPts val="0"/>
              </a:spcAft>
            </a:pPr>
            <a:r>
              <a:rPr sz="1400" b="0" spc="0">
                <a:solidFill>
                  <a:srgbClr val="142B31"/>
                </a:solidFill>
                <a:latin typeface="Noto Sans CJK SC"/>
                <a:ea typeface="Noto Sans CJK SC"/>
                <a:cs typeface="Noto Sans CJK SC"/>
              </a:rPr>
              <a:t>每一步都有明确输入、负责人和可核对的结束状态。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ns0="http://schemas.microsoft.com/office/powerpoint/2010/main" spd="fast" advClick="1" ns0:dur="1800">
        <p159:morph option="byObject"/>
      </p:transition>
    </mc:Choice>
    <mc:Fallback>
      <p:transition xmlns:ns0="http://schemas.microsoft.com/office/powerpoint/2010/main" spd="fast" advClick="1" ns0:dur="18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" dur="1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20" fill="hold" accel="10000" decel="65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Motion origin="layout" path="M 0.000000000 0.015555556 L 0.000000000 0.000000000 E" pathEditMode="relative" rAng="0">
                                      <p:cBhvr>
                                        <p:cTn id="8" dur="520" fill="hold" accel="10000" decel="650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350"/>
                                  </p:stCondLst>
                                  <p:childTnLst>
                                    <p:animMotion origin="layout" path="M 0.000000000 0.000000000 C 0.002416246 0.000000000 0.004375000 -0.003979691 0.004375000 -0.008888889 C 0.004375000 -0.013798087 0.002416246 -0.017777778 0.000000000 -0.017777778 C -0.002416246 -0.017777778 -0.004375000 -0.013798087 -0.004375000 -0.008888889 C -0.004375000 -0.003979691 -0.002416246 0.000000000 0.000000000 0.000000000  E" pathEditMode="relative" rAng="0">
                                      <p:cBhvr>
                                        <p:cTn id="10" dur="2000" fill="hold" accel="25000" decel="250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progress-actions-section"/>
          <p:cNvSpPr txBox="1"/>
          <p:nvPr/>
        </p:nvSpPr>
        <p:spPr>
          <a:xfrm>
            <a:off x="685800" y="393700"/>
            <a:ext cx="5715000" cy="254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97"/>
              </a:lnSpc>
              <a:spcBef>
                <a:spcPts val="0"/>
              </a:spcBef>
              <a:spcAft>
                <a:spcPts val="0"/>
              </a:spcAft>
            </a:pPr>
            <a:r>
              <a:rPr sz="1100" b="0" spc="0">
                <a:solidFill>
                  <a:srgbClr val="142B31"/>
                </a:solidFill>
                <a:latin typeface="Space Grotesk SemiBold"/>
                <a:ea typeface="Space Grotesk SemiBold"/>
                <a:cs typeface="Space Grotesk SemiBold"/>
              </a:rPr>
              <a:t>PROJECT / NEXT ACTIONS</a:t>
            </a:r>
          </a:p>
        </p:txBody>
      </p:sp>
      <p:sp>
        <p:nvSpPr>
          <p:cNvPr id="3" name="!!progress-actions-page"/>
          <p:cNvSpPr txBox="1"/>
          <p:nvPr/>
        </p:nvSpPr>
        <p:spPr>
          <a:xfrm>
            <a:off x="8477250" y="393700"/>
            <a:ext cx="1016000" cy="254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97"/>
              </a:lnSpc>
              <a:spcBef>
                <a:spcPts val="0"/>
              </a:spcBef>
              <a:spcAft>
                <a:spcPts val="0"/>
              </a:spcAft>
            </a:pPr>
            <a:r>
              <a:rPr sz="1100" b="0" spc="0">
                <a:solidFill>
                  <a:srgbClr val="526763"/>
                </a:solidFill>
                <a:latin typeface="Space Grotesk SemiBold"/>
                <a:ea typeface="Space Grotesk SemiBold"/>
                <a:cs typeface="Space Grotesk SemiBold"/>
              </a:rPr>
              <a:t>03 / 03</a:t>
            </a:r>
          </a:p>
        </p:txBody>
      </p:sp>
      <p:sp>
        <p:nvSpPr>
          <p:cNvPr id="4" name="!!progress-actions-rule"/>
          <p:cNvSpPr/>
          <p:nvPr/>
        </p:nvSpPr>
        <p:spPr>
          <a:xfrm>
            <a:off x="685800" y="736600"/>
            <a:ext cx="8788400" cy="6"/>
          </a:xfrm>
          <a:custGeom>
            <a:avLst/>
            <a:gdLst/>
            <a:ahLst/>
            <a:cxnLst/>
            <a:rect l="0" t="0" r="r" b="b"/>
            <a:pathLst>
              <a:path w="1384000" h="1">
                <a:moveTo>
                  <a:pt x="0" y="0"/>
                </a:moveTo>
                <a:lnTo>
                  <a:pt x="1384000" y="0"/>
                </a:lnTo>
              </a:path>
            </a:pathLst>
          </a:custGeom>
          <a:noFill/>
          <a:ln w="8255">
            <a:solidFill>
              <a:srgbClr val="CCD8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!!progress-actions-disclaimer"/>
          <p:cNvSpPr txBox="1"/>
          <p:nvPr/>
        </p:nvSpPr>
        <p:spPr>
          <a:xfrm>
            <a:off x="685800" y="5359400"/>
            <a:ext cx="876300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38"/>
              </a:lnSpc>
              <a:spcBef>
                <a:spcPts val="0"/>
              </a:spcBef>
              <a:spcAft>
                <a:spcPts val="0"/>
              </a:spcAft>
            </a:pPr>
            <a:r>
              <a:rPr sz="1050" b="0" spc="0">
                <a:solidFill>
                  <a:srgbClr val="526763"/>
                </a:solidFill>
                <a:latin typeface="Noto Sans CJK SC"/>
                <a:ea typeface="Noto Sans CJK SC"/>
                <a:cs typeface="Noto Sans CJK SC"/>
              </a:rPr>
              <a:t>模拟数据与流程示意，仅用于演示；请替换为核实后的内容。</a:t>
            </a:r>
          </a:p>
        </p:txBody>
      </p:sp>
      <p:sp>
        <p:nvSpPr>
          <p:cNvPr id="6" name="!!progress-heading-c"/>
          <p:cNvSpPr txBox="1"/>
          <p:nvPr/>
        </p:nvSpPr>
        <p:spPr>
          <a:xfrm>
            <a:off x="685800" y="1168400"/>
            <a:ext cx="8763000" cy="698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776"/>
              </a:lnSpc>
              <a:spcBef>
                <a:spcPts val="0"/>
              </a:spcBef>
              <a:spcAft>
                <a:spcPts val="0"/>
              </a:spcAft>
            </a:pPr>
            <a:r>
              <a:rPr sz="3200" b="0" spc="0">
                <a:solidFill>
                  <a:srgbClr val="142B31"/>
                </a:solidFill>
                <a:latin typeface="Noto Serif CJK SC"/>
                <a:ea typeface="Noto Serif CJK SC"/>
                <a:cs typeface="Noto Serif CJK SC"/>
              </a:rPr>
              <a:t>下一步，把依赖说清楚。</a:t>
            </a:r>
          </a:p>
        </p:txBody>
      </p:sp>
      <p:sp>
        <p:nvSpPr>
          <p:cNvPr id="7" name="!!progress-next-subtitle"/>
          <p:cNvSpPr txBox="1"/>
          <p:nvPr/>
        </p:nvSpPr>
        <p:spPr>
          <a:xfrm>
            <a:off x="711200" y="2000250"/>
            <a:ext cx="87630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7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spc="0">
                <a:solidFill>
                  <a:srgbClr val="526763"/>
                </a:solidFill>
                <a:latin typeface="Noto Sans CJK SC"/>
                <a:ea typeface="Noto Sans CJK SC"/>
                <a:cs typeface="Noto Sans CJK SC"/>
              </a:rPr>
              <a:t>围绕实际阻碍分配行动，避免只列完成百分比。</a:t>
            </a:r>
          </a:p>
        </p:txBody>
      </p:sp>
      <p:sp>
        <p:nvSpPr>
          <p:cNvPr id="8" name="!!progress-row-line-0"/>
          <p:cNvSpPr/>
          <p:nvPr/>
        </p:nvSpPr>
        <p:spPr>
          <a:xfrm>
            <a:off x="685800" y="3359150"/>
            <a:ext cx="8788400" cy="6"/>
          </a:xfrm>
          <a:custGeom>
            <a:avLst/>
            <a:gdLst/>
            <a:ahLst/>
            <a:cxnLst/>
            <a:rect l="0" t="0" r="r" b="b"/>
            <a:pathLst>
              <a:path w="1384000" h="1">
                <a:moveTo>
                  <a:pt x="0" y="0"/>
                </a:moveTo>
                <a:lnTo>
                  <a:pt x="1384000" y="0"/>
                </a:lnTo>
              </a:path>
            </a:pathLst>
          </a:custGeom>
          <a:noFill/>
          <a:ln w="9525">
            <a:solidFill>
              <a:srgbClr val="CCD8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!!progress-topic-0"/>
          <p:cNvSpPr txBox="1"/>
          <p:nvPr/>
        </p:nvSpPr>
        <p:spPr>
          <a:xfrm>
            <a:off x="762000" y="2876550"/>
            <a:ext cx="2222500" cy="393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065"/>
              </a:lnSpc>
              <a:spcBef>
                <a:spcPts val="0"/>
              </a:spcBef>
              <a:spcAft>
                <a:spcPts val="0"/>
              </a:spcAft>
            </a:pPr>
            <a:r>
              <a:rPr sz="1750" b="0" spc="0">
                <a:solidFill>
                  <a:srgbClr val="142B31"/>
                </a:solidFill>
                <a:latin typeface="Noto Sans CJK SC"/>
                <a:ea typeface="Noto Sans CJK SC"/>
                <a:cs typeface="Noto Sans CJK SC"/>
              </a:rPr>
              <a:t>范围收敛</a:t>
            </a:r>
          </a:p>
        </p:txBody>
      </p:sp>
      <p:sp>
        <p:nvSpPr>
          <p:cNvPr id="10" name="!!progress-owner-0"/>
          <p:cNvSpPr txBox="1"/>
          <p:nvPr/>
        </p:nvSpPr>
        <p:spPr>
          <a:xfrm>
            <a:off x="3746500" y="2876550"/>
            <a:ext cx="1460500" cy="393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47"/>
              </a:lnSpc>
              <a:spcBef>
                <a:spcPts val="0"/>
              </a:spcBef>
              <a:spcAft>
                <a:spcPts val="0"/>
              </a:spcAft>
            </a:pPr>
            <a:r>
              <a:rPr sz="1650" b="0" spc="0">
                <a:solidFill>
                  <a:srgbClr val="526763"/>
                </a:solidFill>
                <a:latin typeface="Noto Sans CJK SC"/>
                <a:ea typeface="Noto Sans CJK SC"/>
                <a:cs typeface="Noto Sans CJK SC"/>
              </a:rPr>
              <a:t>产品</a:t>
            </a:r>
          </a:p>
        </p:txBody>
      </p:sp>
      <p:sp>
        <p:nvSpPr>
          <p:cNvPr id="11" name="!!progress-action-0"/>
          <p:cNvSpPr txBox="1"/>
          <p:nvPr/>
        </p:nvSpPr>
        <p:spPr>
          <a:xfrm>
            <a:off x="5905500" y="2876550"/>
            <a:ext cx="3492500" cy="393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47"/>
              </a:lnSpc>
              <a:spcBef>
                <a:spcPts val="0"/>
              </a:spcBef>
              <a:spcAft>
                <a:spcPts val="0"/>
              </a:spcAft>
            </a:pPr>
            <a:r>
              <a:rPr sz="1650" b="0" spc="0">
                <a:solidFill>
                  <a:srgbClr val="142B31"/>
                </a:solidFill>
                <a:latin typeface="Noto Sans CJK SC"/>
                <a:ea typeface="Noto Sans CJK SC"/>
                <a:cs typeface="Noto Sans CJK SC"/>
              </a:rPr>
              <a:t>确认边界与验收标准</a:t>
            </a:r>
          </a:p>
        </p:txBody>
      </p:sp>
      <p:sp>
        <p:nvSpPr>
          <p:cNvPr id="12" name="!!progress-row-line-1"/>
          <p:cNvSpPr/>
          <p:nvPr/>
        </p:nvSpPr>
        <p:spPr>
          <a:xfrm>
            <a:off x="685800" y="4108450"/>
            <a:ext cx="8788400" cy="6"/>
          </a:xfrm>
          <a:custGeom>
            <a:avLst/>
            <a:gdLst/>
            <a:ahLst/>
            <a:cxnLst/>
            <a:rect l="0" t="0" r="r" b="b"/>
            <a:pathLst>
              <a:path w="1384000" h="1">
                <a:moveTo>
                  <a:pt x="0" y="0"/>
                </a:moveTo>
                <a:lnTo>
                  <a:pt x="1384000" y="0"/>
                </a:lnTo>
              </a:path>
            </a:pathLst>
          </a:custGeom>
          <a:noFill/>
          <a:ln w="9525">
            <a:solidFill>
              <a:srgbClr val="CCD8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!!progress-topic-1"/>
          <p:cNvSpPr txBox="1"/>
          <p:nvPr/>
        </p:nvSpPr>
        <p:spPr>
          <a:xfrm>
            <a:off x="762000" y="3625850"/>
            <a:ext cx="2222500" cy="393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065"/>
              </a:lnSpc>
              <a:spcBef>
                <a:spcPts val="0"/>
              </a:spcBef>
              <a:spcAft>
                <a:spcPts val="0"/>
              </a:spcAft>
            </a:pPr>
            <a:r>
              <a:rPr sz="1750" b="0" spc="0">
                <a:solidFill>
                  <a:srgbClr val="142B31"/>
                </a:solidFill>
                <a:latin typeface="Noto Sans CJK SC"/>
                <a:ea typeface="Noto Sans CJK SC"/>
                <a:cs typeface="Noto Sans CJK SC"/>
              </a:rPr>
              <a:t>联调窗口</a:t>
            </a:r>
          </a:p>
        </p:txBody>
      </p:sp>
      <p:sp>
        <p:nvSpPr>
          <p:cNvPr id="14" name="!!progress-owner-1"/>
          <p:cNvSpPr txBox="1"/>
          <p:nvPr/>
        </p:nvSpPr>
        <p:spPr>
          <a:xfrm>
            <a:off x="3746500" y="3625850"/>
            <a:ext cx="1460500" cy="393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47"/>
              </a:lnSpc>
              <a:spcBef>
                <a:spcPts val="0"/>
              </a:spcBef>
              <a:spcAft>
                <a:spcPts val="0"/>
              </a:spcAft>
            </a:pPr>
            <a:r>
              <a:rPr sz="1650" b="0" spc="0">
                <a:solidFill>
                  <a:srgbClr val="526763"/>
                </a:solidFill>
                <a:latin typeface="Noto Sans CJK SC"/>
                <a:ea typeface="Noto Sans CJK SC"/>
                <a:cs typeface="Noto Sans CJK SC"/>
              </a:rPr>
              <a:t>研发</a:t>
            </a:r>
          </a:p>
        </p:txBody>
      </p:sp>
      <p:sp>
        <p:nvSpPr>
          <p:cNvPr id="15" name="!!progress-action-1"/>
          <p:cNvSpPr txBox="1"/>
          <p:nvPr/>
        </p:nvSpPr>
        <p:spPr>
          <a:xfrm>
            <a:off x="5905500" y="3625850"/>
            <a:ext cx="3492500" cy="393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47"/>
              </a:lnSpc>
              <a:spcBef>
                <a:spcPts val="0"/>
              </a:spcBef>
              <a:spcAft>
                <a:spcPts val="0"/>
              </a:spcAft>
            </a:pPr>
            <a:r>
              <a:rPr sz="1650" b="0" spc="0">
                <a:solidFill>
                  <a:srgbClr val="142B31"/>
                </a:solidFill>
                <a:latin typeface="Noto Sans CJK SC"/>
                <a:ea typeface="Noto Sans CJK SC"/>
                <a:cs typeface="Noto Sans CJK SC"/>
              </a:rPr>
              <a:t>锁定接口及可用时间</a:t>
            </a:r>
          </a:p>
        </p:txBody>
      </p:sp>
      <p:sp>
        <p:nvSpPr>
          <p:cNvPr id="16" name="!!progress-row-line-2"/>
          <p:cNvSpPr/>
          <p:nvPr/>
        </p:nvSpPr>
        <p:spPr>
          <a:xfrm>
            <a:off x="685800" y="4857750"/>
            <a:ext cx="8788400" cy="6"/>
          </a:xfrm>
          <a:custGeom>
            <a:avLst/>
            <a:gdLst/>
            <a:ahLst/>
            <a:cxnLst/>
            <a:rect l="0" t="0" r="r" b="b"/>
            <a:pathLst>
              <a:path w="1384000" h="1">
                <a:moveTo>
                  <a:pt x="0" y="0"/>
                </a:moveTo>
                <a:lnTo>
                  <a:pt x="1384000" y="0"/>
                </a:lnTo>
              </a:path>
            </a:pathLst>
          </a:custGeom>
          <a:noFill/>
          <a:ln w="9525">
            <a:solidFill>
              <a:srgbClr val="CCD8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!!progress-topic-2"/>
          <p:cNvSpPr txBox="1"/>
          <p:nvPr/>
        </p:nvSpPr>
        <p:spPr>
          <a:xfrm>
            <a:off x="762000" y="4375150"/>
            <a:ext cx="2222500" cy="393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065"/>
              </a:lnSpc>
              <a:spcBef>
                <a:spcPts val="0"/>
              </a:spcBef>
              <a:spcAft>
                <a:spcPts val="0"/>
              </a:spcAft>
            </a:pPr>
            <a:r>
              <a:rPr sz="1750" b="0" spc="0">
                <a:solidFill>
                  <a:srgbClr val="142B31"/>
                </a:solidFill>
                <a:latin typeface="Noto Sans CJK SC"/>
                <a:ea typeface="Noto Sans CJK SC"/>
                <a:cs typeface="Noto Sans CJK SC"/>
              </a:rPr>
              <a:t>发布依赖</a:t>
            </a:r>
          </a:p>
        </p:txBody>
      </p:sp>
      <p:sp>
        <p:nvSpPr>
          <p:cNvPr id="18" name="!!progress-owner-2"/>
          <p:cNvSpPr txBox="1"/>
          <p:nvPr/>
        </p:nvSpPr>
        <p:spPr>
          <a:xfrm>
            <a:off x="3746500" y="4375150"/>
            <a:ext cx="1460500" cy="393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47"/>
              </a:lnSpc>
              <a:spcBef>
                <a:spcPts val="0"/>
              </a:spcBef>
              <a:spcAft>
                <a:spcPts val="0"/>
              </a:spcAft>
            </a:pPr>
            <a:r>
              <a:rPr sz="1650" b="0" spc="0">
                <a:solidFill>
                  <a:srgbClr val="526763"/>
                </a:solidFill>
                <a:latin typeface="Noto Sans CJK SC"/>
                <a:ea typeface="Noto Sans CJK SC"/>
                <a:cs typeface="Noto Sans CJK SC"/>
              </a:rPr>
              <a:t>测试</a:t>
            </a:r>
          </a:p>
        </p:txBody>
      </p:sp>
      <p:sp>
        <p:nvSpPr>
          <p:cNvPr id="19" name="!!progress-action-2"/>
          <p:cNvSpPr txBox="1"/>
          <p:nvPr/>
        </p:nvSpPr>
        <p:spPr>
          <a:xfrm>
            <a:off x="5905500" y="4375150"/>
            <a:ext cx="3492500" cy="393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47"/>
              </a:lnSpc>
              <a:spcBef>
                <a:spcPts val="0"/>
              </a:spcBef>
              <a:spcAft>
                <a:spcPts val="0"/>
              </a:spcAft>
            </a:pPr>
            <a:r>
              <a:rPr sz="1650" b="0" spc="0">
                <a:solidFill>
                  <a:srgbClr val="142B31"/>
                </a:solidFill>
                <a:latin typeface="Noto Sans CJK SC"/>
                <a:ea typeface="Noto Sans CJK SC"/>
                <a:cs typeface="Noto Sans CJK SC"/>
              </a:rPr>
              <a:t>核对版本与回归记录</a:t>
            </a:r>
          </a:p>
        </p:txBody>
      </p:sp>
    </p:spTree>
  </p:cSld>
  <p:clrMapOvr>
    <a:masterClrMapping/>
  </p:clrMapOvr>
  <p:transition xmlns:ns0="http://schemas.microsoft.com/office/powerpoint/2010/main" spd="fast" advClick="1" ns0:dur="35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" dur="1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20" fill="hold" accel="10000" decel="65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Motion origin="layout" path="M 0.000000000 0.015555556 L 0.000000000 0.000000000 E" pathEditMode="relative" rAng="0">
                                      <p:cBhvr>
                                        <p:cTn id="8" dur="520" fill="hold" accel="10000" decel="650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20" fill="hold" accel="10000" decel="65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20" fill="hold" accel="10000" decel="65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20" fill="hold" accel="10000" decel="65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21" dur="1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20" fill="hold" accel="10000" decel="65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24" dur="1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20" fill="hold" accel="10000" decel="65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27" dur="1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20" fill="hold" accel="10000" decel="65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30" dur="1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20" fill="hold" accel="10000" decel="65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33" dur="1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20" fill="hold" accel="10000" decel="65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36" dur="1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20" fill="hold" accel="10000" decel="65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项目进展 · 交付流程示例</dc:title>
  <dc:subject/>
  <dc:creator>Native Motion Studio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