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8128000" cy="457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be-heading-1"/>
          <p:cNvSpPr txBox="1"/>
          <p:nvPr/>
        </p:nvSpPr>
        <p:spPr>
          <a:xfrm>
            <a:off x="571500" y="444500"/>
            <a:ext cx="6921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Reveal, then follow the object</a:t>
            </a:r>
          </a:p>
        </p:txBody>
      </p:sp>
      <p:sp>
        <p:nvSpPr>
          <p:cNvPr id="3" name="!!probe-note-a"/>
          <p:cNvSpPr txBox="1"/>
          <p:nvPr/>
        </p:nvSpPr>
        <p:spPr>
          <a:xfrm>
            <a:off x="571500" y="1270000"/>
            <a:ext cx="2667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Two bars. One baseline.</a:t>
            </a:r>
          </a:p>
        </p:txBody>
      </p:sp>
      <p:sp>
        <p:nvSpPr>
          <p:cNvPr id="4" name="!!probe-zero"/>
          <p:cNvSpPr/>
          <p:nvPr/>
        </p:nvSpPr>
        <p:spPr>
          <a:xfrm>
            <a:off x="3556000" y="3429000"/>
            <a:ext cx="3111500" cy="6"/>
          </a:xfrm>
          <a:custGeom>
            <a:avLst/>
            <a:gdLst/>
            <a:ahLst/>
            <a:cxnLst/>
            <a:rect l="0" t="0" r="r" b="b"/>
            <a:pathLst>
              <a:path w="490000" h="1">
                <a:moveTo>
                  <a:pt x="0" y="0"/>
                </a:moveTo>
                <a:lnTo>
                  <a:pt x="490000" y="0"/>
                </a:lnTo>
              </a:path>
            </a:pathLst>
          </a:custGeom>
          <a:noFill/>
          <a:ln w="12700">
            <a:solidFill>
              <a:srgbClr val="20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arry-marker"/>
          <p:cNvSpPr/>
          <p:nvPr/>
        </p:nvSpPr>
        <p:spPr>
          <a:xfrm>
            <a:off x="762000" y="2413000"/>
            <a:ext cx="508000" cy="508000"/>
          </a:xfrm>
          <a:prstGeom prst="rect">
            <a:avLst/>
          </a:prstGeom>
          <a:solidFill>
            <a:srgbClr val="475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measure-0"/>
          <p:cNvSpPr/>
          <p:nvPr/>
        </p:nvSpPr>
        <p:spPr>
          <a:xfrm>
            <a:off x="4127500" y="2286000"/>
            <a:ext cx="444500" cy="1143000"/>
          </a:xfrm>
          <a:prstGeom prst="rect">
            <a:avLst/>
          </a:prstGeom>
          <a:solidFill>
            <a:srgbClr val="D1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measure-label-0"/>
          <p:cNvSpPr txBox="1"/>
          <p:nvPr/>
        </p:nvSpPr>
        <p:spPr>
          <a:xfrm>
            <a:off x="4000500" y="1905000"/>
            <a:ext cx="698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180</a:t>
            </a:r>
          </a:p>
        </p:txBody>
      </p:sp>
      <p:sp>
        <p:nvSpPr>
          <p:cNvPr id="8" name="!!measure-1"/>
          <p:cNvSpPr/>
          <p:nvPr/>
        </p:nvSpPr>
        <p:spPr>
          <a:xfrm>
            <a:off x="5397500" y="1714500"/>
            <a:ext cx="444500" cy="1714500"/>
          </a:xfrm>
          <a:prstGeom prst="rect">
            <a:avLst/>
          </a:prstGeom>
          <a:solidFill>
            <a:srgbClr val="A44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measure-label-1"/>
          <p:cNvSpPr txBox="1"/>
          <p:nvPr/>
        </p:nvSpPr>
        <p:spPr>
          <a:xfrm>
            <a:off x="5270500" y="1333500"/>
            <a:ext cx="698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270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2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 accel="1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="M 0.000000000 0.016666667 L 0.000000000 0.000000000 E" pathEditMode="relative" rAng="0">
                                      <p:cBhvr>
                                        <p:cTn id="8" dur="500" fill="hold" accel="10000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0000000 0.000000000 C 0.002157362 0.000000000 0.003906250 -0.003730960 0.003906250 -0.008333333 C 0.003906250 -0.012935706 0.002157362 -0.016666667 0.000000000 -0.016666667 C -0.002157362 -0.016666667 -0.003906250 -0.012935706 -0.003906250 -0.008333333 C -0.003906250 -0.003730960 -0.002157362 0.000000000 0.000000000 0.000000000  E" pathEditMode="relative" rAng="0">
                                      <p:cBhvr>
                                        <p:cTn id="10" dur="1500" fill="hold" accel="25000" decel="25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950" fill="hold" accel="10000" decel="6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95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robe-heading-2"/>
          <p:cNvSpPr txBox="1"/>
          <p:nvPr/>
        </p:nvSpPr>
        <p:spPr>
          <a:xfrm>
            <a:off x="571500" y="444500"/>
            <a:ext cx="6921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Same object, new place</a:t>
            </a:r>
          </a:p>
        </p:txBody>
      </p:sp>
      <p:sp>
        <p:nvSpPr>
          <p:cNvPr id="3" name="!!probe-note-b"/>
          <p:cNvSpPr txBox="1"/>
          <p:nvPr/>
        </p:nvSpPr>
        <p:spPr>
          <a:xfrm>
            <a:off x="571500" y="1270000"/>
            <a:ext cx="6858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350" b="0" spc="0">
                <a:solidFill>
                  <a:srgbClr val="203047"/>
                </a:solidFill>
                <a:latin typeface="Space Grotesk SemiBold"/>
                <a:ea typeface="Space Grotesk SemiBold"/>
                <a:cs typeface="Space Grotesk SemiBold"/>
              </a:rPr>
              <a:t>The blue shape moves and scales with native Morph.</a:t>
            </a:r>
          </a:p>
        </p:txBody>
      </p:sp>
      <p:sp>
        <p:nvSpPr>
          <p:cNvPr id="4" name="!!carry-marker"/>
          <p:cNvSpPr/>
          <p:nvPr/>
        </p:nvSpPr>
        <p:spPr>
          <a:xfrm>
            <a:off x="5080000" y="2095500"/>
            <a:ext cx="762000" cy="762000"/>
          </a:xfrm>
          <a:prstGeom prst="rect">
            <a:avLst/>
          </a:prstGeom>
          <a:solidFill>
            <a:srgbClr val="475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ns0="http://schemas.microsoft.com/office/powerpoint/2010/main" spd="fast" advClick="1" ns0:dur="1600">
        <p159:morph option="byObject"/>
      </p:transition>
    </mc:Choice>
    <mc:Fallback>
      <p:transition xmlns:ns0="http://schemas.microsoft.com/office/powerpoint/2010/main" spd="fast" advClick="1" ns0:dur="16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 accel="10000" decel="6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="M 0.000000000 0.016666667 L 0.000000000 0.000000000 E" pathEditMode="relative" rAng="0">
                                      <p:cBhvr>
                                        <p:cTn id="8" dur="500" fill="hold" accel="10000" decel="65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0000000 0.000000000 C 0.002157362 0.000000000 0.003906250 -0.003730960 0.003906250 -0.008333333 C 0.003906250 -0.012935706 0.002157362 -0.016666667 0.000000000 -0.016666667 C -0.002157362 -0.016666667 -0.003906250 -0.012935706 -0.003906250 -0.008333333 C -0.003906250 -0.003730960 -0.002157362 0.000000000 0.000000000 0.000000000  E" pathEditMode="relative" rAng="0">
                                      <p:cBhvr>
                                        <p:cTn id="10" dur="1500" fill="hold" accel="25000" decel="25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backend and generic phase regression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